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8b2f0265734c12" /><Relationship Type="http://schemas.openxmlformats.org/officeDocument/2006/relationships/extended-properties" Target="/docProps/app.xml" Id="Re1046436209240b8" /><Relationship Type="http://schemas.openxmlformats.org/officeDocument/2006/relationships/officeDocument" Target="/ppt/presentation.xml" Id="Rf2f6323ab0a446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4f0c04379e42c5"/>
  </p:sldMasterIdLst>
  <p:notesMasterIdLst>
    <p:notesMasterId xmlns:r="http://schemas.openxmlformats.org/officeDocument/2006/relationships" r:id="R616d151e23304ae3"/>
  </p:notesMasterIdLst>
  <p:sldIdLst>
    <p:sldId xmlns:r="http://schemas.openxmlformats.org/officeDocument/2006/relationships" id="256" r:id="R8ea4e8a5e01c4972"/>
    <p:sldId xmlns:r="http://schemas.openxmlformats.org/officeDocument/2006/relationships" id="257" r:id="R9e570b8534104c12"/>
    <p:sldId xmlns:r="http://schemas.openxmlformats.org/officeDocument/2006/relationships" id="258" r:id="Ra246ac6fe33e4715"/>
    <p:sldId xmlns:r="http://schemas.openxmlformats.org/officeDocument/2006/relationships" id="259" r:id="Rb03d05683fef4205"/>
    <p:sldId xmlns:r="http://schemas.openxmlformats.org/officeDocument/2006/relationships" id="260" r:id="R9e2cef2abe734406"/>
    <p:sldId xmlns:r="http://schemas.openxmlformats.org/officeDocument/2006/relationships" id="261" r:id="R9b9bf51ebc1847bc"/>
    <p:sldId xmlns:r="http://schemas.openxmlformats.org/officeDocument/2006/relationships" id="262" r:id="R74b761f8a9a14854"/>
    <p:sldId xmlns:r="http://schemas.openxmlformats.org/officeDocument/2006/relationships" id="263" r:id="R067193572342437f"/>
    <p:sldId xmlns:r="http://schemas.openxmlformats.org/officeDocument/2006/relationships" id="264" r:id="Rced8277e8dcf467e"/>
    <p:sldId xmlns:r="http://schemas.openxmlformats.org/officeDocument/2006/relationships" id="265" r:id="R0a7cad70191746f7"/>
    <p:sldId xmlns:r="http://schemas.openxmlformats.org/officeDocument/2006/relationships" id="266" r:id="R5ebed391a0e04d97"/>
    <p:sldId xmlns:r="http://schemas.openxmlformats.org/officeDocument/2006/relationships" id="267" r:id="R882c1e3e613a48bd"/>
    <p:sldId xmlns:r="http://schemas.openxmlformats.org/officeDocument/2006/relationships" id="268" r:id="R8f23ded231174354"/>
    <p:sldId xmlns:r="http://schemas.openxmlformats.org/officeDocument/2006/relationships" id="269" r:id="Rcf99344cd4364a33"/>
    <p:sldId xmlns:r="http://schemas.openxmlformats.org/officeDocument/2006/relationships" id="270" r:id="Re9d49dab2d93442d"/>
    <p:sldId xmlns:r="http://schemas.openxmlformats.org/officeDocument/2006/relationships" id="271" r:id="R44f5a0337ec045b6"/>
    <p:sldId xmlns:r="http://schemas.openxmlformats.org/officeDocument/2006/relationships" id="272" r:id="Rac866c3bd4bf4000"/>
    <p:sldId xmlns:r="http://schemas.openxmlformats.org/officeDocument/2006/relationships" id="273" r:id="Radce7db7082b415e"/>
    <p:sldId xmlns:r="http://schemas.openxmlformats.org/officeDocument/2006/relationships" id="274" r:id="Re444cb7ef61e45cf"/>
    <p:sldId xmlns:r="http://schemas.openxmlformats.org/officeDocument/2006/relationships" id="275" r:id="Rbfb163eb92cb4e2c"/>
    <p:sldId xmlns:r="http://schemas.openxmlformats.org/officeDocument/2006/relationships" id="276" r:id="R9036092caab04ee3"/>
    <p:sldId xmlns:r="http://schemas.openxmlformats.org/officeDocument/2006/relationships" id="277" r:id="Rce7229ee340b40ff"/>
    <p:sldId xmlns:r="http://schemas.openxmlformats.org/officeDocument/2006/relationships" id="278" r:id="Rb7e4d62525744716"/>
    <p:sldId xmlns:r="http://schemas.openxmlformats.org/officeDocument/2006/relationships" id="279" r:id="Rdfa9d7eafb044247"/>
    <p:sldId xmlns:r="http://schemas.openxmlformats.org/officeDocument/2006/relationships" id="280" r:id="Rf401e2f89a964da0"/>
    <p:sldId xmlns:r="http://schemas.openxmlformats.org/officeDocument/2006/relationships" id="281" r:id="Rcc6f4cdc8a3a479c"/>
    <p:sldId xmlns:r="http://schemas.openxmlformats.org/officeDocument/2006/relationships" id="282" r:id="R514f8adaddda43ec"/>
    <p:sldId xmlns:r="http://schemas.openxmlformats.org/officeDocument/2006/relationships" id="283" r:id="R1292e1fb87e14241"/>
    <p:sldId xmlns:r="http://schemas.openxmlformats.org/officeDocument/2006/relationships" id="284" r:id="R8dfa2adb5e874dab"/>
    <p:sldId xmlns:r="http://schemas.openxmlformats.org/officeDocument/2006/relationships" id="285" r:id="Rfa9caad49c5e479a"/>
    <p:sldId xmlns:r="http://schemas.openxmlformats.org/officeDocument/2006/relationships" id="286" r:id="Ra90e574dda104608"/>
    <p:sldId xmlns:r="http://schemas.openxmlformats.org/officeDocument/2006/relationships" id="287" r:id="R62c60c1afcd942ac"/>
    <p:sldId xmlns:r="http://schemas.openxmlformats.org/officeDocument/2006/relationships" id="288" r:id="R2fc32e37a51d44ce"/>
    <p:sldId xmlns:r="http://schemas.openxmlformats.org/officeDocument/2006/relationships" id="289" r:id="Raca0ed186d524bfb"/>
    <p:sldId xmlns:r="http://schemas.openxmlformats.org/officeDocument/2006/relationships" id="290" r:id="R2c69a8456b5840a8"/>
    <p:sldId xmlns:r="http://schemas.openxmlformats.org/officeDocument/2006/relationships" id="291" r:id="Re14b0dc7ba10402d"/>
    <p:sldId xmlns:r="http://schemas.openxmlformats.org/officeDocument/2006/relationships" id="292" r:id="R175265b93f7a4f15"/>
    <p:sldId xmlns:r="http://schemas.openxmlformats.org/officeDocument/2006/relationships" id="293" r:id="R2994b73d35fd46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4308805a724b41" /><Relationship Type="http://schemas.openxmlformats.org/officeDocument/2006/relationships/slideMaster" Target="/ppt/slideMasters/slideMaster1.xml" Id="R114f0c04379e42c5" /><Relationship Type="http://schemas.openxmlformats.org/officeDocument/2006/relationships/notesMaster" Target="/ppt/notesMasters/notesMaster1.xml" Id="R616d151e23304ae3" /><Relationship Type="http://schemas.openxmlformats.org/officeDocument/2006/relationships/presProps" Target="/ppt/presProps.xml" Id="R9d472a51abb342bd" /><Relationship Type="http://schemas.openxmlformats.org/officeDocument/2006/relationships/viewProps" Target="/ppt/viewProps.xml" Id="Rc15669934992492d" /><Relationship Type="http://schemas.openxmlformats.org/officeDocument/2006/relationships/tableStyles" Target="/ppt/tableStyles.xml" Id="R5218406e94ec4077" /><Relationship Type="http://schemas.openxmlformats.org/officeDocument/2006/relationships/slide" Target="/ppt/slides/slide1.xml" Id="R8ea4e8a5e01c4972" /><Relationship Type="http://schemas.openxmlformats.org/officeDocument/2006/relationships/slide" Target="/ppt/slides/slide2.xml" Id="R9e570b8534104c12" /><Relationship Type="http://schemas.openxmlformats.org/officeDocument/2006/relationships/slide" Target="/ppt/slides/slide3.xml" Id="Ra246ac6fe33e4715" /><Relationship Type="http://schemas.openxmlformats.org/officeDocument/2006/relationships/slide" Target="/ppt/slides/slide4.xml" Id="Rb03d05683fef4205" /><Relationship Type="http://schemas.openxmlformats.org/officeDocument/2006/relationships/slide" Target="/ppt/slides/slide5.xml" Id="R9e2cef2abe734406" /><Relationship Type="http://schemas.openxmlformats.org/officeDocument/2006/relationships/slide" Target="/ppt/slides/slide6.xml" Id="R9b9bf51ebc1847bc" /><Relationship Type="http://schemas.openxmlformats.org/officeDocument/2006/relationships/slide" Target="/ppt/slides/slide7.xml" Id="R74b761f8a9a14854" /><Relationship Type="http://schemas.openxmlformats.org/officeDocument/2006/relationships/slide" Target="/ppt/slides/slide8.xml" Id="R067193572342437f" /><Relationship Type="http://schemas.openxmlformats.org/officeDocument/2006/relationships/slide" Target="/ppt/slides/slide9.xml" Id="Rced8277e8dcf467e" /><Relationship Type="http://schemas.openxmlformats.org/officeDocument/2006/relationships/slide" Target="/ppt/slides/slide10.xml" Id="R0a7cad70191746f7" /><Relationship Type="http://schemas.openxmlformats.org/officeDocument/2006/relationships/slide" Target="/ppt/slides/slide11.xml" Id="R5ebed391a0e04d97" /><Relationship Type="http://schemas.openxmlformats.org/officeDocument/2006/relationships/slide" Target="/ppt/slides/slide12.xml" Id="R882c1e3e613a48bd" /><Relationship Type="http://schemas.openxmlformats.org/officeDocument/2006/relationships/slide" Target="/ppt/slides/slide13.xml" Id="R8f23ded231174354" /><Relationship Type="http://schemas.openxmlformats.org/officeDocument/2006/relationships/slide" Target="/ppt/slides/slide14.xml" Id="Rcf99344cd4364a33" /><Relationship Type="http://schemas.openxmlformats.org/officeDocument/2006/relationships/slide" Target="/ppt/slides/slide15.xml" Id="Re9d49dab2d93442d" /><Relationship Type="http://schemas.openxmlformats.org/officeDocument/2006/relationships/slide" Target="/ppt/slides/slide16.xml" Id="R44f5a0337ec045b6" /><Relationship Type="http://schemas.openxmlformats.org/officeDocument/2006/relationships/slide" Target="/ppt/slides/slide17.xml" Id="Rac866c3bd4bf4000" /><Relationship Type="http://schemas.openxmlformats.org/officeDocument/2006/relationships/slide" Target="/ppt/slides/slide18.xml" Id="Radce7db7082b415e" /><Relationship Type="http://schemas.openxmlformats.org/officeDocument/2006/relationships/slide" Target="/ppt/slides/slide19.xml" Id="Re444cb7ef61e45cf" /><Relationship Type="http://schemas.openxmlformats.org/officeDocument/2006/relationships/slide" Target="/ppt/slides/slide20.xml" Id="Rbfb163eb92cb4e2c" /><Relationship Type="http://schemas.openxmlformats.org/officeDocument/2006/relationships/slide" Target="/ppt/slides/slide21.xml" Id="R9036092caab04ee3" /><Relationship Type="http://schemas.openxmlformats.org/officeDocument/2006/relationships/slide" Target="/ppt/slides/slide22.xml" Id="Rce7229ee340b40ff" /><Relationship Type="http://schemas.openxmlformats.org/officeDocument/2006/relationships/slide" Target="/ppt/slides/slide23.xml" Id="Rb7e4d62525744716" /><Relationship Type="http://schemas.openxmlformats.org/officeDocument/2006/relationships/slide" Target="/ppt/slides/slide24.xml" Id="Rdfa9d7eafb044247" /><Relationship Type="http://schemas.openxmlformats.org/officeDocument/2006/relationships/slide" Target="/ppt/slides/slide25.xml" Id="Rf401e2f89a964da0" /><Relationship Type="http://schemas.openxmlformats.org/officeDocument/2006/relationships/slide" Target="/ppt/slides/slide26.xml" Id="Rcc6f4cdc8a3a479c" /><Relationship Type="http://schemas.openxmlformats.org/officeDocument/2006/relationships/slide" Target="/ppt/slides/slide27.xml" Id="R514f8adaddda43ec" /><Relationship Type="http://schemas.openxmlformats.org/officeDocument/2006/relationships/slide" Target="/ppt/slides/slide28.xml" Id="R1292e1fb87e14241" /><Relationship Type="http://schemas.openxmlformats.org/officeDocument/2006/relationships/slide" Target="/ppt/slides/slide29.xml" Id="R8dfa2adb5e874dab" /><Relationship Type="http://schemas.openxmlformats.org/officeDocument/2006/relationships/slide" Target="/ppt/slides/slide30.xml" Id="Rfa9caad49c5e479a" /><Relationship Type="http://schemas.openxmlformats.org/officeDocument/2006/relationships/slide" Target="/ppt/slides/slide31.xml" Id="Ra90e574dda104608" /><Relationship Type="http://schemas.openxmlformats.org/officeDocument/2006/relationships/slide" Target="/ppt/slides/slide32.xml" Id="R62c60c1afcd942ac" /><Relationship Type="http://schemas.openxmlformats.org/officeDocument/2006/relationships/slide" Target="/ppt/slides/slide33.xml" Id="R2fc32e37a51d44ce" /><Relationship Type="http://schemas.openxmlformats.org/officeDocument/2006/relationships/slide" Target="/ppt/slides/slide34.xml" Id="Raca0ed186d524bfb" /><Relationship Type="http://schemas.openxmlformats.org/officeDocument/2006/relationships/slide" Target="/ppt/slides/slide35.xml" Id="R2c69a8456b5840a8" /><Relationship Type="http://schemas.openxmlformats.org/officeDocument/2006/relationships/slide" Target="/ppt/slides/slide36.xml" Id="Re14b0dc7ba10402d" /><Relationship Type="http://schemas.openxmlformats.org/officeDocument/2006/relationships/slide" Target="/ppt/slides/slide37.xml" Id="R175265b93f7a4f15" /><Relationship Type="http://schemas.openxmlformats.org/officeDocument/2006/relationships/slide" Target="/ppt/slides/slide38.xml" Id="R2994b73d35fd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c5b8fcc38644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52dd2d936f4430" /><Relationship Type="http://schemas.openxmlformats.org/officeDocument/2006/relationships/notesMaster" Target="/ppt/notesMasters/notesMaster1.xml" Id="Rd00c9137b1d147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3d3ebd11e1429e" /><Relationship Type="http://schemas.openxmlformats.org/officeDocument/2006/relationships/notesMaster" Target="/ppt/notesMasters/notesMaster1.xml" Id="R8e832133278946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12fdcb2f804b41" /><Relationship Type="http://schemas.openxmlformats.org/officeDocument/2006/relationships/notesMaster" Target="/ppt/notesMasters/notesMaster1.xml" Id="R2888f52bfeed48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75fc2dc5034964" /><Relationship Type="http://schemas.openxmlformats.org/officeDocument/2006/relationships/notesMaster" Target="/ppt/notesMasters/notesMaster1.xml" Id="R5b843c62cdde4d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5585d957ba4ddb" /><Relationship Type="http://schemas.openxmlformats.org/officeDocument/2006/relationships/notesMaster" Target="/ppt/notesMasters/notesMaster1.xml" Id="Reb4f02f7d5f14b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db2911588245a8" /><Relationship Type="http://schemas.openxmlformats.org/officeDocument/2006/relationships/notesMaster" Target="/ppt/notesMasters/notesMaster1.xml" Id="Rbf736902a03840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343501726440f9" /><Relationship Type="http://schemas.openxmlformats.org/officeDocument/2006/relationships/notesMaster" Target="/ppt/notesMasters/notesMaster1.xml" Id="Ra22ecfcf5cb24b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dcf8cacf6346c2" /><Relationship Type="http://schemas.openxmlformats.org/officeDocument/2006/relationships/notesMaster" Target="/ppt/notesMasters/notesMaster1.xml" Id="R66cc33802acb45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6174364ca44f66" /><Relationship Type="http://schemas.openxmlformats.org/officeDocument/2006/relationships/notesMaster" Target="/ppt/notesMasters/notesMaster1.xml" Id="Rc9ea9ab97dce48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35da97a20648bb" /><Relationship Type="http://schemas.openxmlformats.org/officeDocument/2006/relationships/notesMaster" Target="/ppt/notesMasters/notesMaster1.xml" Id="R557b1828e5fe4f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d05fbdea40452f" /><Relationship Type="http://schemas.openxmlformats.org/officeDocument/2006/relationships/notesMaster" Target="/ppt/notesMasters/notesMaster1.xml" Id="R2d61b5b788bf4f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5424c5fea24b78" /><Relationship Type="http://schemas.openxmlformats.org/officeDocument/2006/relationships/notesMaster" Target="/ppt/notesMasters/notesMaster1.xml" Id="Rfa00633e43aa4d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934b01d4504955" /><Relationship Type="http://schemas.openxmlformats.org/officeDocument/2006/relationships/notesMaster" Target="/ppt/notesMasters/notesMaster1.xml" Id="R6c22c37d147444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8858cbcb5a463f" /><Relationship Type="http://schemas.openxmlformats.org/officeDocument/2006/relationships/notesMaster" Target="/ppt/notesMasters/notesMaster1.xml" Id="Rcfd874eae0f349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979de0277a48a1" /><Relationship Type="http://schemas.openxmlformats.org/officeDocument/2006/relationships/notesMaster" Target="/ppt/notesMasters/notesMaster1.xml" Id="R01e767ab96514f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692739fec24970" /><Relationship Type="http://schemas.openxmlformats.org/officeDocument/2006/relationships/notesMaster" Target="/ppt/notesMasters/notesMaster1.xml" Id="Rbee7cc24cb6744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f1071ed4d84bd0" /><Relationship Type="http://schemas.openxmlformats.org/officeDocument/2006/relationships/notesMaster" Target="/ppt/notesMasters/notesMaster1.xml" Id="Rf243aafa4db54b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cd245a5a2942cb" /><Relationship Type="http://schemas.openxmlformats.org/officeDocument/2006/relationships/notesMaster" Target="/ppt/notesMasters/notesMaster1.xml" Id="R4df0d2d434204f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2ed67f8f1b4219" /><Relationship Type="http://schemas.openxmlformats.org/officeDocument/2006/relationships/notesMaster" Target="/ppt/notesMasters/notesMaster1.xml" Id="Raedaef0051904a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91da68c3e6470a" /><Relationship Type="http://schemas.openxmlformats.org/officeDocument/2006/relationships/notesMaster" Target="/ppt/notesMasters/notesMaster1.xml" Id="Rfdea511a642d4b2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8a7bd22aadc4531" /><Relationship Type="http://schemas.openxmlformats.org/officeDocument/2006/relationships/notesMaster" Target="/ppt/notesMasters/notesMaster1.xml" Id="R18737892099041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a893ac1b6db49e5" /><Relationship Type="http://schemas.openxmlformats.org/officeDocument/2006/relationships/notesMaster" Target="/ppt/notesMasters/notesMaster1.xml" Id="R8233093d435a4f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e1aaf915d94839" /><Relationship Type="http://schemas.openxmlformats.org/officeDocument/2006/relationships/notesMaster" Target="/ppt/notesMasters/notesMaster1.xml" Id="R14e1a464ce97406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f6ac2871f7d40ac" /><Relationship Type="http://schemas.openxmlformats.org/officeDocument/2006/relationships/notesMaster" Target="/ppt/notesMasters/notesMaster1.xml" Id="Rb886a350edb3433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42af0c3ec7448b8" /><Relationship Type="http://schemas.openxmlformats.org/officeDocument/2006/relationships/notesMaster" Target="/ppt/notesMasters/notesMaster1.xml" Id="R481e45f43eb14a3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8979f790c47455d" /><Relationship Type="http://schemas.openxmlformats.org/officeDocument/2006/relationships/notesMaster" Target="/ppt/notesMasters/notesMaster1.xml" Id="R398f43d2f43a44c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1cdbf08a8fb4033" /><Relationship Type="http://schemas.openxmlformats.org/officeDocument/2006/relationships/notesMaster" Target="/ppt/notesMasters/notesMaster1.xml" Id="R2e204805a7a14d1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b348e727103432f" /><Relationship Type="http://schemas.openxmlformats.org/officeDocument/2006/relationships/notesMaster" Target="/ppt/notesMasters/notesMaster1.xml" Id="Rf1f1c83e584a4d7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dbff27fb0fb415d" /><Relationship Type="http://schemas.openxmlformats.org/officeDocument/2006/relationships/notesMaster" Target="/ppt/notesMasters/notesMaster1.xml" Id="Rfaf4c0aef0da407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672699544744f22" /><Relationship Type="http://schemas.openxmlformats.org/officeDocument/2006/relationships/notesMaster" Target="/ppt/notesMasters/notesMaster1.xml" Id="Rc89886a9fbd34ac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fd0be7bac8412f" /><Relationship Type="http://schemas.openxmlformats.org/officeDocument/2006/relationships/notesMaster" Target="/ppt/notesMasters/notesMaster1.xml" Id="R4d9f531a25a24e1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4f5908c1fc4e65" /><Relationship Type="http://schemas.openxmlformats.org/officeDocument/2006/relationships/notesMaster" Target="/ppt/notesMasters/notesMaster1.xml" Id="R99598391463144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1294ab9467846fc" /><Relationship Type="http://schemas.openxmlformats.org/officeDocument/2006/relationships/notesMaster" Target="/ppt/notesMasters/notesMaster1.xml" Id="R1c9d96c256cc4a2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f7f98ef665f44ea" /><Relationship Type="http://schemas.openxmlformats.org/officeDocument/2006/relationships/notesMaster" Target="/ppt/notesMasters/notesMaster1.xml" Id="R043b9fa11f6145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90fc04473204353" /><Relationship Type="http://schemas.openxmlformats.org/officeDocument/2006/relationships/notesMaster" Target="/ppt/notesMasters/notesMaster1.xml" Id="Rc5fc67fc3c5b406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54f9be7726d4014" /><Relationship Type="http://schemas.openxmlformats.org/officeDocument/2006/relationships/notesMaster" Target="/ppt/notesMasters/notesMaster1.xml" Id="Rbe65147abbcc4a2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24ce8c1b23e488d" /><Relationship Type="http://schemas.openxmlformats.org/officeDocument/2006/relationships/notesMaster" Target="/ppt/notesMasters/notesMaster1.xml" Id="R64a15297e3f44d8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724f746c6ab4d1b" /><Relationship Type="http://schemas.openxmlformats.org/officeDocument/2006/relationships/notesMaster" Target="/ppt/notesMasters/notesMaster1.xml" Id="Rd0a0ee022ab346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644b29a8343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c51f07c4a4e75" /><Relationship Type="http://schemas.openxmlformats.org/officeDocument/2006/relationships/slideLayout" Target="/ppt/slideLayouts/slideLayout1.xml" Id="R472fd6309a7a45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2fd6309a7a45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88b8b22414317" /><Relationship Type="http://schemas.openxmlformats.org/officeDocument/2006/relationships/notesSlide" Target="/ppt/notesSlides/notesSlide1.xml" Id="Re3beae4595b7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7b6fe913b49f2" /><Relationship Type="http://schemas.openxmlformats.org/officeDocument/2006/relationships/notesSlide" Target="/ppt/notesSlides/notesSlide2.xml" Id="Rae2a9920aecb4c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c5dbf5a054a1c" /><Relationship Type="http://schemas.openxmlformats.org/officeDocument/2006/relationships/notesSlide" Target="/ppt/notesSlides/notesSlide3.xml" Id="R7272619ea3e34b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2ba793f114774" /><Relationship Type="http://schemas.openxmlformats.org/officeDocument/2006/relationships/notesSlide" Target="/ppt/notesSlides/notesSlide4.xml" Id="R4f1d9aee69ed47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b423f8f4c438f" /><Relationship Type="http://schemas.openxmlformats.org/officeDocument/2006/relationships/notesSlide" Target="/ppt/notesSlides/notesSlide5.xml" Id="R35c588a5f5f847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665f17b354521" /><Relationship Type="http://schemas.openxmlformats.org/officeDocument/2006/relationships/notesSlide" Target="/ppt/notesSlides/notesSlide6.xml" Id="Rea9e7756f1c347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bc807dcc347c8" /><Relationship Type="http://schemas.openxmlformats.org/officeDocument/2006/relationships/notesSlide" Target="/ppt/notesSlides/notesSlide7.xml" Id="R50ccc1de512d43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9d5a6be93479e" /><Relationship Type="http://schemas.openxmlformats.org/officeDocument/2006/relationships/notesSlide" Target="/ppt/notesSlides/notesSlide8.xml" Id="R59831a10bfc642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ac9bf7e0c496d" /><Relationship Type="http://schemas.openxmlformats.org/officeDocument/2006/relationships/notesSlide" Target="/ppt/notesSlides/notesSlide9.xml" Id="Rdf8dcbde495942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cb75408ee4eeb" /><Relationship Type="http://schemas.openxmlformats.org/officeDocument/2006/relationships/notesSlide" Target="/ppt/notesSlides/notesSlide10.xml" Id="R41e6b3e6a87a49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36da2763a4687" /><Relationship Type="http://schemas.openxmlformats.org/officeDocument/2006/relationships/notesSlide" Target="/ppt/notesSlides/notesSlide11.xml" Id="R1d499440da3943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746f6620b4ca5" /><Relationship Type="http://schemas.openxmlformats.org/officeDocument/2006/relationships/notesSlide" Target="/ppt/notesSlides/notesSlide12.xml" Id="R83c72f82415449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13a2d251a4998" /><Relationship Type="http://schemas.openxmlformats.org/officeDocument/2006/relationships/notesSlide" Target="/ppt/notesSlides/notesSlide13.xml" Id="Rd76ee9df967149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714e81e044df7" /><Relationship Type="http://schemas.openxmlformats.org/officeDocument/2006/relationships/notesSlide" Target="/ppt/notesSlides/notesSlide14.xml" Id="R5965153390da45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cd19dbb7a45cd" /><Relationship Type="http://schemas.openxmlformats.org/officeDocument/2006/relationships/notesSlide" Target="/ppt/notesSlides/notesSlide15.xml" Id="Rbdde80653d4d47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cf3d5673a406a" /><Relationship Type="http://schemas.openxmlformats.org/officeDocument/2006/relationships/notesSlide" Target="/ppt/notesSlides/notesSlide16.xml" Id="R6e9e177a4f4c4b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58ac2acd1402c" /><Relationship Type="http://schemas.openxmlformats.org/officeDocument/2006/relationships/notesSlide" Target="/ppt/notesSlides/notesSlide17.xml" Id="Rf41454ada06a4e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2fe9541d94c61" /><Relationship Type="http://schemas.openxmlformats.org/officeDocument/2006/relationships/notesSlide" Target="/ppt/notesSlides/notesSlide18.xml" Id="Rc14c5507b64d4f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90e2df2904efa" /><Relationship Type="http://schemas.openxmlformats.org/officeDocument/2006/relationships/notesSlide" Target="/ppt/notesSlides/notesSlide19.xml" Id="R702a4651c11f4f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6b3e73be842a9" /><Relationship Type="http://schemas.openxmlformats.org/officeDocument/2006/relationships/notesSlide" Target="/ppt/notesSlides/notesSlide20.xml" Id="Rb7bc0bdd75f242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98ec76b994eb7" /><Relationship Type="http://schemas.openxmlformats.org/officeDocument/2006/relationships/notesSlide" Target="/ppt/notesSlides/notesSlide21.xml" Id="R69338ce87db54b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4d9734f8d4e9d" /><Relationship Type="http://schemas.openxmlformats.org/officeDocument/2006/relationships/notesSlide" Target="/ppt/notesSlides/notesSlide22.xml" Id="R0355c5c1d2ee4e0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b7f8babbe49b4" /><Relationship Type="http://schemas.openxmlformats.org/officeDocument/2006/relationships/notesSlide" Target="/ppt/notesSlides/notesSlide23.xml" Id="R0f412d882bad47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7f15837a34711" /><Relationship Type="http://schemas.openxmlformats.org/officeDocument/2006/relationships/notesSlide" Target="/ppt/notesSlides/notesSlide24.xml" Id="R288981debd474a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6ddb29b734bdb" /><Relationship Type="http://schemas.openxmlformats.org/officeDocument/2006/relationships/notesSlide" Target="/ppt/notesSlides/notesSlide25.xml" Id="Rafe796912f1043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2f264d93146ae" /><Relationship Type="http://schemas.openxmlformats.org/officeDocument/2006/relationships/notesSlide" Target="/ppt/notesSlides/notesSlide26.xml" Id="Rb6609ac1fb2a40e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a3607671e4da5" /><Relationship Type="http://schemas.openxmlformats.org/officeDocument/2006/relationships/notesSlide" Target="/ppt/notesSlides/notesSlide27.xml" Id="R6573d8455f804af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45fe3987c4ca7" /><Relationship Type="http://schemas.openxmlformats.org/officeDocument/2006/relationships/notesSlide" Target="/ppt/notesSlides/notesSlide28.xml" Id="R22b16df60a564af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1c5e994cb40c6" /><Relationship Type="http://schemas.openxmlformats.org/officeDocument/2006/relationships/notesSlide" Target="/ppt/notesSlides/notesSlide29.xml" Id="R652cf6345a7d4ee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e3636f88f474d" /><Relationship Type="http://schemas.openxmlformats.org/officeDocument/2006/relationships/notesSlide" Target="/ppt/notesSlides/notesSlide30.xml" Id="R62ef1dc9e8d44a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59c32a7cd4919" /><Relationship Type="http://schemas.openxmlformats.org/officeDocument/2006/relationships/notesSlide" Target="/ppt/notesSlides/notesSlide31.xml" Id="R7868c6d5311b405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090d4fb5143ec" /><Relationship Type="http://schemas.openxmlformats.org/officeDocument/2006/relationships/notesSlide" Target="/ppt/notesSlides/notesSlide32.xml" Id="R22277b44131a457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02d7996864bf7" /><Relationship Type="http://schemas.openxmlformats.org/officeDocument/2006/relationships/notesSlide" Target="/ppt/notesSlides/notesSlide33.xml" Id="Re6db944d8e3c435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cd6b35193457a" /><Relationship Type="http://schemas.openxmlformats.org/officeDocument/2006/relationships/notesSlide" Target="/ppt/notesSlides/notesSlide34.xml" Id="R08a6ba7fecb8415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603d367a24ddd" /><Relationship Type="http://schemas.openxmlformats.org/officeDocument/2006/relationships/notesSlide" Target="/ppt/notesSlides/notesSlide35.xml" Id="R2a00bf9fa5c8447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ceefcf12a4c6f" /><Relationship Type="http://schemas.openxmlformats.org/officeDocument/2006/relationships/notesSlide" Target="/ppt/notesSlides/notesSlide36.xml" Id="Rb682dbdd412a4eb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8e277068245e8" /><Relationship Type="http://schemas.openxmlformats.org/officeDocument/2006/relationships/notesSlide" Target="/ppt/notesSlides/notesSlide37.xml" Id="R4ed9ba10415c411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c3b4333ae434d" /><Relationship Type="http://schemas.openxmlformats.org/officeDocument/2006/relationships/notesSlide" Target="/ppt/notesSlides/notesSlide38.xml" Id="R5d1be319373547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50B2F-5119-46F0-B517-F0F73690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815EF-EB7D-4BBE-AEC4-98092DBF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9FDFA-0743-4632-8BEF-DB9E048B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952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D126E-0370-4329-8548-1BC86F1F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1619250" cy="34290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10B15-9C54-444F-AA72-4FDA6E6A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62300"/>
            <a:ext cx="1619250" cy="34290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96174-6EDE-40C8-998E-83551317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1752600" cy="34290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F2752-FA1A-4780-A848-02CE295F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62300"/>
            <a:ext cx="1619250" cy="34290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76F78-5B7B-472A-9BCF-B769FFAD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1352550" cy="34290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A0021-CF3C-48C1-AA81-CD481CFA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095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C8129-49A4-453E-BF6F-F3538BD3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2095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520C9-2429-4C1C-9F0E-8EED8675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53000"/>
            <a:ext cx="2095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95F8F-A0F3-441B-8ADB-3E0E31F3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2095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D35EA-A2A6-4790-8D82-13021163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95C91-D3CC-4C87-BF5F-73642F22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第01页｜封面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520CA-38C8-4988-BD5A-FEB5A97B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F3DBE1-D22B-4886-921D-02587109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人工智能 + 审计综合解决方案产品介绍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原生审计技术体系与产品能力交流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关键词：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数据理解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图谱推理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智能编排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作业闭环</a:t>
            </a:r>
          </a:p>
        </p:txBody>
      </p:sp>
    </p:spTree>
    <p:extLst>
      <p:ext uri="{BB962C8B-B14F-4D97-AF65-F5344CB8AC3E}">
        <p14:creationId xmlns:p14="http://schemas.microsoft.com/office/powerpoint/2010/main" val="1313249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3B3D23-F7FA-4703-9F02-A7C15684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87BE9-55BB-46D1-A10B-BEBF6FA8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FEE48-2805-4609-ADBA-107BC8C5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0FAE9-6C7F-457E-81F3-B471ADAE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B26A5-496F-4DE2-94AF-38392E16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E566A-02FC-4064-A8B9-06677AEA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E76F4-5621-40BF-B521-C0844672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DEC4D-BCDE-477A-ACB7-4E0B35E4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E7C23-C3DC-41D8-B3DA-FBE4ABF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719F4-923C-4DF6-9903-0DCE236D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1E04F-1CB7-4839-BC17-901AAAA4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389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5CF29-9F4D-4511-921B-577A1224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E9423-29A6-459D-AEB5-652D2A0C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第02页｜目录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345C9B-9A9D-4B2E-BFDE-1021DB0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6B539-E0EE-49D7-BC59-CCE582E0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01 审计智能化演进与关键问题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02 AI 原生产品底座与能力链路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03 智能体平台：AI 能力生产与编排底座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04 数据治理平台：复杂数据可用性治理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05 数据图谱平台：关系建模、图计算与线索挖掘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06 综合分析平台：任务执行、技能沉淀与应用承接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07 总结：从单点能力到 AI 原生审计闭环</a:t>
            </a:r>
          </a:p>
        </p:txBody>
      </p:sp>
    </p:spTree>
    <p:extLst>
      <p:ext uri="{BB962C8B-B14F-4D97-AF65-F5344CB8AC3E}">
        <p14:creationId xmlns:p14="http://schemas.microsoft.com/office/powerpoint/2010/main" val="15091523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C7584-501E-4BB0-B906-B91130E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A85B2-6990-4DDE-942F-92D44773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877B3-F6F3-4608-85DD-79BF2DFA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699DC-1AA9-49CC-8888-659E8095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FEC21-86F1-42C8-BD7D-00F87BA9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1369D-3CDC-4CEE-9A83-1A52AF7F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6F66B-D0C1-4180-B941-42479228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66524-D37E-4D55-8C40-F00B6952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D6B57-0C84-418E-8388-B3952359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201A3-5210-44E6-9105-D639F129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08954-0070-4652-9306-A0232DA8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49A3AC-FB20-462E-9E01-8FA94B1A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7275FB-D71E-4638-8291-FC4CAD1C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7337A-BCB2-4511-8445-E87828B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第03页｜审计信息化已经奠定基础，但正在进入智能化深水区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17C1E0-935A-4DC9-AF77-D3224EE0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19C637-0263-4F68-BAF8-96702833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审计信息化经过多年建设，已在数据、流程和成果管理上形成较成熟支撑。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已有建设已经解决了三类基础问题：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数据归集与规则分析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 SQL、指标模型、规则脚本和定时任务，完成明确口径下的数据筛查和统计。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审计流程与项目管理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支撑项目立项、方案制定、任务分派、过程流转和成果归档。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底稿与成果管理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支撑取证、底稿编写、报告生成和成果沉淀。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但随着审计对象、数据类型和业务关系持续复杂化，传统方式正在进入深水区：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数据可见，但难用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数据虽已汇聚，但字段语义、表间关系和资料格式仍高度依赖人工理解。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线索存在，但难穿透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人、企、单位、项目、资金、票据分散在不同系统和资料中，单点查询难以还原关系链条。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经验成熟，但难复制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专家经验、核查路径和判断规则更多沉淀在个人层面，难以跨项目复用。</a:t>
            </a:r>
          </a:p>
        </p:txBody>
      </p:sp>
    </p:spTree>
    <p:extLst>
      <p:ext uri="{BB962C8B-B14F-4D97-AF65-F5344CB8AC3E}">
        <p14:creationId xmlns:p14="http://schemas.microsoft.com/office/powerpoint/2010/main" val="4538592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CE0D69-08DB-42B6-86BF-A3691C5B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2AF53-2E78-44C9-A76F-3B7C983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9FFAB-913A-4297-9E26-1362295B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79AAB-A517-47A2-9A5F-1D8095D7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DBBD4-3A94-4FFC-BE2F-F522A77D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F7326-B0E5-470B-B719-7F00466C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A215F-1971-42AA-BDC4-2650E5C4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EBB95-AF95-473E-87C8-3B9E067D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27C0A-6D74-4F31-8033-964F8D83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B12EE-DE45-4A30-BE2D-A9890625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A8444-48F2-4ECB-8988-1DE7FCE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4D548C-CE29-4B7F-8F44-C733C662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第04页｜大模型带来新可能，但通用 AI 难以直接承接审计作业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BCE53-2C4B-43F0-8A93-8B5697B7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B8B3F5-D423-42BB-A73F-1F5D5F50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大模型为审计带来了新的能力空间：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快速阅读大量资料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辅助提取关键信息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理解制度、法规和案例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生成分析摘要和报告初稿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降低系统使用门槛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但通用 AI 不能直接等同于审计 AI，真实场景至少存在四类门槛：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安全边界门槛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审计数据涉及财政资金、国资、公共资源交易、重大项目、社保医保、企业经营和人员关系，必须满足数据不出域、权限可控、过程可记录、结果可复核。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真实数据接入门槛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如果 AI 不能连接数据库、业务系统、图数据库、文档资料和法规案例库，就只能停留在文本问答层面。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专业任务执行门槛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审计不是一次问答，而是连续的资料读取、要素抽取、数据探查、关系比对和结果生成过程。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证据链闭环门槛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结论必须回到原始资料、原始数据、图谱路径和执行日志，不能只是无法验证的答案。</a:t>
            </a:r>
          </a:p>
        </p:txBody>
      </p:sp>
    </p:spTree>
    <p:extLst>
      <p:ext uri="{BB962C8B-B14F-4D97-AF65-F5344CB8AC3E}">
        <p14:creationId xmlns:p14="http://schemas.microsoft.com/office/powerpoint/2010/main" val="505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9B024B-49F6-47B7-A574-1B681D8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86795-AC92-4E4F-A4C2-B1345619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41AFF-7284-46E5-87D2-B802B466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918B0-C023-486D-8B4B-81E90702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FB05B-1DC5-43BE-9248-80E28A4E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88598-E213-438E-8D16-2D2FD750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62432-5180-4156-9559-1C10471D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2F7DB-7476-4AC4-99FF-C212A8E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9635F-429A-4881-857D-FA78A505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9C3B1-3B10-4185-8F43-978BE8AA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AF53C-79DA-40E7-AF8B-170388D5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6D447-6582-4FA6-AE58-A7DDA8DC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67942-6622-4186-BDE8-6162FCA9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EBE712-A780-49FF-B390-F503C28B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第05页｜AI + 审计真正要解决的是完整作业链路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8DD511-8A4C-4B9A-ADD6-EFF73989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DA80F-998A-40B8-83AC-133CE1C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+ 审计的核心，不是接入大模型或增加问答入口，而是让 AI 进入完整作业链路。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传统大数据解决的是“跑数”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依赖人工理解字段、编写 SQL、维护规则和脚本，适合处理明确口径下的查询、统计和筛查。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通用 AI 解决的是“问答”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擅长文本理解、知识问答和内容生成，但缺少对真实审计数据和作业链路的深度承接。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+ 审计真正要解决的是“从数据到任务的闭环”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 数据理解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让 AI 理解字段、资料、实体和业务语义。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2. 关系发现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让 AI 发现人员、企业、单位、项目、资金、票据之间的显性关系和隐含关系。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3. 任务执行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让 AI 围绕审计目标执行探查、抽取、比对、核验和结果生成。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4. 证据复核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让 AI 结论回到原始资料、原始数据、图谱路径和任务记录。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5. 能力沉淀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让审计思路、核查路径和判断规则沉淀为可复用能力。</a:t>
            </a:r>
          </a:p>
        </p:txBody>
      </p:sp>
    </p:spTree>
    <p:extLst>
      <p:ext uri="{BB962C8B-B14F-4D97-AF65-F5344CB8AC3E}">
        <p14:creationId xmlns:p14="http://schemas.microsoft.com/office/powerpoint/2010/main" val="11854363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5E3573-FF8B-465C-A134-D92ADB80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910E5-3FAD-4A51-84BB-A54B56A2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B3837-B12A-48C7-BC91-C8D045F1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B5684-D90D-4795-B916-88FC4877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56975-C5F4-4211-874A-1A85F92D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FD4F2-62E9-4CB1-BBF5-A657057F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5D8CE-7612-4CF5-BE29-E6203908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AC1EB-21C9-4FB6-98D2-EE8E3AC0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97EE6-97D6-461F-A5E3-057EF410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1ED54-1441-4381-B139-10D3F0CD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2D233-85CF-4496-A8FD-996CD2C6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第06页｜我们的解法：AI 原生审计产品体系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A41C7-56C1-4D32-AB16-D9393549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F4137-D884-48EF-84D5-AD9348CB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我们的解法不是在传统系统外层增加 AI 问答入口，而是围绕审计作业链路重新组织数据、智能体、图谱和综合分析能力。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这套产品体系围绕三类核心问题展开：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如何避免大模型幻觉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通过原文引用、数据溯源、图谱路径、SQL 和任务记录，让 AI 结论具备可追溯、可复核的依据链条。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如何让大模型具备审计思路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将核查路径、判断规则和分析步骤转化为智能体、技能、模板和应用，使 AI 按照审计逻辑执行任务。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如何让大模型与审计人员协作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通过项目工作台、任务过程展示和结果复核，让 AI 处理高频重复工作，让审计人员聚焦疑点判断和问题定性。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产品体系的底层设计原则：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数据在域内，权限可控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能力可编排，任务可监控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结果有依据，结论可复核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经验可沉淀，能力可复用</a:t>
            </a:r>
          </a:p>
        </p:txBody>
      </p:sp>
    </p:spTree>
    <p:extLst>
      <p:ext uri="{BB962C8B-B14F-4D97-AF65-F5344CB8AC3E}">
        <p14:creationId xmlns:p14="http://schemas.microsoft.com/office/powerpoint/2010/main" val="15228867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B96198-83DD-47B3-9A74-63474A5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D7C9D-7974-494B-BFF4-EE553435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85E20-2C97-4FBA-A3CA-FB89AB38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1BB8A-3B1F-457C-A6FD-E21E0DF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DF431-64FC-4855-A8FE-D90E2459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6A9E6-8E77-446E-9D3B-21A06D8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429B3-C58F-41D3-990E-83B2BB75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6DF2F-7657-479F-90D7-E7D5FDD8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0DCBD-7AD7-4BF9-973A-C6BFFB16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36A91-8DDA-44EB-9375-EC9ACCBC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881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C2F7B-58A3-4F34-A92B-D43F900A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98440-A712-4BBB-8D3B-CF414BCC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第07页｜解法路径：连接存量数据、实际业务与智能体能力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11890-F69D-4350-A5B6-A7A9E749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B0227-4026-448A-B4BB-0AECD831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在具体路径上，我们不替代现有业务系统，也不重复建设传统数据平台，而是在已有数据、资料、系统和知识基础上，建立“存量数据 - 实际业务 - 智能体能力”的桥梁。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已有基础：政务数据与审计数据底座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包括数据归集、数据目录、库表管理、指标模型、业务系统和项目资料。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增量能力一：AI 数据理解层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通过数据漫游、字段识别、文档解析、实体识别和结构化抽取，让数据和资料能被 AI 稳定调用。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增量能力二：图谱关系贯通层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围绕人、企、单位、项目、资金、合同、发票等对象，建立跨系统、跨表、跨资料的关系网络。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增量能力三：智能审计作业层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把审计规则、核查路径和专家经验封装为智能体、技能、任务和应用，支撑批量核查和成果沉淀。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这套产品体系重点解决五类问题：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海量非结构化资料的数据治理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多源数据贯通与隐含价值挖掘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人、企、单位、项目、资金图谱搭建与疑点挖掘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大批量审计核查任务自动化执行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审计思路沉淀与团队共享</a:t>
            </a:r>
          </a:p>
        </p:txBody>
      </p:sp>
    </p:spTree>
    <p:extLst>
      <p:ext uri="{BB962C8B-B14F-4D97-AF65-F5344CB8AC3E}">
        <p14:creationId xmlns:p14="http://schemas.microsoft.com/office/powerpoint/2010/main" val="256492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E3238-F80D-4FEE-8143-8628E982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7A5A9-4A91-41A6-80DB-51C1FB98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48EE1-ADE6-46C5-8C9D-CA208880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1D533-1893-415A-8D9B-76A30481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0DFFD-55E3-48BE-B06E-36C9543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9BDF9-E947-4404-B557-246F8AFB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45974-B5C1-43B4-9211-0F135F1B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DEEDD6-9451-45C6-B469-B19590A7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93485-74CF-4858-A87F-569BF58F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8AC49-9B7A-4E8B-BDD4-CB50B305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DB972-9F0F-4B06-A11A-A7253D84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7228C-087B-4CB4-B62C-33B72F0A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第08页｜本章收束：从单点工具走向 AI 原生审计技术体系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B4F7C6-E5B5-4300-B934-50200862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9391B-AA6C-47EE-8DB9-B2578841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+ 审计的核心不是单点工具，而是形成可持续演进的技术体系。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从单点工具到体系化能力：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从 AI 问答 → 智能体任务执行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不只回答问题，还能围绕审计目标执行多步骤任务。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从数据查询 → 数据理解与关系发现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系统不只查表和跑数，还要理解字段、识别实体、发现关系。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从单次分析 → 证据复核与成果沉淀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分析结果要能回到原始依据，并沉淀为后续可复用能力。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从个人经验 → 组织级审计能力复用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把优秀审计人员的核查方法和判断逻辑转化为组织级数字能力。</a:t>
            </a:r>
          </a:p>
        </p:txBody>
      </p:sp>
    </p:spTree>
    <p:extLst>
      <p:ext uri="{BB962C8B-B14F-4D97-AF65-F5344CB8AC3E}">
        <p14:creationId xmlns:p14="http://schemas.microsoft.com/office/powerpoint/2010/main" val="7337272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D8D49-99E5-4F7C-B91D-AB45F616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5B620-3EFC-4C77-A4C1-7170EFE0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6D1B7-3289-4649-8DF5-FDA5017D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50E50-3789-402B-B94A-9F38C5D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BAAA2-3B05-498B-9742-3C27E648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EE20A-C237-49FB-8235-FABF6532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70481-CF3E-40F1-A506-0ABF067A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9B07D-8329-4210-A8A4-3C7C24A6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D6148-B4E4-4395-8A26-8240B08B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66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9D1E62-7D2D-4844-9E48-67D75BC3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3E85A-A4EE-47A4-A2B9-3C9F908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第09页｜3+1 AI 原生审计技术底座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DD537-74D3-482E-9D2F-4BE99AC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05E0D-2C6A-4ABC-B09C-CD8DFD5B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“3”：三类底座能力平台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智能体平台：AI 能力生产与编排底座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统一承载模型、知识库、数据库连接、MCP 工具、智能问数、法规问答、文档抽取和智能体编排能力。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数据治理平台：复杂数据可用性治理底座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围绕结构化数据库和非结构化资料，完成数据探查、数据漫游、实体识别、结构化抽取和结果沉淀。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数据图谱平台：关系资产化与线索挖掘底座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承接治理形成的实体、关系和线索结果，完成图谱建模、关系穿透、路径追溯、图计算和 AI 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“1”：一个综合作业平台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综合分析平台：审计任务执行与能力沉淀平台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聚合结构化数据、图谱关系、知识库、文档资料、审计技能和智能体能力，支撑项目作业、报告生成和能力复用。</a:t>
            </a:r>
          </a:p>
        </p:txBody>
      </p:sp>
    </p:spTree>
    <p:extLst>
      <p:ext uri="{BB962C8B-B14F-4D97-AF65-F5344CB8AC3E}">
        <p14:creationId xmlns:p14="http://schemas.microsoft.com/office/powerpoint/2010/main" val="1818545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8D5B5B-2BB6-484A-BFAB-9606AE2E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86022-446F-4A39-A9F4-770BBB9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E73D6-D114-416D-896A-9DD034DD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0DD80-2196-43A1-B280-9E51DB4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1349C-1C47-4022-81A9-24428C07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38350"/>
            <a:ext cx="9601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EE96F-E4C2-43EE-A011-C1BC4A0E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00400"/>
            <a:ext cx="906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F8E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1286F-FE6C-4795-95A1-81C1CBCA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48150"/>
            <a:ext cx="853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B8A6"/>
          </a:solidFill>
          <a:ln xmlns:a="http://schemas.openxmlformats.org/drawingml/2006/main" w="0">
            <a:solidFill>
              <a:srgbClr val="13B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F6648-647E-4F8A-859A-F7CD6889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9590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7"/>
          </a:solidFill>
          <a:ln xmlns:a="http://schemas.openxmlformats.org/drawingml/2006/main" w="0">
            <a:solidFill>
              <a:srgbClr val="DC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ABF96-8B48-4BC2-9A5F-9E0C5F9D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5EA5E-755F-443B-85A4-C073D3A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第10页｜四层能力破局：从数据到作业闭环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C8DDC-1CA5-4CAF-A9B0-C9893605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0A7B2-AAEA-4D29-BAA3-15ED9B0C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“3+1”产品体系背后，是从数据到作业闭环的四层技术能力。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第一层：治理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解决“数据看得见、用不了”。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通过数据探查、数据漫游、结构化抽取和实体识别，把结构化数据和非结构化资料转化为可用资产。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第二层：贯通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解决“线索查得到、穿不透”。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围绕人、企、单位、项目、资金、合同、发票等对象，建立跨系统、跨表、跨资料的实体关系网络。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第三层：编排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解决“审计任务难执行、难批量”。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将审计规则、核查路径和任务流程封装为智能体、技能和任务，使平台能够连续执行探查、抽取、比对和结果生成。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第四层：协同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解决“过程难复核、能力难沉淀”。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将数据、知识、图谱、智能体、审计线索和分析成果统一收口，形成可操作、可沉淀的人机协同工作台。</a:t>
            </a:r>
          </a:p>
        </p:txBody>
      </p:sp>
    </p:spTree>
    <p:extLst>
      <p:ext uri="{BB962C8B-B14F-4D97-AF65-F5344CB8AC3E}">
        <p14:creationId xmlns:p14="http://schemas.microsoft.com/office/powerpoint/2010/main" val="15128343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865702-48B1-49B9-9A35-73569515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FBD15-8AAB-4673-A2F7-C6D5034D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8C8AC-E4B7-4181-A734-AFE6475A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6EB3E-8E78-4BE5-94C1-55ADE3A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0269B-5050-4897-A069-ABAE5DAD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D54DF-2146-4063-A323-A31B10A7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783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72481-0F41-41C6-98A4-A13F183E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9746"/>
            <a:ext cx="5219700" cy="871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862D8-CA5F-4CC0-8850-E9C9FA72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5964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31969-5D85-4954-A414-09C4D494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EB309-13BE-4F7D-A61A-A36E005D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997DB-A9AD-4F86-9C9C-D6D7DE00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65E79-306E-4E79-BBD8-B7AE8EAD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8C348-0496-414A-BF79-EDD68C98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1DFC6-382E-4214-A08E-1D029A1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第11页｜平台定位与能力底座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98577-E782-46C3-ADE4-48124B3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312F22-7D1C-40F2-B085-C9581698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智能体平台：统一纳管知识、数据、工具和模型的 AI 能力底座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MindJunc 智能体平台是一款以大模型知识库为核心的智能体应用平台，支持多源知识库管理、RAG 增强检索、MCP 工具集成、数据库连接、应用组装和精细化权限管控。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知识与资源纳管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支持创建多类型知识库，上传 Docx、PDF、TXT、Excel、CSV 等资料，配置切片、向量化、召回测试和引用溯源。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模型与算法资源管理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支持大语言模型、Embedding 模型、Rerank 模型等多模型配置，支持不同模型组合调用。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数据与工具连接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支持数据库连接、MCP 服务、API 工具和第三方能力接入。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应用组装能力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基于知识库、数据库、MCP 工具和模型能力组装知识问答、智能问数、文档处理等应用。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权限与安全控制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支持部门、用户、知识库、应用和数据资源级权限控制。</a:t>
            </a:r>
          </a:p>
        </p:txBody>
      </p:sp>
    </p:spTree>
    <p:extLst>
      <p:ext uri="{BB962C8B-B14F-4D97-AF65-F5344CB8AC3E}">
        <p14:creationId xmlns:p14="http://schemas.microsoft.com/office/powerpoint/2010/main" val="16371063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1C00D-0FA3-4981-BDF9-67CD661E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25E62-8B33-489C-9C8E-0D59F02F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1622D-538D-4308-9F92-43C533D3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AA80B-CD8D-4001-B153-5458A415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FDBDF-4B1F-4558-A4F0-BD7AF0A9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BBCE6-27BF-432F-B47E-63DFE294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923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CAAD6-5A10-42C0-8D85-3827FCE0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085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9E8FA-81C9-41DA-BB8C-0FE11BE8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635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9D8D0-171D-4CE5-B80D-7A13562F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A5A36E-B88A-4E75-983C-C2029CD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362D7C-4E47-48A8-9B45-C6F8B9A0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5CF504-6779-4320-8F80-39B9D6E5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25B3C7-E85C-4691-B1B4-2ECF1575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第12页｜基础智能应用能力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7270D-03A3-4429-A3A7-96270AE5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5B5A29-434F-4E5E-9BC2-F4CBB015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基础智能应用能力：让审计人员直接使用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核心能力：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知识库问答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将制度文件、审计案例、业务材料、项目资料构建为知识库问答应用，支撑审计知识问答、资料检索、依据查找和内容总结。回答可关联原文片段，降低无依据生成风险。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智能问数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支持自然语言提问、库表识别、SQL 自动生成、查询执行、结果总结和可视化展示，把结构化数据查询从“写 SQL”转化为“提问题”。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同时保留 SQL 语句和查询结果，便于审计人员复核数据口径。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内容生成与文档处理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支持将数据库、知识库和模型能力组合为内容生成、资料问答、文档比对和要素抽取类应用。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工具调用与资源连接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支持数据库连接、MCP 工具接入、API 调用和权限控制。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结果依据与过程留痕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关键输出可以关联知识来源、查询语句、数据结果和任务过程。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智能问数应用已具备产品形态，支持数据库配置、知识构建、问答验证、SQL 执行和结果展示。</a:t>
            </a:r>
          </a:p>
        </p:txBody>
      </p:sp>
    </p:spTree>
    <p:extLst>
      <p:ext uri="{BB962C8B-B14F-4D97-AF65-F5344CB8AC3E}">
        <p14:creationId xmlns:p14="http://schemas.microsoft.com/office/powerpoint/2010/main" val="21424346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DF8EB-2D1E-42AC-9E66-8694A9B8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E168F-D617-4D10-B39A-DCEF9A4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1E278-0DEE-44A8-B42B-D0F79525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76508-415E-43B9-8612-09D0D131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C64F7-818D-4889-B619-C3FB6F30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543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7A422-2613-4F87-8BA8-612D69D0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4ACF3-288F-493F-A499-AD09BA8C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0865B-1ECD-48B2-BB09-64DA384C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DB7CA-2AE5-47DC-B511-C8009AFC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9302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BA674-FB95-411B-8B62-86B2FEF7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011"/>
            <a:ext cx="6858000" cy="991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9E0AD-9DE5-48BE-A883-9F79D70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6055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24037-E6CF-454B-919F-E8055C3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7605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3B265F-245A-4F0A-867F-AF2459A8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B5535-756C-4809-9E4B-41197A9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第13页｜票据溯源与供应链追查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A8E116-1A95-4A3C-8373-1DDF1C05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95C61-B1EA-41B2-9C5D-621D93DB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典型场景：票据溯源与供应链追查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针对某个大额发票，追查上级经销商进货发票，直至生产商或进口商，分析是否存在加价过大、链路过长或关联交易。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发票链路涉及多个主体、多个层级和多张票据。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人工追溯需要反复查询、比对、整理和画链路。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容易遗漏关键节点，难以快速识别异常加价和异常流转路径。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单次分析结果难以沉淀为可复用任务能力。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识别发票、货物、供应商、经销商、生产商、金额、时间等关键对象。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通过数据库查询、文本抽取和关系匹配，自动组织销售链路。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对链路层级、价格变化、主体关系和异常节点进行分析。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输出链路结构、价格变化表、疑点说明和可复核依据。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系统可梳理完整销售链路，并分析销售加价情况，辅助开展合规评估和异常识别。</a:t>
            </a:r>
          </a:p>
        </p:txBody>
      </p:sp>
    </p:spTree>
    <p:extLst>
      <p:ext uri="{BB962C8B-B14F-4D97-AF65-F5344CB8AC3E}">
        <p14:creationId xmlns:p14="http://schemas.microsoft.com/office/powerpoint/2010/main" val="12365705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BAFDF-B104-454B-9C7A-9233408C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E9537-45CF-4A17-B259-156BD93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260EF-E5BC-4808-A7F5-4F8DEE5E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6C48D-1F24-4679-969B-54AD19E8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91AA8-B6B5-4788-84B6-DBF23F76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36173-6C0D-41B4-B067-BA0F68CB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4CEE1-2C02-4E45-B4AD-EF08A383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0DAFC-60EE-4385-AEA4-049033CD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AFE0F-EADA-46C4-B30C-AD1F607D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871FD-5EBF-46B5-B5ED-7372C09D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BAC48-D77D-4C65-B90A-88406342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D1603-4D89-4F1F-AB5B-69D69BCF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第14页｜向后赋能的数据治理与图谱智能体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A4040A-0327-4CE3-9FDE-4C4E4009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FCB4C-5812-4DF8-9E33-6A1846B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向后赋能的数据治理与图谱智能体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除直接面向审计人员的基础应用外，智能体平台还沉淀了一组面向后续平台的专有智能体能力。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面向数据治理平台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数据漫游实体搜集智能体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自动探查库表和字段，识别身份证号、手机号、银行卡号、统一社会信用代码等重点实体，形成实体分布视图和后续取证线索。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数据贯通智能体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围绕人员、企业、单位、项目、资金等对象，辅助发现跨表、跨库、跨系统之间的潜在关联关系，生成可复核的数据关联依据。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历史变更结构化智能体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面向工商变更、股权变更、高管变更、法定代表人变更等非结构化文本，自动抽取时间、主体、变更事项、变更前后内容和关键数值。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面向数据图谱平台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隐含关系挖掘智能体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通过关系定义、图谱查询模板和大模型推理，辅助发现未显式存在的潜在关系。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关系推理与线索发现智能体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围绕关联交易、利益输送、资金回路、供应链异常等问题执行多跳查询、路径分析和线索生成。</a:t>
            </a:r>
          </a:p>
        </p:txBody>
      </p:sp>
    </p:spTree>
    <p:extLst>
      <p:ext uri="{BB962C8B-B14F-4D97-AF65-F5344CB8AC3E}">
        <p14:creationId xmlns:p14="http://schemas.microsoft.com/office/powerpoint/2010/main" val="143751751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D4E05-0606-4041-9983-BA5B06E0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BD7C2-1228-4E31-8E19-8672BFB7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64E4C-EF7A-4C6C-A3FD-29C09CB9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D289C-B0FC-4BA1-AFB9-F41C07EF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9F7DD-960E-4177-830E-5E97B1A5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221EA-D11A-4622-9A44-2E7F19BE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B3F49-B7E5-46EC-8B8A-D172F785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9764E-670A-4EEA-8E1A-82B72CE7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37BEB-D6B4-4AAD-8532-B513172A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017B7-423F-4E3D-9A35-001355A3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77BB3-3015-4E42-947D-82FA7CA2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99D4D-AC33-47DB-B25E-E5EFEBC2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第15页｜本章收束：智能体平台向后赋能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4E1E0-25F4-417A-989C-37C9D2FB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ADD2C-3002-4589-BB2F-0F88829E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智能体平台通过三类能力，构成后续产品体系的 AI 原生底座。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第一类：资源纳管能力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统一管理模型、知识库、数据库、文档资料、MCP 工具、API 工具和权限体系。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第二类：基础智能应用能力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直接面向审计人员，支撑知识问答、智能问数、文档处理和内容生成。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第三类：向后赋能的专有智能体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支撑数据探查、数据漫游、历史变更结构化、隐含关系挖掘和线索发现，并由后续平台进一步承接。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知识 / 数据 / 工具 / 模型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智能体编排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数据治理 / 图谱智能体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综合分析任务执行</a:t>
            </a:r>
          </a:p>
        </p:txBody>
      </p:sp>
    </p:spTree>
    <p:extLst>
      <p:ext uri="{BB962C8B-B14F-4D97-AF65-F5344CB8AC3E}">
        <p14:creationId xmlns:p14="http://schemas.microsoft.com/office/powerpoint/2010/main" val="195810452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11322-F450-4E78-98FC-4A421A3D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B1ECD-E92D-41BF-93F5-0E80D245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F415-7648-40EB-8233-23DC4865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25072-31DE-4E0F-BA68-DCD94A22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3D6CA-24CA-4453-B24B-A73FBF8E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52AE0-DF45-4CEA-AF75-389334BF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9302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4DEE9-50E8-4FF5-80D1-5E86A346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1561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76A7A-AC76-404D-AA12-4124C157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33668-49C7-4426-ACCA-37208E11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16E58-EEF7-4783-90B8-CC3ECCC5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CF1EEE-7E3F-427F-BDCB-EA3124B0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4DB6B0-2D6F-4F7A-B79A-BEB72503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第16页｜产品架构与功能模块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4A39A-E0FE-41B3-A94C-AAA52A59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70681-D34C-46B5-99E0-5F5D14F3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数据治理平台：面向审计数据治理作业的产品架构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平台围绕审计数据治理作业，形成四类核心功能模块：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数据资源管理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承接结构化数据的资源目录、数据探查、数据地图、标准管理、质量评估和清洗比对能力，为后续治理作业提供基础数据视图。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重点不是重建数据中台，而是让已有数据资源能被 AI、图谱和审计任务使用。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治理任务调度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通过任务创建、队列执行、定时调度、过程监控、异常记录和结果管理，将数据漫游、文本结构化、实体识别、关系挖掘等能力组织成可执行、可复用、可追溯的治理作业。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智能治理能力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围绕数据漫游、文本结构化、重点实体识别、潜在关系发现、历史变更治理等复杂场景，调用智能体完成自动化处理。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治理结果沉淀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将治理结果回流结构化数据库，或输出至图数据库和综合分析平台，支撑后续图谱构建、线索挖掘和审计任务执行。</a:t>
            </a:r>
          </a:p>
        </p:txBody>
      </p:sp>
    </p:spTree>
    <p:extLst>
      <p:ext uri="{BB962C8B-B14F-4D97-AF65-F5344CB8AC3E}">
        <p14:creationId xmlns:p14="http://schemas.microsoft.com/office/powerpoint/2010/main" val="9306673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B1F967-E65B-4A62-86B5-813919B6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53AA3-4115-4F4F-874D-12C6A0F5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7B0B6-1A26-4FCE-8697-34B026A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ED7EC-3C3B-414C-8F9B-308CBA8E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A351D-179B-48DB-A3F2-3E99C5C7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3C6DC-039D-4D5C-B817-5040BAC3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6E9BD-03A7-431F-985C-6F8ACC33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03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52FAA-34C6-44D1-96E7-73186A4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158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442C7-24FC-4CD4-B9B2-7AFBEA9E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B19E2-A659-4C6D-8C63-AC6976AA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EFDF9-7409-4760-AF70-89363689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EBED66-62F4-4596-BD6E-3DFB4A21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8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484B1-5F2F-41FC-B3F6-5AA80C04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1E2E51-1FF9-4884-A503-FF129AEB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第17页｜重点解决的真实数据问题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B6B6EA-9C80-4576-A6E7-11767D61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AB93BD-1288-428B-825B-E05245C2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平台真正要解决的，不只是传统数据管理问题，而是审计数据在真实场景中的可用性问题。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结构化数据的问题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数据量大，但语义弱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面对百亿级数据、万张级库表，字段命名不统一、表说明不完整、业务语义不清，难以快速判断哪些数据与审计目标相关。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数据分散，但关系隐蔽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人、企、单位、项目、资金、票据分散在不同系统和表中，缺少统一实体视图和跨表关系识别能力。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人工找数成本高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传统方式依赖熟悉库表结构的技术或业务人员，审计人员需要反复沟通、试查和改 SQL。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非结构化数据的问题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资料重要，但不可计算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工商变更、招股书、合同、制度文件、会议纪要、扫描件等资料长期停留在“可阅读、不可计算”的状态。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格式复杂，人工抽取成本高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长文档、多表格、跨页内容、扫描图像、历史变更文本仅靠规则解析难以稳定处理。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难以进入后续链路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如果不能结构化，就难以进入批量分析、图谱构建、穿透分析和全量审查流程。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治理平台的核心目标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让结构化数据更易被理解和调用。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让非结构化资料真正转化为可查询、可分析、可复用的数据资产。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让治理结果持续输出给图谱平台和综合分析平台。</a:t>
            </a:r>
          </a:p>
        </p:txBody>
      </p:sp>
    </p:spTree>
    <p:extLst>
      <p:ext uri="{BB962C8B-B14F-4D97-AF65-F5344CB8AC3E}">
        <p14:creationId xmlns:p14="http://schemas.microsoft.com/office/powerpoint/2010/main" val="181811822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2EA446-3310-466D-9C8C-6B67D0AA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065AB-ECF1-426E-BEDE-A7A9B91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2454F-12F2-4D3F-B593-7AF312F9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7E74B-08DC-485C-9837-04B7880C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004D8-43B2-4639-B16E-53E820DC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1A57C-9502-421B-A215-B2E874DA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901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9DE4D-4EE6-49B1-9D5F-982E304D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2415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C79CA-07F4-4ED6-A4CA-770F7C85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3965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70976-CF0D-4D76-9027-13CEE6BD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E4B05-50C7-4CFE-910B-6242B752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DB5AA-38E2-4552-9785-44CA4F49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51E02-63C4-4F57-A43A-3577282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347C80-E713-43FB-B057-5E3B7210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DBB6B-BFD5-4DD5-BB18-32DE0A42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第18页｜任务调度与作业机制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481F31-F86B-4961-ABB6-29BC9AD6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9D2CBA-8B80-496E-9F42-99418D7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数据治理任务调度：用任务化方式驱动智能体批量执行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数据治理平台不是传统数据中台，而是面向审计数据治理作业的任务调度入口，通过任务管理机制组织数据探查、数据漫游、结构化抽取和关系挖掘。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任务创建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用户选择数据源、目标库表、探查范围、实体类型、执行策略和输出目标，形成标准化治理任务。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队列执行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平台将任务按队列批量执行，支持大规模库表、文档和实体数据分批处理。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定时调度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支持按周期或指定时间触发治理任务，适配定期数据更新、增量数据探查、常态化数据巡检等场景。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过程监控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展示任务状态、执行进度、处理批次、异常记录和质量校验情况。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结果校验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对抽取结果、实体识别结果和结构化输出进行抽样复核、质量检查和异常标注。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结果沉淀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任务结果可进入结构化数据库、图数据库或后续审计分析流程。</a:t>
            </a:r>
          </a:p>
        </p:txBody>
      </p:sp>
    </p:spTree>
    <p:extLst>
      <p:ext uri="{BB962C8B-B14F-4D97-AF65-F5344CB8AC3E}">
        <p14:creationId xmlns:p14="http://schemas.microsoft.com/office/powerpoint/2010/main" val="14332936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D55D7-3C5E-4792-A194-6C44901E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1A363-25FF-40CD-BDD2-E990E0AD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AA28E-1789-44B8-A28F-A52B9012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43542-CF6E-42D4-BEE4-636FDF5A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7AD56-3E9A-4782-AC32-2218DBE9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7E0B1-F5A0-4C5E-863F-076B21E4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98AFD-E6DF-43B3-BBF8-7F0C86B0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F6887-9AA0-44C1-973F-0E5DCC6E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1D674-EACF-4ABD-814E-C4730A98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2F76E8-F3C1-4E64-AEAA-E543E3B7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7528F-5D20-4959-AEC2-77182383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6553F-A3BB-4DC7-9E45-D25E9465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7FE10E-C652-4514-ACAF-7AFDBAC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C3D325-9F24-4914-8183-F6DA9EA6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第19页｜核心能力：数据漫游与文本结构化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01D370-36EC-4172-A0C8-BD64C731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8AAADE-3E4C-4F33-8B7A-06A70209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数据漫游与文本结构化：两类核心治理能力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数据漫游：从数据库中自动发现有价值的数据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全量库表探查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基于大模型和字段识别规则，对库表进行全量探查，形成数据库表资产视图。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字段语义理解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自动推断字段含义、业务主题和潜在用途，降低人工读表成本。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重点实体识别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自动识别身份证号、银行卡号、手机号、统一社会信用代码、企业名称等重点实体字段。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多表关系发现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辅助发现人员、企业、单位、项目等对象在多张表之间的潜在关联关系。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取证 SQL 生成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围绕发现的实体和关系生成可执行 SQL，为审计取证和后续复核提供依据。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文本结构化：把资料转化为可计算数据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复杂资料解析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面向股权变更、招股书、合同、制度文件、扫描件等非结构化资料自动提取关键要素。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结构化结果输出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将原本只能人工阅读的资料转化为可查询、可分析、可复用的数据资产。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下游链路承接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为后续图谱构建、历史追溯、批量核查和综合分析提供输入。</a:t>
            </a:r>
          </a:p>
        </p:txBody>
      </p:sp>
    </p:spTree>
    <p:extLst>
      <p:ext uri="{BB962C8B-B14F-4D97-AF65-F5344CB8AC3E}">
        <p14:creationId xmlns:p14="http://schemas.microsoft.com/office/powerpoint/2010/main" val="76558954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24268-01F2-4134-9483-E07EFBA1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06A7E-8595-4B80-88E0-A5D38BC9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F7EF8-E9B5-48D4-BEDF-6E85C892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77338-B5F7-426D-B8F1-E66C0862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20307-DE50-4883-A536-AF962506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543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BAE51-48AD-4BF4-A938-1591100D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2FBAA-8BEA-4AE8-A244-4618315C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89652-4467-4484-96E8-A9DE791D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C67DF-22CD-4267-8417-83F9DC25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97842-D7BB-4C36-9C8E-F7DAAB45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E2906-8225-4438-BBBE-7FBB5471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3FDCB-B3BF-491A-ADA8-72BEE3BA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71D84E-40EA-4C81-B5AF-6194C55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B47CFB-5A01-4857-94DF-955C8D10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4F5C0F-38A3-4B0F-969F-07535BBC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第20页｜工商变更治理与企业历史股权治理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CCC67-0468-4497-B77F-D6F6ADB0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966E0C-591B-4B10-84BD-CE630B36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典型场景：工商变更治理与企业历史股权治理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某省会 184 万家企业累计数百万条工商变更记录，历史股权信息长期以非结构化文本形式存在，过去主要依赖人工阅读、摘录和局部核查。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资料能看到，但无法计算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工商变更文本中包含大量股东、出资额、持股比例、法定代表人、高管等信息，但文本格式不统一，难以直接进入数据库分析。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历史链条难还原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股权变化涉及多个时间点、多个股东和多轮变更，人工整理历史时间线成本高、遗漏风险大。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无法支撑全量审查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传统方式很难对海量企业历史变更进行批量计算、股权穿透、关联识别和全量审查。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通过数据治理平台自动解析历史工商变更和股权变更文本，提取：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变更时间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股东信息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投资额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持股比例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法定代表人变化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高管变化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变更前后内容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形成结构化股东清单、企业历史股权时间线和后续可入图的数据资产。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30 小时解析超百万家企业、1300 万条历史工商变更存量数据。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过去只能阅看的数据，被转化为可计算、可分析、可入图的数据资产。</a:t>
            </a:r>
          </a:p>
        </p:txBody>
      </p:sp>
    </p:spTree>
    <p:extLst>
      <p:ext uri="{BB962C8B-B14F-4D97-AF65-F5344CB8AC3E}">
        <p14:creationId xmlns:p14="http://schemas.microsoft.com/office/powerpoint/2010/main" val="66279903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537692-F041-494F-8B80-53288A83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CFB65-44B1-4E36-B92B-2DAA9380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DD0B6-690C-4516-9768-52D0D929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2EA76-4AD9-4D6A-A3C2-43DB6EF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D4431-B5A4-4C47-B935-6EB696AA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543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C4A8B-0EA9-4B73-86D7-F770DCFE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15CBB-5568-4FCD-B8B4-BF6E8567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D8293-C32D-4B02-9550-F9B23945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68A82-586E-4AF7-BACC-98FA4C7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2BC1C-12D1-4D76-84C3-A5B57136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E39CC-C2DD-4078-9BF7-503C0B21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18693-11FB-4275-88D6-86FAF195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C5A52C-22EB-47A5-9BF1-35A8AD1B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6858000" cy="959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46D44C-5B90-490E-8811-A88D1CF7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A25563-C617-4CA2-9DDB-4FEFE97C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第21页｜招股书提取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83382-D17A-4C77-A4ED-0E1389B3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D6C6D2-5514-4BE6-982C-8C370A92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典型场景：招股书智能提取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面对数百页的招股书 PDF / Word，传统方式依赖人工翻阅、定位章节、摘录表格和整理股权结构，耗时长、易遗漏、难复用。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技术难点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文档篇幅长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招股书往往包含数百页内容，章节结构复杂，信息分散在正文、表格、附注和跨页内容中。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表格结构复杂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股东信息、股权结构、历史沿革、董监高履历等内容常以复杂表格呈现，存在跨页、合并单元格和格式不统一等问题。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专业语义要求高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需要区分发行人、控股股东、实际控制人、历史股东、关联方、董监高等不同主体和关系。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自动识别释义、发行人基本情况、股权结构、历史沿革等关键章节。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自动解析正文和表格，提取股东名称、持股数量、持股比例、股东类型、履历信息等核心要素。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自动生成结构化股权结构表、股东履历表和后续图谱构建输入。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核心价值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为后续股东穿透、关联关系识别和投资审计提供结构化数据基础。</a:t>
            </a:r>
          </a:p>
        </p:txBody>
      </p:sp>
    </p:spTree>
    <p:extLst>
      <p:ext uri="{BB962C8B-B14F-4D97-AF65-F5344CB8AC3E}">
        <p14:creationId xmlns:p14="http://schemas.microsoft.com/office/powerpoint/2010/main" val="57765230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8B108-BF69-4687-8013-5F0533F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7D2DA-BD4C-4034-BCED-FA174EF1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31DA2-8E74-4C82-98A2-44807089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DC445-8A98-4943-AED2-7F670D1D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AE494-62EA-4201-8D31-AA6453EB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543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50E1B-922C-43B3-9EAF-C2A162BF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6BFC1-871C-483C-B19C-39419486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0F58D-7E33-49A7-9B64-D05B3314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6D64B-397A-4C9F-A595-56F5255D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DBB9F-3F31-47CA-888A-FF12E32F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5581C-EE91-45C7-BC80-1C03F45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5E613-16CD-4B4E-92D3-0CF1246E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858000" cy="1020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531A3-9937-42FF-97D6-8738E8E3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534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22BCE-C3E8-4C6B-8219-6439F265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BADCDE-D7D8-453D-AA0D-204DF9E6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第22页｜实体漫游搜集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6BB784-4089-448A-82C4-1F802806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C5F110-5342-471E-94EE-117C2CC5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典型场景：实体漫游搜集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关键审计信息，如电话、银行卡号、身份证号、统一社会信用代码、企业名称、项目编号等，往往散落在多张数据表、多个业务系统中。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实体分布不清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同一类实体可能出现在不同系统、不同库、不同表和不同字段中，人工很难快速掌握全貌。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字段含义不明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大量字段缺少清晰注释，仅凭字段名难以判断其业务含义和审计价值。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多表关系难发现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缺乏统一的实体关联视图，人工难以发现多表之间的深层逻辑联系。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自动探查并汇总实体在各系统、各表中的分布情况和出现频次。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自动推断字段含义并生成单表业务摘要。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识别身份证号、手机号、银行卡号、统一社会信用代码等重点实体。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挖掘多表之间的潜在关联关系。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生成对应 SQL 作为审计取证和后续复核依据。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核心价值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把分散在数据库中的实体信息转化为可追踪、可关联的数据基础。</a:t>
            </a:r>
          </a:p>
        </p:txBody>
      </p:sp>
    </p:spTree>
    <p:extLst>
      <p:ext uri="{BB962C8B-B14F-4D97-AF65-F5344CB8AC3E}">
        <p14:creationId xmlns:p14="http://schemas.microsoft.com/office/powerpoint/2010/main" val="176255151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07EC52-A94C-4DBE-80FB-A9074AC1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A44B5-CD52-4793-AB3A-4C7B838B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5DC1C-B708-4312-9AF0-604EF6FD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167F4-49A8-4EBC-9429-8F8193F9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040D4-1735-4F3B-913F-256693B1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F2761-A732-454E-833F-57C901F4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0C079-FCFC-48EE-91D5-058DE9B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C3448-14D2-4CFF-A960-3700CFF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E7D01-29D7-4BA1-A947-1B1B002A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F385CC-7C7D-4545-8039-BB2DD5F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E3CDA4-1976-4D0B-A964-3C3259D5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49BE6-9D92-469A-A810-1D454BFE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57E30-F6A7-4EA8-9084-18C43EBF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F90EAC-E45D-4306-BD32-32EBA5BC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第23页｜数据图谱平台：关系建模与线索挖掘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FB3617-CB46-4740-BAEC-2AD76B94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BCE034-BCFB-4C6C-8EAB-CEDB07FA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数据图谱平台：构建审计实体全息穿透网络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审计线索往往不在单张表、单份资料或单个系统中，而隐藏在人、企业、单位、项目、资金、票据等对象之间的多跳关系中。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从“孤立点查”走向“全息网查”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本体建模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通过本体建模，将人员、企业、行政事业单位、项目、资金、合同、发票等对象定义为可计算实体。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多源映射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通过数据库、治理结果、文档抽取结果和外部数据源映射，将实体和关系持续写入图谱。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关系穿透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围绕股权关系、任职关系、业务往来、资金往来、项目关联、票据链路等关系进行多跳穿透。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图上分析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通过路径分析、最短路径、环检测、邻居高亮、社区布局等方式识别复杂关联结构。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推理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基于大模型问图、关系语义定义和推理模板，发现图谱中未显式存在的隐含关系。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场景落地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审计人企机关全息图谱构建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隐含关系深度计算与发现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工程项目供应链关系贯通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资金回路、关联交易和利益共同体识别</a:t>
            </a:r>
          </a:p>
        </p:txBody>
      </p:sp>
    </p:spTree>
    <p:extLst>
      <p:ext uri="{BB962C8B-B14F-4D97-AF65-F5344CB8AC3E}">
        <p14:creationId xmlns:p14="http://schemas.microsoft.com/office/powerpoint/2010/main" val="160377860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1DCC2-0B87-4DAB-8C5B-D3E086AC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6D5BB-CFF5-4740-91A0-C6E3F3C4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BC53E-0722-468C-877A-29E7321C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4F2F2-6699-4688-B5F8-AE5926D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C0F08-5B1F-473C-8A56-805672B0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9B057-F6E3-4773-BA00-F7A70B54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042E3-6666-46FA-B8AD-A2511970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BC113-CDEA-4D52-BC30-D49F7418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816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1394C-5848-4BC2-93A8-2095C6B5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DFD61-56A3-46C9-B9F6-C5BD7B77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2E718-3B54-4162-BAA6-C641E5A5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D3D0B8-FF2C-4159-A80D-C2BD666C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75371B-F457-4564-9295-38B7C5C2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63DB2-60EC-488B-8E14-D5AFE4C5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第24页｜图谱基础管理与构建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626F3A-CA1B-4603-911E-FD5A7C3C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DCBBE0-B1F8-4CD2-A66B-0C984DA7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图谱基础管理与构建：从本体到入图的统一组织能力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图谱空间与权限管理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图谱全生命周期管理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支持图谱新建、JSON 导入、导出、编辑、数据清除、删除等全生命周期管理。清除数据时可保留本体结构，便于重建。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图谱级权限管控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支持按用户、部门维度配置访问与编辑权限，实现多团队并行分析下的数据安全隔离。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工作台驾驶舱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提供平台级数据资产视图，统计图谱总数、节点总量、关系总量和接入数据源数量，并展示本体类型分布和数据源构成。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本体建模能力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实体类型定义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支持表单模式和 SQL 模式定义实体类型。表单模式面向业务人员，SQL 模式面向技术人员。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关系类型定义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支持定义关系名称、属性字段、方向性约束和数据溯源链接。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本体拓扑可视化校验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以拓扑图渲染当前图谱业务模型，支持交互式校验属性配置。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多源数据接入与映射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数据溯源链接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支持为实体类型和关系类型配置 URL 模板，图谱分析时可直接从节点或边跳转至原始数据源表。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多源数据接入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支持对接外部关系型数据库作为图谱数据源，将结构化数据纳入图谱构建流程。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实体映射引擎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提供可视化实体数据映射能力，将数据源表字段转换为图谱实体节点，并通过唯一标识字段去重。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关系映射引擎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提供可视化关系数据映射能力，支持将数据源表转换为图谱关系边。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入图任务与可审计性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数据导入任务调度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以任务化方式管理数据导入过程，支持配置调度策略与运行参数。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入图过程可追溯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每次导入均可追溯至具体映射规则与任务实例，支持数据清除与重跑。</a:t>
            </a:r>
          </a:p>
        </p:txBody>
      </p:sp>
    </p:spTree>
    <p:extLst>
      <p:ext uri="{BB962C8B-B14F-4D97-AF65-F5344CB8AC3E}">
        <p14:creationId xmlns:p14="http://schemas.microsoft.com/office/powerpoint/2010/main" val="170863965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5CCC89-9400-430F-8D89-1495E2B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971D5-4097-4737-87D3-45E6BAD4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8B70E-50BD-4E29-8399-E07F64C4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A9456-EFA5-4096-9FDA-C825AADC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33DA3-6797-41E9-92AE-83E55A70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880EE-0778-412A-AC28-D17F9AB8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DA71C-8376-40EC-AD51-A7E0FB31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93F71-ED3C-451C-8B02-E94972E8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908B9-F3C2-4949-8A04-B9E7ABC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FCBF6-047F-43AF-AEE7-BE45DE8A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FADDF-7AA7-49D3-94CC-ECA22EC4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65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195D2-A966-437C-816C-79CF1904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8342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3B09CC-E1EC-46D7-BA01-C3AB9894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ACD5F4-193D-4345-AE30-E1C1B8B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第25页｜图谱分析、推理与批量任务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21032-19C0-40D5-912B-9299B3DE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566D3B-1D13-4922-93F5-167152C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图谱分析、推理与批量任务：让图谱进入真实审计分析过程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多模式图谱探查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预置探查方法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内置实体信息查询、路径分析、图查询语句三种探查方法。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渐进式探查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支持通过步数与条件过滤逐步展开关联网络。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节点 / 边详情与溯源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支持查看节点和边的属性信息及数据源链接，点击可直接穿透至原始数据表。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图谱动态拓展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支持从已有节点出发进行关联拓展，提供直接拓展与条件拓展两种模式。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图上分析与可视化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图上分析算法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内置直接邻居高亮、最短路径计算、环检测等图分析算法。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多布局可视化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支持中心布局与社区布局，适配不同分析场景。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查询模板与外部能力集成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图数据查询模板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支持通过命令行模板自定义图谱查询逻辑，定义变量参数并绑定实体 / 关系属性。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模板管理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支持数据模板创建、编辑、删除和在线测试。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关系推理引擎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从“已知查询”到“未知推理”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传统图谱查询解决“已知关系怎么查”，AI 关系推理解决“未知关系怎么发现”。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自然语言定义关系语义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支持通过自然语言描述待推理关系，配置推理 Prompt、关联数据模板和大模型。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批量图谱任务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批量图谱查询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支持基于 Excel 数据驱动数据模板批量执行图谱查询，通过列映射将表格数据自动注入查询参数。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批量关系推理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支持基于 Excel 数据驱动推理模板批量执行关系推理，任务完成后输出结构化 JSON 推理结果。</a:t>
            </a:r>
          </a:p>
        </p:txBody>
      </p:sp>
    </p:spTree>
    <p:extLst>
      <p:ext uri="{BB962C8B-B14F-4D97-AF65-F5344CB8AC3E}">
        <p14:creationId xmlns:p14="http://schemas.microsoft.com/office/powerpoint/2010/main" val="211890394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7B5A5A-AF22-4EBD-B6AB-A8E52178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6236-8331-40C8-9C8E-DB622812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782F7-066C-4084-B03A-4ACCDF57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7FF8E-F761-4054-A4DC-D9BF223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28D45-8C12-4A47-9297-2208F60F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543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AA4FE-40D6-47CC-B8B5-0D2FF84B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2D2F4-C1D1-4AA5-B230-F2B330D3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36C68-111D-4D7F-88AF-116F8FFD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70069-5631-4EF6-AD18-FFF27542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DEBC8-4D06-40CF-8C1F-1D232BD6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58966-D52B-4E71-A223-344F8B99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2F8F6D-011B-4A81-80C7-2A18C54A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5CADFE-4694-461B-9008-E4D52C7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55E359-C868-44D2-91C6-437EC5C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90142E-6EC7-4E8B-B26A-3195F45A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第26页｜案例：关联穿透审计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3E02A5-8661-4F31-862A-70106C07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D066D7-C59C-4668-929B-70FF89A3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案例：关联穿透审计｜人企要素全息图谱构建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数据汇聚梳理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面向关联穿透审计，平台可汇聚和梳理多源数据：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人口库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工商登记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社保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发票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银行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国库支付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医院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行驶证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编办数据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多维数据漫游结果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知识图谱构建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实体类型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人员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企业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行政事业单位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项目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账户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票据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车辆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医疗机构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关系类型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股权关系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任职关系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亲属 / 关联关系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业务往来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资金往来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发票往来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项目关联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单位隶属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技术路径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多源数据接入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重点实体识别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唯一标识归并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关系映射入图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路径穿透分析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AI 关系推理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疑点线索输出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最终效果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让“谁和谁有关系、钱从哪儿来、往哪儿去、通过什么主体发生联系”在一张图上清晰可见，辅助锁定深层违规线索。</a:t>
            </a:r>
          </a:p>
        </p:txBody>
      </p:sp>
    </p:spTree>
    <p:extLst>
      <p:ext uri="{BB962C8B-B14F-4D97-AF65-F5344CB8AC3E}">
        <p14:creationId xmlns:p14="http://schemas.microsoft.com/office/powerpoint/2010/main" val="34185475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F0D4CB-0F6F-40C3-A82C-410D958C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C71E6-1AB3-423A-9046-FF9EFD34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98803-9EF3-4B0A-B21D-D987A31D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C5CB0-E63C-4816-9053-9DF7C2DE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CEC0C-3C28-4BC8-B41C-585991BB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543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EBFB3-277C-4689-B91E-018EF5D0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5538D-DDB4-4B06-ABDA-B8B8FB0C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527A6-12D7-45F5-ABA3-661D15A5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73A16-68B3-4762-A0CC-AEBACE5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109F0-2B9B-4A64-81DE-B6DFF460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858000" cy="8881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3B540-52AB-41EF-BD80-1EEA666F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9461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836BF-4FAC-4021-B77C-37BBD264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1011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BB586-804C-46AB-BFB0-2D2C87D8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2561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D8062-20C4-431F-8735-4BD7C539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43D5E3-8DDB-402B-AEAA-8FF175CF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第27页｜贯通案例：工程项目供应链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AA5B4F-203C-427F-9CDC-AFF2E7D5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EED0B9-79B9-498C-932C-1C082C23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贯通案例：基于数据贯通，描绘工程项目有关供应链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工程项目审计中，发票备注、合同信息、供应商信息和项目资料之间存在大量关联关系，可用于识别供应链异常、关联交易、履约风险和价格异常。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实际业务数据中经常存在：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项目名称缺字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简称与全称混用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同义词表达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供应商名称不一致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发票备注不规范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合同名称与项目名称无法直接匹配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同一货物或服务在不同系统中表述不同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这些问题导致同一个项目、同一个供应商或同一类货物在不同系统中“连不上”，人工整理成本高。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利用大模型的语义识别能力和数据图谱平台，对发票备注、项目名称、供应商名称、合同信息和货物信息进行统一识别与关联匹配。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技术链路：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文本语义识别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项目名称归一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供应商主体匹配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合同 / 发票 / 货物关系抽取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图谱关系构建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项目供应链展示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异常路径识别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输入项目名称，即可得到项目有关供应链，帮助审计人员查看上下游供应商、发票、货物和交易链路。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可辅助识别：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供应链层级过长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异常加价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关联供应商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同一实际控制人控制多个供应商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发票与合同、项目不匹配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货物或服务流向异常</a:t>
            </a:r>
          </a:p>
        </p:txBody>
      </p:sp>
    </p:spTree>
    <p:extLst>
      <p:ext uri="{BB962C8B-B14F-4D97-AF65-F5344CB8AC3E}">
        <p14:creationId xmlns:p14="http://schemas.microsoft.com/office/powerpoint/2010/main" val="1054254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0A9C99-7B8D-4EB5-A8ED-3B9F90FD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F7F53-D3EA-45BF-9331-2315306B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8B736-EC2D-4204-9408-4D767FF2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506D4-7570-4425-8CDA-99808F5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C767B-A69C-40EB-99F0-2A4B916A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34E45-E3E9-49FC-BEAB-B452743A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28499-620B-47AD-988F-90C53E77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3E74D-20F7-4062-9841-F6CD37E0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B8C94-046B-44A0-BD03-4F350779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597C0-F902-407D-AE68-5028C93A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EB9DB-F211-485E-9EC5-014AEA42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CBA7F-05A9-48B9-94EF-35410916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D25387-3C4D-4EE4-9BF7-CB5E6238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6986A-577B-4650-AE95-57007C75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第28页｜综合分析平台：任务执行与应用承接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D63500-EE10-4C41-B173-244F3209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C032DD-46DC-44D4-BDD1-C5F8F3BA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综合分析平台：人机协同的统一工作入口与审计作业执行层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综合分析平台将数据、知识、图谱、智能体和审计成果统一收口，形成审计人员可操作、可沉淀的人机协同工作台。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赋予 AI 行动能力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为大模型配置读取、检索、抽取、比对、计算、生成等工具，使其能够围绕具体审计任务执行多步骤操作。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赋予 AI 专业能力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将专家核查逻辑、规则匹配方式和风险识别方法沉淀为标准化技能。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统一的项目工作空间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每个专项任务拥有独立空间，项目资料、关联数据库、图谱、知识库、审计技能和任务结果按权限统一管理。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沉浸式审计助手交互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审计人员可在同一界面中查看资料、调用图谱、查询数据库、检索制度，并通过自然语言引导 AI 开展分析。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审计技能沉淀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审计人员完成一次高质量分析后，可以将核查路径、判断规则、分析步骤和引用依据沉淀为标准化审计技能。</a:t>
            </a:r>
          </a:p>
        </p:txBody>
      </p:sp>
    </p:spTree>
    <p:extLst>
      <p:ext uri="{BB962C8B-B14F-4D97-AF65-F5344CB8AC3E}">
        <p14:creationId xmlns:p14="http://schemas.microsoft.com/office/powerpoint/2010/main" val="34682777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8D869-A65B-46BC-85AC-F272627D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4376C-CEBD-42EA-8897-28DD2AA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2B139-06B6-48B6-8E4E-BE5C8008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CA0F4-1033-4087-9491-5A9A63D6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9E580-EEFB-45B4-8575-1A412204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38EAC-6E96-4379-8D15-1B70C6B9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C30FC-C20B-4D8A-9793-0C498576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BA988-8251-4453-999A-F3FE8629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D6350-6E72-429D-BEFF-35658585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FA4A3-C0E8-4390-BB4C-E62F4B23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01F12-3828-4F55-8DE7-8A8BCB2A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70D28-924F-47A6-B1A9-DF00DA78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F59C38-58FF-4DB9-81DA-FEFAFDAB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B6694-9719-4FFD-AD13-8635BD35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第29页｜OCR 引擎与文档智能处理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EAE9E2-3843-4FDE-90DC-23A6D7F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0A9DF-AD43-4B9A-BFA7-8DEE5C15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OCR 引擎与文档智能处理：让复杂资料先变成可处理输入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OCR 算法平台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智能化文档处理工具采用 OCR 技术结合大模型，提供文档解析、信息抽取、表格提取、印章识别等能力。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多格式资料承接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支持从以下常见格式中提取结构化信息：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PDF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Word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Excel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支持非标准文档格式转换，为后续分析统一输入格式。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关键处理能力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版面解析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识别标题、正文、表格、页眉页脚、章节结构和页面布局。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表格提取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处理复杂表格、跨页表格、合并单元格和不规则表格。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印章识别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识别文件中的印章区域，为合同、函件、证明材料等场景提供辅助判断。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信息抽取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结合大模型抽取金额、日期、主体、项目、合同编号、发票信息等关键要素。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为后续多源资源接入、审计助手分析、任务执行和结果生成提供统一的文档输入基础。</a:t>
            </a:r>
          </a:p>
        </p:txBody>
      </p:sp>
    </p:spTree>
    <p:extLst>
      <p:ext uri="{BB962C8B-B14F-4D97-AF65-F5344CB8AC3E}">
        <p14:creationId xmlns:p14="http://schemas.microsoft.com/office/powerpoint/2010/main" val="27385447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4C37E-7B00-454A-97E9-41549166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24F1A-D755-443C-9FF0-C28147D5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AED45-1575-4C88-A512-7EE37B7D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685B0-F03C-452D-B275-C92114F7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9AE58-1695-4308-97CC-A0E480EC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045CB-5121-446E-8C30-753EB8E5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17B89-EC19-42E6-B381-BF49FB86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13F87-CA26-494B-B697-757E3647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9399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FF57E-929E-4684-9D05-EF68EECB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9727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57C75-2EF1-4E00-A534-01B562F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1277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45244-FA77-4741-AB4E-63E2BCD1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E2D4F-00DE-471D-B785-6CE2523C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第30页｜多源数据融合与统一资源接入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49D9C-5E05-4074-8F56-4B227AE3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C88A0-EEF7-404E-991F-46E5D03C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多源数据融合与统一资源接入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文档智能处理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支持 PDF、Word、Excel 等格式上传与结构化解析。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支持非标准文档格式转换。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支持文档资料中的实体、金额、日期、合同、项目等要素抽取。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多源资源接入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在同一项目工作空间中统一接入：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文档资料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结构化数据库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数据图谱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知识库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审计技能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多源融合分析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单界面集成文档线索、数据库记录和图谱关联关系。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支持文档 → 数据 → 图谱自动联动。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支持将抽取结果、查询结果和图谱路径组合为分析依据。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定性支持能力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同步匹配本地部署的审计案例知识库和法律法规知识库，为 AI 生成的疑点匹配法规依据。</a:t>
            </a:r>
          </a:p>
        </p:txBody>
      </p:sp>
    </p:spTree>
    <p:extLst>
      <p:ext uri="{BB962C8B-B14F-4D97-AF65-F5344CB8AC3E}">
        <p14:creationId xmlns:p14="http://schemas.microsoft.com/office/powerpoint/2010/main" val="161247610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F0D8E-14B1-4C94-889E-4A083DDD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866B6-7365-415C-92CA-D6397365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AF733-10E9-4C73-B816-FE1A9CD7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630D8-BC58-45E0-97E6-2EFA15BD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73B06-CFC9-4904-BA8E-C1A79E43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9140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A55E6-08FB-45F2-9FD6-4C34D4C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3819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2533-2289-459B-BB1F-70BBF816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369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A928E-3549-48D5-B1E1-6891D8BB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6919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07837-AD90-4DBC-8542-A0C46C6B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5205E-81D8-4793-8CF7-76FCA253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410F0-CF37-4F5F-8F84-1ED7FD7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6E5F2D-D4DC-48C6-9A8C-B198E2F4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4F8155-9076-4A5A-84C3-7E3B3390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第31页｜审计助手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3164C-E063-4E75-B414-1226D6C9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C2CF68-4FAF-465A-BA59-8138300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审计助手：基于多源资源与工具的协同分析入口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操作流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提出疑点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AI 制定执行计划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调用资料 / 数据库 / 图谱 / 知识库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执行抽取、检索、比对、计算和分析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返回结果、依据和中间过程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审计人员追问、复核和沉淀经验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核心能力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基于项目资源发起问询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可围绕已接入的资料、数据库、图谱和知识库发起针对性问询。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计划 - 执行 - 结果可见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系统可按“计划 - 执行 - 结果”返回分析过程，让审计人员看到 AI 如何组织任务。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工具连续调用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支持调用查询、检索、抽取、比对、计算、生成等工具完成连续动作。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动态追问与方向调整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支持随时补充资料、调整追问方向、限定分析范围。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依据链条可复核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分析结果可以关联原始资料、数据库记录、图谱路径、引用依据和执行过程。</a:t>
            </a:r>
          </a:p>
        </p:txBody>
      </p:sp>
    </p:spTree>
    <p:extLst>
      <p:ext uri="{BB962C8B-B14F-4D97-AF65-F5344CB8AC3E}">
        <p14:creationId xmlns:p14="http://schemas.microsoft.com/office/powerpoint/2010/main" val="27010246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AAF4F8-9944-49E6-879C-2C1122D7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A6C92-9738-46C7-B319-2D4F212F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7E9C7-7DE2-4202-915A-8BDF44E7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F1192-B1CF-49EC-B854-BB311852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B5874-5B34-4E24-B800-0182E10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75C66-5F33-453B-835D-F2CCCB1F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1DDBB-9333-47A1-BE4E-8E3B96CE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A992D-4FB2-4715-A962-D61C00E5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BDB52-FE70-4A03-810F-5A93D0FA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00699-6EDE-488E-9ABE-9D778963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9917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AA4C7-938A-4F4C-8B01-ECB3ABC7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3093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855A2-8612-42CF-AAB8-CCA8B5DE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D8910-8D6B-4ECB-BACA-0F03F1F5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第32页｜任务模块：单次任务与跑批任务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E3E895-BF4C-401A-8B6E-9C4E08C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0511BF-2E32-4A05-AFA3-E96F889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任务模块：围绕特定资源和特定目标产出分析结果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单次任务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围绕指定资料、指定项目或指定问题发起一次分析任务，由平台组织相关资源和技能完成分析。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适用场景：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单个项目资料审查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单份合同风险识别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跑批任务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面向大批量资料或项目创建批量任务，由平台按任务计划自动执行，并输出结构化结果、异常列表和汇总报告。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适用场景：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大批量合同审查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大批量招投标文件核查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多项目投资审计分析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大量资料的要素抽取和差异比对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任务过程管理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展示资料准备、模板挂载、分析执行和结果产出的关键节点状态。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支持实时查看解析进度、匹配状态、异常列表和任务结果。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支持任务中断、异常记录、任务重跑和结果明细查看。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支持将任务结果输出为结构化数据、报告初稿或后续复核清单。</a:t>
            </a:r>
          </a:p>
        </p:txBody>
      </p:sp>
    </p:spTree>
    <p:extLst>
      <p:ext uri="{BB962C8B-B14F-4D97-AF65-F5344CB8AC3E}">
        <p14:creationId xmlns:p14="http://schemas.microsoft.com/office/powerpoint/2010/main" val="93735694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481EE-B9D1-4F43-B6C3-ACEBED3F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B3795-D8DE-437F-8108-64663F73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D4CFE-E583-4254-8389-D6CDE8F0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6EEBC-4DAD-4484-BC63-8D657A60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302D1-5001-4146-89C9-3209369A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BCB21-2418-4792-812C-E25F041E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6C950-C155-4B5D-B1F1-8CC824FC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28118-FCE6-49FD-9895-5981A3F3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B9406-A531-49DA-8A46-C0BB22E6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2B389-8B83-43AD-A099-48DF21EB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39939-A07C-4499-881D-FF38A043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5DA91-E669-4CA2-A586-50F2CC7F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5E9B9-C2A6-4024-A28C-6EFA6D34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70974B-92B9-4996-8668-42D2E8A7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第33页｜技能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755433-375F-4F61-97C9-A2BB8698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F6871E-3D7E-4EA8-BDBB-42D85A2F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技能：把审计方法沉淀为可复用的执行能力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核心定位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技能是平台中可复用的分析方法和执行配置，用于把成熟的核查路径、判断规则和资源调用方式沉淀为可重复执行的能力单元。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一个审计技能通常包含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输入要求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需要哪些资料、数据表、图谱、参数和业务范围。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执行步骤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包括资料解析、要素抽取、数据查询、图谱穿透、规则判断、差异比对、结果生成等动作。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资源调用方式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调用哪些数据库、知识库、图谱、文档、OCR 能力、智能体或外部工具。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判断逻辑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将审计规则、风险特征、异常阈值和判断条件固化为可执行逻辑。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输出结构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定义输出字段、疑点说明、依据引用和复核建议。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证据要求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要求结果能够关联原始资料、数据库记录、图谱路径、法规依据和任务日志。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形成方式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基于成熟模板形成标准化技能。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在项目复盘后把有效核查路径整理为组织级技能资产。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使用价值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技能可支撑不同任务、不同资料类型和不同审计场景的快速复用，让平台从一次性分析走向持续沉淀和反复执行。</a:t>
            </a:r>
          </a:p>
        </p:txBody>
      </p:sp>
    </p:spTree>
    <p:extLst>
      <p:ext uri="{BB962C8B-B14F-4D97-AF65-F5344CB8AC3E}">
        <p14:creationId xmlns:p14="http://schemas.microsoft.com/office/powerpoint/2010/main" val="167928461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AF7353-8EB1-43D1-A225-65D248DE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DB563-EC92-4144-AE2F-8DF3A6E6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3B79-90FB-4D25-AF0C-E1CDB4B3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2FF2B-2B5A-4664-87E3-143C96C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0BFD7-38BD-45A9-A19A-9C6149FE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0AD19-4EEC-409B-8B34-9569CA3C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9269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38E42-00D1-4E5E-915D-25D4DD06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8323"/>
            <a:ext cx="5219700" cy="965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44AA2-225D-44F1-8903-E7DADF84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4FEDA-7F4A-42AC-B13A-D4479009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9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1DA5A-8CEA-4D80-892C-D76E9211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27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A6A6C-5C88-4936-875F-45E3C802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1FC7E1-330C-4E39-B6CC-70B5D82B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第34页｜应用中心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233B0-16B3-4C1C-8DEA-F1424CCC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09700E-FDFC-474C-AAE9-49C6F90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应用中心：把成熟任务封装为轻量化审计应用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功能定位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应用中心面向更偏业务的审计人员，将已有技能、任务模板和任务执行结果封装为可直接使用的轻量化应用。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核心思路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当某一次审计任务、某一类技能执行流程或某个成熟分析结果具备复用价值时，可以将其固化为独立应用。后续用户只需输入必要材料或参数，即可自动执行并获得结果。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典型使用方式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上传材料，自动完成资料解析、要素抽取、疑点识别和结果生成。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选择项目或数据范围，自动执行既定核查流程。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填写少量参数，调用一个或多个技能完成分析任务。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面向基层或业务审计人员提供标准化、低门槛入口。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与技能、任务的关系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技能 负责能力沉淀和复用。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任务 负责标准化执行和过程管理。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应用中心 负责把技能和任务流程封装成可直接使用的业务入口。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管理价值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让成熟审计方法能够跨项目复用。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让 AI、图谱和任务编排能力对业务人员透明。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让优秀项目经验沉淀为组织级应用。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让审计机关逐步形成可运营的智能审计应用库。</a:t>
            </a:r>
          </a:p>
        </p:txBody>
      </p:sp>
    </p:spTree>
    <p:extLst>
      <p:ext uri="{BB962C8B-B14F-4D97-AF65-F5344CB8AC3E}">
        <p14:creationId xmlns:p14="http://schemas.microsoft.com/office/powerpoint/2010/main" val="137021133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BF2B77-3BA2-4CFD-86A3-684B311C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45FDC-BA3E-4179-A137-8E9DF501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4F3FB-1FDD-43C2-A99B-1A2C8629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710AA-429C-4E21-912F-F3B33AA2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FB465-901F-468A-85CF-1D19EE3F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543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913F2-5DFB-4C0B-B601-AA04A783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7D822-FF6A-41FB-9869-7FAD630B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5EA54-7CF3-4ADC-84F1-20764E1A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858000" cy="9625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FDA08-18C3-4D79-9C14-62558932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947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56FC1-56BC-40A5-A148-6CED9F99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5496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865C6-FEC4-4637-8C8C-96133C42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7046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E916E-083B-4499-BAF8-C2E8DB0F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1CA8F-B7D9-422D-B815-6E43DFD2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第35页｜审计案例：投资审计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6FC33-A42F-4965-AB64-6333EA4A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165E6-5952-4774-B429-A7FA8A37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审计案例：投资审计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投资审计涉及立项、决策、合同、付款、投后管理、收益测算等大量资料，人工审阅成本高。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审计人员需要在大量投资项目资料中反复查找关键信息。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需要核对决策程序、投资依据、合同条款、收益测算和投后管理。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资料类型多、口径复杂、人工比对耗时。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项目初筛阶段难以快速形成统一判断。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基于沉淀的投资审计技能，大模型可围绕指定项目自动执行：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读取项目资料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抽取关键要素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识别立项与决策过程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匹配审计规则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比对合同、付款和收益测算信息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提示疑点线索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生成初步分析结果和复核清单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基于沉淀的技能，约 3 分钟跑出分析结果，帮助审计人员形成项目初步判断。</a:t>
            </a:r>
          </a:p>
        </p:txBody>
      </p:sp>
    </p:spTree>
    <p:extLst>
      <p:ext uri="{BB962C8B-B14F-4D97-AF65-F5344CB8AC3E}">
        <p14:creationId xmlns:p14="http://schemas.microsoft.com/office/powerpoint/2010/main" val="45454857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D5A0E-15CF-4AB0-B568-601BD9A0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20370-1003-48CE-930B-7E738317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093AA-C1FA-4197-BDB5-687CF3DE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B028A-500E-48C0-BB6D-94FFF258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408EE-7379-4CBB-8020-E6F6313C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543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5D81A-B017-424E-8E64-A0267B64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2743200" cy="628650"/>
          </a:xfrm>
          <a:prstGeom xmlns:a="http://schemas.openxmlformats.org/drawingml/2006/main" prst="rect">
            <a:avLst/>
          </a:prstGeom>
          <a:ln xmlns:a="http://schemas.openxmlformats.org/drawingml/2006/main" w="9525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B9DFE-7E4C-4DF0-9F07-DE394347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5559A-06AC-48EE-8844-16B22D45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858000" cy="89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4B144-560C-4271-A06B-96DECBD1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27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CAD64-E196-40FF-AC62-D61ADC06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4249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4227F-F3A6-4DA1-8F7F-D481F1E1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5799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6CAA7F-F341-4B69-B4AC-19BC976C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2E677-6208-4314-A751-BFCCE720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第36页｜案例：大批量材料自动化批量审计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EDAF2-CC2F-4371-BA3E-28F37F51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EB0C7-2EE6-4841-BB9A-CF220126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案例：大批量材料自动化批量审计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典型场景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近百份项目资料，如招标文件、合同文件、项目说明、评审材料、付款资料等，传统方式依赖人工翻阅进行查询、比对和判断。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传统问题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材料数量大，人工阅读耗时长。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同类信息分散在不同文件中，人工比对容易遗漏。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不同项目之间标准不一，审计结果难以统一。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报告整理依赖人工，难以快速形成批量成果。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技术路径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通过“对话 + 审计技能 + 批量任务”为大模型提供审计思路，由模型利用查询、解析、抽取、分析和比对工具完成大批量审计任务。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执行链路：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资料上传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OCR / 文档解析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要素抽取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技能挂载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批量任务执行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疑点识别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结果复核  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→ 报告生成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应用成效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耗时 3 小时，自动审计上百份资料，自动产出数十份审计分析报告。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平台将审计人员从大量重复阅读、抽取和整理工作中释放出来。</a:t>
            </a:r>
          </a:p>
        </p:txBody>
      </p:sp>
    </p:spTree>
    <p:extLst>
      <p:ext uri="{BB962C8B-B14F-4D97-AF65-F5344CB8AC3E}">
        <p14:creationId xmlns:p14="http://schemas.microsoft.com/office/powerpoint/2010/main" val="141574329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97DDB6-4919-4454-AB40-F6A612A6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6F910-B4C7-4979-8184-70093B17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419FB-98E2-4872-ACC9-3F9C4069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685DD-B0C1-425F-A1AA-9BA5F3BD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81D2D-F012-4F14-82AB-560B052E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2064F-0BFA-4368-9256-A2A496C9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A5ABE-7C37-4A44-8FF7-D1F9A77B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C86B2-B3EE-4EA6-AF7B-EE1D157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EEAD4-10F9-4896-9499-EE61708D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BE437-0523-46F0-A388-32F86A19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3E184-10B9-4939-B6D7-EC64131C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43059-F132-438E-8C18-34A1E613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7E6F3-318B-476D-A214-FAF1B499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第37页｜重塑人机协同关系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5E59E-6613-4124-9C19-1B99C38A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C0314-73CB-47DC-A23F-D02824C6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重塑人机协同关系：机器负责速度，人类负责深度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效率与覆盖双重跃升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通过 AI 对海量文本、合同、制度和跨系统数据进行快速读取、抽取、比对和关联分析，可压缩资料处理时间，提升审计覆盖范围。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机器处理“存量”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将高频、重复、规则明确、工作量大的任务交由平台辅助完成：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表格与文本抽取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跨表核对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差异识别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异常筛查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批量报告初稿生成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人类定义“变量”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审计人员聚焦需要专业判断和责任把关的工作：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审计目标定义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重点问题选择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复杂疑点研判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证据充分性判断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问题定性</a:t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- 管理决策支持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平台沉淀“能力”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将成熟的审计规则、分析路径、核查逻辑、处置经验和典型案例持续沉淀，形成可复用、可推广、可迭代的数字审计能力。</a:t>
            </a:r>
          </a:p>
        </p:txBody>
      </p:sp>
    </p:spTree>
    <p:extLst>
      <p:ext uri="{BB962C8B-B14F-4D97-AF65-F5344CB8AC3E}">
        <p14:creationId xmlns:p14="http://schemas.microsoft.com/office/powerpoint/2010/main" val="65220577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C3269C-5CEF-4728-9743-EF3B35BE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15AC3-A151-4946-B327-F6B2C939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A0007-84DF-4E63-8A70-16A770D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E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7923F-3583-4689-BE18-82BF9AD9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C056E-B60E-4FE9-BF11-B3EED92A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8F93B-1821-45CD-96DE-71D81890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AA654-F72C-436A-9E42-C50C06C3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AF946-57BB-43C6-847E-AC49E1EA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93D4F-EB93-4990-AD55-7D8C2CD8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E0F97-650A-45E2-9818-C55EAFFF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31CA53-EC32-4F0D-BF8F-61DCB62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83CCAF-3A59-4F6E-A58E-74BA922B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219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8E48F-5CF3-4402-BA4C-7050CE47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112014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A74D6-ADF6-457F-AB86-9E4D6E1D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第38页｜AI 原生审计产品体系的核心价值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AA642A-63AD-465E-BE27-8CDAD40B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5D8"/>
          </a:solidFill>
          <a:ln xmlns:a="http://schemas.openxmlformats.org/drawingml/2006/main" w="0">
            <a:solidFill>
              <a:srgbClr val="B6C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1ECCFB-3594-43AE-95FF-E6A0C098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744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原生审计产品体系的核心价值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四个平台形成一体化闭环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智能体平台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提供 AI 能力底座，统一承接知识、数据、工具、模型和权限资源，支撑智能问数、知识问答和专有智能体能力生产。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数据治理平台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解决复杂数据可用性问题，让结构化数据更易理解，让非结构化资料转化为可查询、可分析、可入图的数据资产。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数据图谱平台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将治理结果组织为可穿透、可追溯、可分析、可推理的关系网络，支撑关联穿透、路径追溯、AI 关系推理和批量线索发现。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综合分析平台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统一承接多源资源、审计助手、任务、技能和应用，形成面向审计作业的聚合工作入口和成果沉淀空间。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体系壁垒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复杂数据治理壁垒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覆盖结构化库表、非结构化资料、历史变更文本、长文档、扫描件和复杂表格。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AI + 图谱融合壁垒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不是简单图谱展示，而是本体建模、多源入图、路径分析、图上算法、关系推理和批量任务一体化。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智能体工程化壁垒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统一纳管模型、知识、数据库、工具和权限，支撑任务型智能体和专有智能体能力沉淀。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审计作业闭环壁垒  </a:t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从数据理解、关系发现、任务执行到证据复核和能力沉淀，形成可进入真实审计作业的闭环能力。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一句话总结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这套体系形成了从数据理解、关系发现、任务执行到能力沉淀的闭环。真正的壁垒不在单个功能，而在于围绕审计场景持续打磨形成的 AI 原生能力链路。</a:t>
            </a:r>
          </a:p>
        </p:txBody>
      </p:sp>
    </p:spTree>
    <p:extLst>
      <p:ext uri="{BB962C8B-B14F-4D97-AF65-F5344CB8AC3E}">
        <p14:creationId xmlns:p14="http://schemas.microsoft.com/office/powerpoint/2010/main" val="1861889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2026-06-07T07:01:45.2250000Z</dcterms:created>
  <dcterms:modified xsi:type="dcterms:W3CDTF">2026-06-07T07:01:45.2250000Z</dcterms:modified>
</coreProperties>
</file>