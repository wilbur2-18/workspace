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d5c6f8220b4e4b" /><Relationship Type="http://schemas.openxmlformats.org/officeDocument/2006/relationships/extended-properties" Target="/docProps/app.xml" Id="R13321ba79f084fee" /><Relationship Type="http://schemas.openxmlformats.org/officeDocument/2006/relationships/officeDocument" Target="/ppt/presentation.xml" Id="R77836fda0d264ddd" /></Relationships>
</file>

<file path=ppt/presentation.xml><?xml version="1.0" encoding="utf-8"?>
<p:presentation xmlns:p="http://schemas.openxmlformats.org/presentationml/2006/main">
  <p:sldMasterIdLst>
    <p:sldMasterId xmlns:r="http://schemas.openxmlformats.org/officeDocument/2006/relationships" id="2147483648" r:id="R9feb9aa407d845b8"/>
  </p:sldMasterIdLst>
  <p:notesMasterIdLst>
    <p:notesMasterId xmlns:r="http://schemas.openxmlformats.org/officeDocument/2006/relationships" r:id="R2d0cb5c2a63645da"/>
  </p:notesMasterIdLst>
  <p:sldIdLst>
    <p:sldId xmlns:r="http://schemas.openxmlformats.org/officeDocument/2006/relationships" id="256" r:id="Rec880e5da5ec41fe"/>
    <p:sldId xmlns:r="http://schemas.openxmlformats.org/officeDocument/2006/relationships" id="257" r:id="Rb7de9cb6bf7a46ff"/>
    <p:sldId xmlns:r="http://schemas.openxmlformats.org/officeDocument/2006/relationships" id="258" r:id="Rfa6973894f774b61"/>
    <p:sldId xmlns:r="http://schemas.openxmlformats.org/officeDocument/2006/relationships" id="259" r:id="R6c640a0e9bf14539"/>
    <p:sldId xmlns:r="http://schemas.openxmlformats.org/officeDocument/2006/relationships" id="260" r:id="Rc702447b930c4478"/>
    <p:sldId xmlns:r="http://schemas.openxmlformats.org/officeDocument/2006/relationships" id="261" r:id="R47e030bb9f944b59"/>
    <p:sldId xmlns:r="http://schemas.openxmlformats.org/officeDocument/2006/relationships" id="262" r:id="R438eef06d9594909"/>
    <p:sldId xmlns:r="http://schemas.openxmlformats.org/officeDocument/2006/relationships" id="263" r:id="Rb240729fcf0f440d"/>
    <p:sldId xmlns:r="http://schemas.openxmlformats.org/officeDocument/2006/relationships" id="264" r:id="R0639b588d52c4605"/>
    <p:sldId xmlns:r="http://schemas.openxmlformats.org/officeDocument/2006/relationships" id="265" r:id="R8eb266071a834727"/>
    <p:sldId xmlns:r="http://schemas.openxmlformats.org/officeDocument/2006/relationships" id="266" r:id="R4c9bd57c2d2446e3"/>
    <p:sldId xmlns:r="http://schemas.openxmlformats.org/officeDocument/2006/relationships" id="267" r:id="Rd00cca12c2f94c4d"/>
    <p:sldId xmlns:r="http://schemas.openxmlformats.org/officeDocument/2006/relationships" id="268" r:id="R6194941ab42c4c02"/>
    <p:sldId xmlns:r="http://schemas.openxmlformats.org/officeDocument/2006/relationships" id="269" r:id="R569f4f65d3224924"/>
    <p:sldId xmlns:r="http://schemas.openxmlformats.org/officeDocument/2006/relationships" id="270" r:id="R80a887b39ea14224"/>
    <p:sldId xmlns:r="http://schemas.openxmlformats.org/officeDocument/2006/relationships" id="271" r:id="R3e1c2c56822e4845"/>
    <p:sldId xmlns:r="http://schemas.openxmlformats.org/officeDocument/2006/relationships" id="272" r:id="R4357571837b24fff"/>
    <p:sldId xmlns:r="http://schemas.openxmlformats.org/officeDocument/2006/relationships" id="273" r:id="Rac18f0df649c44de"/>
    <p:sldId xmlns:r="http://schemas.openxmlformats.org/officeDocument/2006/relationships" id="274" r:id="Rfa960ba8735545bb"/>
    <p:sldId xmlns:r="http://schemas.openxmlformats.org/officeDocument/2006/relationships" id="275" r:id="Rc43fbb90cbb84669"/>
    <p:sldId xmlns:r="http://schemas.openxmlformats.org/officeDocument/2006/relationships" id="276" r:id="R524045da769e4d12"/>
    <p:sldId xmlns:r="http://schemas.openxmlformats.org/officeDocument/2006/relationships" id="277" r:id="Ree916fadfb064ae2"/>
    <p:sldId xmlns:r="http://schemas.openxmlformats.org/officeDocument/2006/relationships" id="278" r:id="Rb1a547aa7c424d65"/>
    <p:sldId xmlns:r="http://schemas.openxmlformats.org/officeDocument/2006/relationships" id="279" r:id="Rf1e36b05c9f149c6"/>
    <p:sldId xmlns:r="http://schemas.openxmlformats.org/officeDocument/2006/relationships" id="280" r:id="R1433682c28184658"/>
    <p:sldId xmlns:r="http://schemas.openxmlformats.org/officeDocument/2006/relationships" id="281" r:id="R453c2a9b533b4292"/>
    <p:sldId xmlns:r="http://schemas.openxmlformats.org/officeDocument/2006/relationships" id="282" r:id="R4507d7a91a094b4c"/>
    <p:sldId xmlns:r="http://schemas.openxmlformats.org/officeDocument/2006/relationships" id="283" r:id="Rf951bbf5d53648c1"/>
    <p:sldId xmlns:r="http://schemas.openxmlformats.org/officeDocument/2006/relationships" id="284" r:id="R58f1705057674421"/>
    <p:sldId xmlns:r="http://schemas.openxmlformats.org/officeDocument/2006/relationships" id="285" r:id="R12c189cece434e1c"/>
    <p:sldId xmlns:r="http://schemas.openxmlformats.org/officeDocument/2006/relationships" id="286" r:id="R33b547cbd99e4249"/>
    <p:sldId xmlns:r="http://schemas.openxmlformats.org/officeDocument/2006/relationships" id="287" r:id="R2ffcd9961ffb46a2"/>
    <p:sldId xmlns:r="http://schemas.openxmlformats.org/officeDocument/2006/relationships" id="288" r:id="R300e0e67ff8546ea"/>
    <p:sldId xmlns:r="http://schemas.openxmlformats.org/officeDocument/2006/relationships" id="289" r:id="R9f68892dadac42d5"/>
    <p:sldId xmlns:r="http://schemas.openxmlformats.org/officeDocument/2006/relationships" id="290" r:id="Rcd40f67e3df048ba"/>
    <p:sldId xmlns:r="http://schemas.openxmlformats.org/officeDocument/2006/relationships" id="291" r:id="Rc032e98266794cc2"/>
    <p:sldId xmlns:r="http://schemas.openxmlformats.org/officeDocument/2006/relationships" id="292" r:id="Rca7dbdcd4d874328"/>
    <p:sldId xmlns:r="http://schemas.openxmlformats.org/officeDocument/2006/relationships" id="293" r:id="Rb45bbf0921414259"/>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69232f497704ed3" /><Relationship Type="http://schemas.openxmlformats.org/officeDocument/2006/relationships/slideMaster" Target="/ppt/slideMasters/slideMaster1.xml" Id="R9feb9aa407d845b8" /><Relationship Type="http://schemas.openxmlformats.org/officeDocument/2006/relationships/notesMaster" Target="/ppt/notesMasters/notesMaster1.xml" Id="R2d0cb5c2a63645da" /><Relationship Type="http://schemas.openxmlformats.org/officeDocument/2006/relationships/presProps" Target="/ppt/presProps.xml" Id="Ra36309517141448f" /><Relationship Type="http://schemas.openxmlformats.org/officeDocument/2006/relationships/viewProps" Target="/ppt/viewProps.xml" Id="R413c124ab5db4a13" /><Relationship Type="http://schemas.openxmlformats.org/officeDocument/2006/relationships/tableStyles" Target="/ppt/tableStyles.xml" Id="R47b804ce74494fb1" /><Relationship Type="http://schemas.openxmlformats.org/officeDocument/2006/relationships/slide" Target="/ppt/slides/slide1.xml" Id="Rec880e5da5ec41fe" /><Relationship Type="http://schemas.openxmlformats.org/officeDocument/2006/relationships/slide" Target="/ppt/slides/slide2.xml" Id="Rb7de9cb6bf7a46ff" /><Relationship Type="http://schemas.openxmlformats.org/officeDocument/2006/relationships/slide" Target="/ppt/slides/slide3.xml" Id="Rfa6973894f774b61" /><Relationship Type="http://schemas.openxmlformats.org/officeDocument/2006/relationships/slide" Target="/ppt/slides/slide4.xml" Id="R6c640a0e9bf14539" /><Relationship Type="http://schemas.openxmlformats.org/officeDocument/2006/relationships/slide" Target="/ppt/slides/slide5.xml" Id="Rc702447b930c4478" /><Relationship Type="http://schemas.openxmlformats.org/officeDocument/2006/relationships/slide" Target="/ppt/slides/slide6.xml" Id="R47e030bb9f944b59" /><Relationship Type="http://schemas.openxmlformats.org/officeDocument/2006/relationships/slide" Target="/ppt/slides/slide7.xml" Id="R438eef06d9594909" /><Relationship Type="http://schemas.openxmlformats.org/officeDocument/2006/relationships/slide" Target="/ppt/slides/slide8.xml" Id="Rb240729fcf0f440d" /><Relationship Type="http://schemas.openxmlformats.org/officeDocument/2006/relationships/slide" Target="/ppt/slides/slide9.xml" Id="R0639b588d52c4605" /><Relationship Type="http://schemas.openxmlformats.org/officeDocument/2006/relationships/slide" Target="/ppt/slides/slide10.xml" Id="R8eb266071a834727" /><Relationship Type="http://schemas.openxmlformats.org/officeDocument/2006/relationships/slide" Target="/ppt/slides/slide11.xml" Id="R4c9bd57c2d2446e3" /><Relationship Type="http://schemas.openxmlformats.org/officeDocument/2006/relationships/slide" Target="/ppt/slides/slide12.xml" Id="Rd00cca12c2f94c4d" /><Relationship Type="http://schemas.openxmlformats.org/officeDocument/2006/relationships/slide" Target="/ppt/slides/slide13.xml" Id="R6194941ab42c4c02" /><Relationship Type="http://schemas.openxmlformats.org/officeDocument/2006/relationships/slide" Target="/ppt/slides/slide14.xml" Id="R569f4f65d3224924" /><Relationship Type="http://schemas.openxmlformats.org/officeDocument/2006/relationships/slide" Target="/ppt/slides/slide15.xml" Id="R80a887b39ea14224" /><Relationship Type="http://schemas.openxmlformats.org/officeDocument/2006/relationships/slide" Target="/ppt/slides/slide16.xml" Id="R3e1c2c56822e4845" /><Relationship Type="http://schemas.openxmlformats.org/officeDocument/2006/relationships/slide" Target="/ppt/slides/slide17.xml" Id="R4357571837b24fff" /><Relationship Type="http://schemas.openxmlformats.org/officeDocument/2006/relationships/slide" Target="/ppt/slides/slide18.xml" Id="Rac18f0df649c44de" /><Relationship Type="http://schemas.openxmlformats.org/officeDocument/2006/relationships/slide" Target="/ppt/slides/slide19.xml" Id="Rfa960ba8735545bb" /><Relationship Type="http://schemas.openxmlformats.org/officeDocument/2006/relationships/slide" Target="/ppt/slides/slide20.xml" Id="Rc43fbb90cbb84669" /><Relationship Type="http://schemas.openxmlformats.org/officeDocument/2006/relationships/slide" Target="/ppt/slides/slide21.xml" Id="R524045da769e4d12" /><Relationship Type="http://schemas.openxmlformats.org/officeDocument/2006/relationships/slide" Target="/ppt/slides/slide22.xml" Id="Ree916fadfb064ae2" /><Relationship Type="http://schemas.openxmlformats.org/officeDocument/2006/relationships/slide" Target="/ppt/slides/slide23.xml" Id="Rb1a547aa7c424d65" /><Relationship Type="http://schemas.openxmlformats.org/officeDocument/2006/relationships/slide" Target="/ppt/slides/slide24.xml" Id="Rf1e36b05c9f149c6" /><Relationship Type="http://schemas.openxmlformats.org/officeDocument/2006/relationships/slide" Target="/ppt/slides/slide25.xml" Id="R1433682c28184658" /><Relationship Type="http://schemas.openxmlformats.org/officeDocument/2006/relationships/slide" Target="/ppt/slides/slide26.xml" Id="R453c2a9b533b4292" /><Relationship Type="http://schemas.openxmlformats.org/officeDocument/2006/relationships/slide" Target="/ppt/slides/slide27.xml" Id="R4507d7a91a094b4c" /><Relationship Type="http://schemas.openxmlformats.org/officeDocument/2006/relationships/slide" Target="/ppt/slides/slide28.xml" Id="Rf951bbf5d53648c1" /><Relationship Type="http://schemas.openxmlformats.org/officeDocument/2006/relationships/slide" Target="/ppt/slides/slide29.xml" Id="R58f1705057674421" /><Relationship Type="http://schemas.openxmlformats.org/officeDocument/2006/relationships/slide" Target="/ppt/slides/slide30.xml" Id="R12c189cece434e1c" /><Relationship Type="http://schemas.openxmlformats.org/officeDocument/2006/relationships/slide" Target="/ppt/slides/slide31.xml" Id="R33b547cbd99e4249" /><Relationship Type="http://schemas.openxmlformats.org/officeDocument/2006/relationships/slide" Target="/ppt/slides/slide32.xml" Id="R2ffcd9961ffb46a2" /><Relationship Type="http://schemas.openxmlformats.org/officeDocument/2006/relationships/slide" Target="/ppt/slides/slide33.xml" Id="R300e0e67ff8546ea" /><Relationship Type="http://schemas.openxmlformats.org/officeDocument/2006/relationships/slide" Target="/ppt/slides/slide34.xml" Id="R9f68892dadac42d5" /><Relationship Type="http://schemas.openxmlformats.org/officeDocument/2006/relationships/slide" Target="/ppt/slides/slide35.xml" Id="Rcd40f67e3df048ba" /><Relationship Type="http://schemas.openxmlformats.org/officeDocument/2006/relationships/slide" Target="/ppt/slides/slide36.xml" Id="Rc032e98266794cc2" /><Relationship Type="http://schemas.openxmlformats.org/officeDocument/2006/relationships/slide" Target="/ppt/slides/slide37.xml" Id="Rca7dbdcd4d874328" /><Relationship Type="http://schemas.openxmlformats.org/officeDocument/2006/relationships/slide" Target="/ppt/slides/slide38.xml" Id="Rb45bbf09214142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3b582e8b544b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7ea3d7b98d48a3" /><Relationship Type="http://schemas.openxmlformats.org/officeDocument/2006/relationships/notesMaster" Target="/ppt/notesMasters/notesMaster1.xml" Id="R8d16777b307c48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b0e38564724eba" /><Relationship Type="http://schemas.openxmlformats.org/officeDocument/2006/relationships/notesMaster" Target="/ppt/notesMasters/notesMaster1.xml" Id="Re2527c1e34cf41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3f762e74934e75" /><Relationship Type="http://schemas.openxmlformats.org/officeDocument/2006/relationships/notesMaster" Target="/ppt/notesMasters/notesMaster1.xml" Id="Ra4be123a6acb4e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9e33e38f33b47d0" /><Relationship Type="http://schemas.openxmlformats.org/officeDocument/2006/relationships/notesMaster" Target="/ppt/notesMasters/notesMaster1.xml" Id="Rdeb70a095c324e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accbdd368e4b7e" /><Relationship Type="http://schemas.openxmlformats.org/officeDocument/2006/relationships/notesMaster" Target="/ppt/notesMasters/notesMaster1.xml" Id="R231d1a6c6b2f48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10b355a74d43e6" /><Relationship Type="http://schemas.openxmlformats.org/officeDocument/2006/relationships/notesMaster" Target="/ppt/notesMasters/notesMaster1.xml" Id="R71ff1bd3a88d48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808449542d49cb" /><Relationship Type="http://schemas.openxmlformats.org/officeDocument/2006/relationships/notesMaster" Target="/ppt/notesMasters/notesMaster1.xml" Id="R7304e677e6174d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267cbea37a16424b" /><Relationship Type="http://schemas.openxmlformats.org/officeDocument/2006/relationships/notesMaster" Target="/ppt/notesMasters/notesMaster1.xml" Id="Rdbcbee20bd24405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e1587e59b447ed" /><Relationship Type="http://schemas.openxmlformats.org/officeDocument/2006/relationships/notesMaster" Target="/ppt/notesMasters/notesMaster1.xml" Id="R55265f5101ff46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431d7c9677f4ad5" /><Relationship Type="http://schemas.openxmlformats.org/officeDocument/2006/relationships/notesMaster" Target="/ppt/notesMasters/notesMaster1.xml" Id="Reda54bdbb03f4b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b7c122c4344b8b" /><Relationship Type="http://schemas.openxmlformats.org/officeDocument/2006/relationships/notesMaster" Target="/ppt/notesMasters/notesMaster1.xml" Id="Rd1afba3b9b0647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65f094b1614335" /><Relationship Type="http://schemas.openxmlformats.org/officeDocument/2006/relationships/notesMaster" Target="/ppt/notesMasters/notesMaster1.xml" Id="Ra0dac72e4f8441e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8e971e53044fe4" /><Relationship Type="http://schemas.openxmlformats.org/officeDocument/2006/relationships/notesMaster" Target="/ppt/notesMasters/notesMaster1.xml" Id="R04f00a34ead84e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c4642bc9844be4" /><Relationship Type="http://schemas.openxmlformats.org/officeDocument/2006/relationships/notesMaster" Target="/ppt/notesMasters/notesMaster1.xml" Id="R1519031037f744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9b58444b814993" /><Relationship Type="http://schemas.openxmlformats.org/officeDocument/2006/relationships/notesMaster" Target="/ppt/notesMasters/notesMaster1.xml" Id="R159249a265c546e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90c3342c094e4d" /><Relationship Type="http://schemas.openxmlformats.org/officeDocument/2006/relationships/notesMaster" Target="/ppt/notesMasters/notesMaster1.xml" Id="R05c69f2ad06e449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61f2fec2ae745e5" /><Relationship Type="http://schemas.openxmlformats.org/officeDocument/2006/relationships/notesMaster" Target="/ppt/notesMasters/notesMaster1.xml" Id="R9620cee99ce34ac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5bbaeb8a6354ef7" /><Relationship Type="http://schemas.openxmlformats.org/officeDocument/2006/relationships/notesMaster" Target="/ppt/notesMasters/notesMaster1.xml" Id="Rba0fae592ac2496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c7a72a6a6384d0a" /><Relationship Type="http://schemas.openxmlformats.org/officeDocument/2006/relationships/notesMaster" Target="/ppt/notesMasters/notesMaster1.xml" Id="R5a21da988b75472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fb5e4b50d914c4a" /><Relationship Type="http://schemas.openxmlformats.org/officeDocument/2006/relationships/notesMaster" Target="/ppt/notesMasters/notesMaster1.xml" Id="Rc547f67e71b0453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b641bcaba274594" /><Relationship Type="http://schemas.openxmlformats.org/officeDocument/2006/relationships/notesMaster" Target="/ppt/notesMasters/notesMaster1.xml" Id="R9e8a2a9b21794b6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df11406ca1541ab" /><Relationship Type="http://schemas.openxmlformats.org/officeDocument/2006/relationships/notesMaster" Target="/ppt/notesMasters/notesMaster1.xml" Id="Rbc3aee8ebefa454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95cde3bfe26497a" /><Relationship Type="http://schemas.openxmlformats.org/officeDocument/2006/relationships/notesMaster" Target="/ppt/notesMasters/notesMaster1.xml" Id="Rd2ec8b866d554e8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1277bae916b4c0f" /><Relationship Type="http://schemas.openxmlformats.org/officeDocument/2006/relationships/notesMaster" Target="/ppt/notesMasters/notesMaster1.xml" Id="Rd01b3d4818704cf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db58ae664074600" /><Relationship Type="http://schemas.openxmlformats.org/officeDocument/2006/relationships/notesMaster" Target="/ppt/notesMasters/notesMaster1.xml" Id="R6e459213a87a49f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b8178b16dc0417a" /><Relationship Type="http://schemas.openxmlformats.org/officeDocument/2006/relationships/notesMaster" Target="/ppt/notesMasters/notesMaster1.xml" Id="R612d68fb67c2411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e32d22f642d42a4" /><Relationship Type="http://schemas.openxmlformats.org/officeDocument/2006/relationships/notesMaster" Target="/ppt/notesMasters/notesMaster1.xml" Id="R6055f2bcc6664eb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d89e6da276a4bcf" /><Relationship Type="http://schemas.openxmlformats.org/officeDocument/2006/relationships/notesMaster" Target="/ppt/notesMasters/notesMaster1.xml" Id="R1f0566335217401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b8a5e31bb1e4599" /><Relationship Type="http://schemas.openxmlformats.org/officeDocument/2006/relationships/notesMaster" Target="/ppt/notesMasters/notesMaster1.xml" Id="R7bdc5301ff8b40e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18ee176d78a49b0" /><Relationship Type="http://schemas.openxmlformats.org/officeDocument/2006/relationships/notesMaster" Target="/ppt/notesMasters/notesMaster1.xml" Id="Rce19c64fe7e541d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4f1877085bd40c4" /><Relationship Type="http://schemas.openxmlformats.org/officeDocument/2006/relationships/notesMaster" Target="/ppt/notesMasters/notesMaster1.xml" Id="R82b5e073c3d0447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5274fa67e41475f" /><Relationship Type="http://schemas.openxmlformats.org/officeDocument/2006/relationships/notesMaster" Target="/ppt/notesMasters/notesMaster1.xml" Id="Rdca32550242e444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08064fa61da4524" /><Relationship Type="http://schemas.openxmlformats.org/officeDocument/2006/relationships/notesMaster" Target="/ppt/notesMasters/notesMaster1.xml" Id="R3dfee0a8232f4e8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3114a3ae8e34c17" /><Relationship Type="http://schemas.openxmlformats.org/officeDocument/2006/relationships/notesMaster" Target="/ppt/notesMasters/notesMaster1.xml" Id="R4cdb0558f28744b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46825dd44be425c" /><Relationship Type="http://schemas.openxmlformats.org/officeDocument/2006/relationships/notesMaster" Target="/ppt/notesMasters/notesMaster1.xml" Id="R331a1882faba4a2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151043cf1e04298" /><Relationship Type="http://schemas.openxmlformats.org/officeDocument/2006/relationships/notesMaster" Target="/ppt/notesMasters/notesMaster1.xml" Id="R150237291f84462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1fd0a4598674621" /><Relationship Type="http://schemas.openxmlformats.org/officeDocument/2006/relationships/notesMaster" Target="/ppt/notesMasters/notesMaster1.xml" Id="Rafe639127f3549e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8e9201d0f5e4add" /><Relationship Type="http://schemas.openxmlformats.org/officeDocument/2006/relationships/notesMaster" Target="/ppt/notesMasters/notesMaster1.xml" Id="Ra5547b5bac964b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ec42701d0347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31926f0dfe4ba7" /><Relationship Type="http://schemas.openxmlformats.org/officeDocument/2006/relationships/slideLayout" Target="/ppt/slideLayouts/slideLayout1.xml" Id="Rc158ab8590f14f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158ab8590f14f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d9c5bf3aaa4d79" /><Relationship Type="http://schemas.openxmlformats.org/officeDocument/2006/relationships/notesSlide" Target="/ppt/notesSlides/notesSlide1.xml" Id="R8f5d08fa9d554f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b2595c43f841ec" /><Relationship Type="http://schemas.openxmlformats.org/officeDocument/2006/relationships/notesSlide" Target="/ppt/notesSlides/notesSlide2.xml" Id="R53073b5c644142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096c8212174145" /><Relationship Type="http://schemas.openxmlformats.org/officeDocument/2006/relationships/notesSlide" Target="/ppt/notesSlides/notesSlide3.xml" Id="R17f26424a8ee4a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4c2798c9bb244fc" /><Relationship Type="http://schemas.openxmlformats.org/officeDocument/2006/relationships/notesSlide" Target="/ppt/notesSlides/notesSlide4.xml" Id="R4a1c64ec31d04b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78b2d7e9864b0d" /><Relationship Type="http://schemas.openxmlformats.org/officeDocument/2006/relationships/notesSlide" Target="/ppt/notesSlides/notesSlide5.xml" Id="R86e8cbf24a4841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fcbc423e87449f" /><Relationship Type="http://schemas.openxmlformats.org/officeDocument/2006/relationships/notesSlide" Target="/ppt/notesSlides/notesSlide6.xml" Id="Rc289121ae1ce41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cec5734e334ac9" /><Relationship Type="http://schemas.openxmlformats.org/officeDocument/2006/relationships/notesSlide" Target="/ppt/notesSlides/notesSlide7.xml" Id="R6606bc99380944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70f3e810c8445b" /><Relationship Type="http://schemas.openxmlformats.org/officeDocument/2006/relationships/notesSlide" Target="/ppt/notesSlides/notesSlide8.xml" Id="Rfe81cd517d9c49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2b5b3c7cb6f4cb8" /><Relationship Type="http://schemas.openxmlformats.org/officeDocument/2006/relationships/notesSlide" Target="/ppt/notesSlides/notesSlide9.xml" Id="R287458f562bd43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de94153eb34359" /><Relationship Type="http://schemas.openxmlformats.org/officeDocument/2006/relationships/notesSlide" Target="/ppt/notesSlides/notesSlide10.xml" Id="Rd119536199884b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e4b9b05ccda44c6" /><Relationship Type="http://schemas.openxmlformats.org/officeDocument/2006/relationships/notesSlide" Target="/ppt/notesSlides/notesSlide11.xml" Id="R3cd3d871fdae45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2f0407243eb49dd" /><Relationship Type="http://schemas.openxmlformats.org/officeDocument/2006/relationships/notesSlide" Target="/ppt/notesSlides/notesSlide12.xml" Id="R8514987c21f94f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dc7b1a04dff4e20" /><Relationship Type="http://schemas.openxmlformats.org/officeDocument/2006/relationships/notesSlide" Target="/ppt/notesSlides/notesSlide13.xml" Id="Rf3e6a6f0a00a49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c07a588863e4f03" /><Relationship Type="http://schemas.openxmlformats.org/officeDocument/2006/relationships/notesSlide" Target="/ppt/notesSlides/notesSlide14.xml" Id="R9e6ea0753a5b42a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03aab41509244be" /><Relationship Type="http://schemas.openxmlformats.org/officeDocument/2006/relationships/notesSlide" Target="/ppt/notesSlides/notesSlide15.xml" Id="Rf53e4b7417f844a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b594ed6f3154f25" /><Relationship Type="http://schemas.openxmlformats.org/officeDocument/2006/relationships/notesSlide" Target="/ppt/notesSlides/notesSlide16.xml" Id="R5dd732617c4d4d8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f0c82a497104e1f" /><Relationship Type="http://schemas.openxmlformats.org/officeDocument/2006/relationships/notesSlide" Target="/ppt/notesSlides/notesSlide17.xml" Id="R55541e51ae9a40b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7f9ba28bd914e90" /><Relationship Type="http://schemas.openxmlformats.org/officeDocument/2006/relationships/notesSlide" Target="/ppt/notesSlides/notesSlide18.xml" Id="Rb26dc341302545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287fead1acd4902" /><Relationship Type="http://schemas.openxmlformats.org/officeDocument/2006/relationships/notesSlide" Target="/ppt/notesSlides/notesSlide19.xml" Id="Re0b4592e879e4f6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ad0444fc5b34d7c" /><Relationship Type="http://schemas.openxmlformats.org/officeDocument/2006/relationships/notesSlide" Target="/ppt/notesSlides/notesSlide20.xml" Id="R50a6e93b9c71447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ebd6e69e7144e69" /><Relationship Type="http://schemas.openxmlformats.org/officeDocument/2006/relationships/notesSlide" Target="/ppt/notesSlides/notesSlide21.xml" Id="R2813731e4c214f1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8fc0539f9154462" /><Relationship Type="http://schemas.openxmlformats.org/officeDocument/2006/relationships/notesSlide" Target="/ppt/notesSlides/notesSlide22.xml" Id="Rec9ea03460cc43b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2d9e949c2b540ec" /><Relationship Type="http://schemas.openxmlformats.org/officeDocument/2006/relationships/notesSlide" Target="/ppt/notesSlides/notesSlide23.xml" Id="R05bd496d43c349b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b590907411840cf" /><Relationship Type="http://schemas.openxmlformats.org/officeDocument/2006/relationships/notesSlide" Target="/ppt/notesSlides/notesSlide24.xml" Id="R641b6a4d4b3d489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b2c06e91d4f49e5" /><Relationship Type="http://schemas.openxmlformats.org/officeDocument/2006/relationships/notesSlide" Target="/ppt/notesSlides/notesSlide25.xml" Id="R2664f05a8e0b441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15767ccf5714d33" /><Relationship Type="http://schemas.openxmlformats.org/officeDocument/2006/relationships/notesSlide" Target="/ppt/notesSlides/notesSlide26.xml" Id="Rd811a44d388e45f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9f4336d2d804fa7" /><Relationship Type="http://schemas.openxmlformats.org/officeDocument/2006/relationships/notesSlide" Target="/ppt/notesSlides/notesSlide27.xml" Id="R100e79af26e640b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a0df447c4824c56" /><Relationship Type="http://schemas.openxmlformats.org/officeDocument/2006/relationships/notesSlide" Target="/ppt/notesSlides/notesSlide28.xml" Id="R0f10de8ac4a9467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eee38d5947b4029" /><Relationship Type="http://schemas.openxmlformats.org/officeDocument/2006/relationships/notesSlide" Target="/ppt/notesSlides/notesSlide29.xml" Id="R262ee359d78c498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d6f0d4e587442d2" /><Relationship Type="http://schemas.openxmlformats.org/officeDocument/2006/relationships/notesSlide" Target="/ppt/notesSlides/notesSlide30.xml" Id="R33820c6cba80484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a5fe5f741d64981" /><Relationship Type="http://schemas.openxmlformats.org/officeDocument/2006/relationships/notesSlide" Target="/ppt/notesSlides/notesSlide31.xml" Id="R85d07e6d188a479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6ca3417c59046db" /><Relationship Type="http://schemas.openxmlformats.org/officeDocument/2006/relationships/notesSlide" Target="/ppt/notesSlides/notesSlide32.xml" Id="R3ab1f7d751f344b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2ab7f8e39ba4d00" /><Relationship Type="http://schemas.openxmlformats.org/officeDocument/2006/relationships/notesSlide" Target="/ppt/notesSlides/notesSlide33.xml" Id="Reb333884c861474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6f8ba489d734349" /><Relationship Type="http://schemas.openxmlformats.org/officeDocument/2006/relationships/notesSlide" Target="/ppt/notesSlides/notesSlide34.xml" Id="R8142f8becd874eb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e767252541a4407" /><Relationship Type="http://schemas.openxmlformats.org/officeDocument/2006/relationships/notesSlide" Target="/ppt/notesSlides/notesSlide35.xml" Id="R5a3c594311804b16"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d2991adc8cf401d" /><Relationship Type="http://schemas.openxmlformats.org/officeDocument/2006/relationships/notesSlide" Target="/ppt/notesSlides/notesSlide36.xml" Id="Rede67c55987d43e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edb37ad0e974de4" /><Relationship Type="http://schemas.openxmlformats.org/officeDocument/2006/relationships/notesSlide" Target="/ppt/notesSlides/notesSlide37.xml" Id="R2de84e98d7194dc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f57eb1f91bd4721" /><Relationship Type="http://schemas.openxmlformats.org/officeDocument/2006/relationships/notesSlide" Target="/ppt/notesSlides/notesSlide38.xml" Id="Rfa023080d925424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950B2F-5119-46F0-B517-F0F73690D0A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7D815EF-EB7D-4BBE-AEC4-98092DBF7A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8D9FDFA-0743-4632-8BEF-DB9E048B0EFA}"/>
              </a:ext>
            </a:extLst>
          </p:cNvPr>
          <p:cNvSpPr>
            <a:spLocks xmlns:a="http://schemas.openxmlformats.org/drawingml/2006/main" noGrp="1"/>
          </p:cNvSpPr>
          <p:nvPr/>
        </p:nvSpPr>
        <p:spPr>
          <a:xfrm xmlns:a="http://schemas.openxmlformats.org/drawingml/2006/main">
            <a:off x="647700" y="685800"/>
            <a:ext cx="95250" cy="5143500"/>
          </a:xfrm>
          <a:prstGeom xmlns:a="http://schemas.openxmlformats.org/drawingml/2006/main" prst="rect">
            <a:avLst/>
          </a:prstGeom>
          <a:solidFill xmlns:a="http://schemas.openxmlformats.org/drawingml/2006/main">
            <a:srgbClr val="13B8A6"/>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3E9F0AA-967B-439C-89E9-A3ADF2DF5541}"/>
              </a:ext>
            </a:extLst>
          </p:cNvPr>
          <p:cNvSpPr>
            <a:spLocks xmlns:a="http://schemas.openxmlformats.org/drawingml/2006/main" noGrp="1"/>
          </p:cNvSpPr>
          <p:nvPr/>
        </p:nvSpPr>
        <p:spPr>
          <a:xfrm xmlns:a="http://schemas.openxmlformats.org/drawingml/2006/main">
            <a:off x="990600" y="1143000"/>
            <a:ext cx="7429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人工智能 +</a:t>
            </a:r>
          </a:p>
          <a:p xmlns:a="http://schemas.openxmlformats.org/drawingml/2006/main">
            <a:pPr algn="l">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审计综合解决方案产品介绍</a:t>
            </a:r>
          </a:p>
        </p:txBody>
      </p:sp>
      <p:sp>
        <p:nvSpPr>
          <p:cNvPr id="5" name="">
            <a:extLst xmlns:a="http://schemas.openxmlformats.org/drawingml/2006/main">
              <a:ext uri="{FF2B5EF4-FFF2-40B4-BE49-F238E27FC236}">
                <a16:creationId xmlns:a16="http://schemas.microsoft.com/office/drawing/2014/main" id="{ED9E55B8-2E10-4D7A-9878-013E138A7648}"/>
              </a:ext>
            </a:extLst>
          </p:cNvPr>
          <p:cNvSpPr>
            <a:spLocks xmlns:a="http://schemas.openxmlformats.org/drawingml/2006/main" noGrp="1"/>
          </p:cNvSpPr>
          <p:nvPr/>
        </p:nvSpPr>
        <p:spPr>
          <a:xfrm xmlns:a="http://schemas.openxmlformats.org/drawingml/2006/main">
            <a:off x="1009650" y="2266950"/>
            <a:ext cx="7239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BDE7FF"/>
                </a:solidFill>
                <a:latin typeface="Aptos"/>
                <a:ea typeface="Aptos"/>
                <a:cs typeface="Aptos"/>
              </a:defRPr>
            </a:pPr>
            <a:r>
              <a:rPr sz="1650" b="0">
                <a:solidFill>
                  <a:srgbClr val="BDE7FF"/>
                </a:solidFill>
                <a:latin typeface="Aptos"/>
                <a:ea typeface="Aptos"/>
                <a:cs typeface="Aptos"/>
              </a:rPr>
              <a:t>AI 原生审计技术体系与产品能力交流</a:t>
            </a:r>
          </a:p>
        </p:txBody>
      </p:sp>
      <p:sp>
        <p:nvSpPr>
          <p:cNvPr id="6" name="">
            <a:extLst xmlns:a="http://schemas.openxmlformats.org/drawingml/2006/main">
              <a:ext uri="{FF2B5EF4-FFF2-40B4-BE49-F238E27FC236}">
                <a16:creationId xmlns:a16="http://schemas.microsoft.com/office/drawing/2014/main" id="{258D126E-0370-4329-8548-1BC86F1F0387}"/>
              </a:ext>
            </a:extLst>
          </p:cNvPr>
          <p:cNvSpPr>
            <a:spLocks xmlns:a="http://schemas.openxmlformats.org/drawingml/2006/main" noGrp="1"/>
          </p:cNvSpPr>
          <p:nvPr/>
        </p:nvSpPr>
        <p:spPr>
          <a:xfrm xmlns:a="http://schemas.openxmlformats.org/drawingml/2006/main">
            <a:off x="1009650" y="3162300"/>
            <a:ext cx="1619250" cy="342900"/>
          </a:xfrm>
          <a:prstGeom xmlns:a="http://schemas.openxmlformats.org/drawingml/2006/main" prst="rect">
            <a:avLst/>
          </a:prstGeom>
          <a:ln xmlns:a="http://schemas.openxmlformats.org/drawingml/2006/main" w="9525">
            <a:prstDash val="solid"/>
          </a:ln>
        </p:spPr>
      </p:sp>
      <p:sp>
        <p:nvSpPr>
          <p:cNvPr id="7" name="">
            <a:extLst xmlns:a="http://schemas.openxmlformats.org/drawingml/2006/main">
              <a:ext uri="{FF2B5EF4-FFF2-40B4-BE49-F238E27FC236}">
                <a16:creationId xmlns:a16="http://schemas.microsoft.com/office/drawing/2014/main" id="{26A96B1C-B7F2-495B-B14C-2174AC92B840}"/>
              </a:ext>
            </a:extLst>
          </p:cNvPr>
          <p:cNvSpPr>
            <a:spLocks xmlns:a="http://schemas.openxmlformats.org/drawingml/2006/main" noGrp="1"/>
          </p:cNvSpPr>
          <p:nvPr/>
        </p:nvSpPr>
        <p:spPr>
          <a:xfrm xmlns:a="http://schemas.openxmlformats.org/drawingml/2006/main">
            <a:off x="1123950" y="3238500"/>
            <a:ext cx="1390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FFFFF"/>
                </a:solidFill>
                <a:latin typeface="Aptos"/>
                <a:ea typeface="Aptos"/>
                <a:cs typeface="Aptos"/>
              </a:defRPr>
            </a:pPr>
            <a:r>
              <a:rPr sz="1050" b="0">
                <a:solidFill>
                  <a:srgbClr val="FFFFFF"/>
                </a:solidFill>
                <a:latin typeface="Aptos"/>
                <a:ea typeface="Aptos"/>
                <a:cs typeface="Aptos"/>
              </a:rPr>
              <a:t>复杂数据理解</a:t>
            </a:r>
          </a:p>
        </p:txBody>
      </p:sp>
      <p:sp>
        <p:nvSpPr>
          <p:cNvPr id="8" name="">
            <a:extLst xmlns:a="http://schemas.openxmlformats.org/drawingml/2006/main">
              <a:ext uri="{FF2B5EF4-FFF2-40B4-BE49-F238E27FC236}">
                <a16:creationId xmlns:a16="http://schemas.microsoft.com/office/drawing/2014/main" id="{4EA10B15-9C54-444F-AA72-4FDA6E6AC56E}"/>
              </a:ext>
            </a:extLst>
          </p:cNvPr>
          <p:cNvSpPr>
            <a:spLocks xmlns:a="http://schemas.openxmlformats.org/drawingml/2006/main" noGrp="1"/>
          </p:cNvSpPr>
          <p:nvPr/>
        </p:nvSpPr>
        <p:spPr>
          <a:xfrm xmlns:a="http://schemas.openxmlformats.org/drawingml/2006/main">
            <a:off x="2743200" y="3162300"/>
            <a:ext cx="1619250" cy="342900"/>
          </a:xfrm>
          <a:prstGeom xmlns:a="http://schemas.openxmlformats.org/drawingml/2006/main" prst="rect">
            <a:avLst/>
          </a:prstGeom>
          <a:ln xmlns:a="http://schemas.openxmlformats.org/drawingml/2006/main" w="9525">
            <a:prstDash val="solid"/>
          </a:ln>
        </p:spPr>
      </p:sp>
      <p:sp>
        <p:nvSpPr>
          <p:cNvPr id="9" name="">
            <a:extLst xmlns:a="http://schemas.openxmlformats.org/drawingml/2006/main">
              <a:ext uri="{FF2B5EF4-FFF2-40B4-BE49-F238E27FC236}">
                <a16:creationId xmlns:a16="http://schemas.microsoft.com/office/drawing/2014/main" id="{C8709334-A64C-4334-80EB-91CD797A53A7}"/>
              </a:ext>
            </a:extLst>
          </p:cNvPr>
          <p:cNvSpPr>
            <a:spLocks xmlns:a="http://schemas.openxmlformats.org/drawingml/2006/main" noGrp="1"/>
          </p:cNvSpPr>
          <p:nvPr/>
        </p:nvSpPr>
        <p:spPr>
          <a:xfrm xmlns:a="http://schemas.openxmlformats.org/drawingml/2006/main">
            <a:off x="2857500" y="3238500"/>
            <a:ext cx="1390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FFFFF"/>
                </a:solidFill>
                <a:latin typeface="Aptos"/>
                <a:ea typeface="Aptos"/>
                <a:cs typeface="Aptos"/>
              </a:defRPr>
            </a:pPr>
            <a:r>
              <a:rPr sz="1050" b="0">
                <a:solidFill>
                  <a:srgbClr val="FFFFFF"/>
                </a:solidFill>
                <a:latin typeface="Aptos"/>
                <a:ea typeface="Aptos"/>
                <a:cs typeface="Aptos"/>
              </a:rPr>
              <a:t>图谱关系穿透</a:t>
            </a:r>
          </a:p>
        </p:txBody>
      </p:sp>
      <p:sp>
        <p:nvSpPr>
          <p:cNvPr id="10" name="">
            <a:extLst xmlns:a="http://schemas.openxmlformats.org/drawingml/2006/main">
              <a:ext uri="{FF2B5EF4-FFF2-40B4-BE49-F238E27FC236}">
                <a16:creationId xmlns:a16="http://schemas.microsoft.com/office/drawing/2014/main" id="{C7D96174-6EDE-40C8-998E-835513170F25}"/>
              </a:ext>
            </a:extLst>
          </p:cNvPr>
          <p:cNvSpPr>
            <a:spLocks xmlns:a="http://schemas.openxmlformats.org/drawingml/2006/main" noGrp="1"/>
          </p:cNvSpPr>
          <p:nvPr/>
        </p:nvSpPr>
        <p:spPr>
          <a:xfrm xmlns:a="http://schemas.openxmlformats.org/drawingml/2006/main">
            <a:off x="4476750" y="3162300"/>
            <a:ext cx="1752600" cy="342900"/>
          </a:xfrm>
          <a:prstGeom xmlns:a="http://schemas.openxmlformats.org/drawingml/2006/main" prst="rect">
            <a:avLst/>
          </a:prstGeom>
          <a:ln xmlns:a="http://schemas.openxmlformats.org/drawingml/2006/main" w="9525">
            <a:prstDash val="solid"/>
          </a:ln>
        </p:spPr>
      </p:sp>
      <p:sp>
        <p:nvSpPr>
          <p:cNvPr id="11" name="">
            <a:extLst xmlns:a="http://schemas.openxmlformats.org/drawingml/2006/main">
              <a:ext uri="{FF2B5EF4-FFF2-40B4-BE49-F238E27FC236}">
                <a16:creationId xmlns:a16="http://schemas.microsoft.com/office/drawing/2014/main" id="{B553F810-36E0-471D-B95B-6162F09305A4}"/>
              </a:ext>
            </a:extLst>
          </p:cNvPr>
          <p:cNvSpPr>
            <a:spLocks xmlns:a="http://schemas.openxmlformats.org/drawingml/2006/main" noGrp="1"/>
          </p:cNvSpPr>
          <p:nvPr/>
        </p:nvSpPr>
        <p:spPr>
          <a:xfrm xmlns:a="http://schemas.openxmlformats.org/drawingml/2006/main">
            <a:off x="4591050" y="3238500"/>
            <a:ext cx="1524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FFFFF"/>
                </a:solidFill>
                <a:latin typeface="Aptos"/>
                <a:ea typeface="Aptos"/>
                <a:cs typeface="Aptos"/>
              </a:defRPr>
            </a:pPr>
            <a:r>
              <a:rPr sz="1050" b="0">
                <a:solidFill>
                  <a:srgbClr val="FFFFFF"/>
                </a:solidFill>
                <a:latin typeface="Aptos"/>
                <a:ea typeface="Aptos"/>
                <a:cs typeface="Aptos"/>
              </a:rPr>
              <a:t>智能体任务编排</a:t>
            </a:r>
          </a:p>
        </p:txBody>
      </p:sp>
      <p:sp>
        <p:nvSpPr>
          <p:cNvPr id="12" name="">
            <a:extLst xmlns:a="http://schemas.openxmlformats.org/drawingml/2006/main">
              <a:ext uri="{FF2B5EF4-FFF2-40B4-BE49-F238E27FC236}">
                <a16:creationId xmlns:a16="http://schemas.microsoft.com/office/drawing/2014/main" id="{A78F2752-FA1A-4780-A848-02CE295FB415}"/>
              </a:ext>
            </a:extLst>
          </p:cNvPr>
          <p:cNvSpPr>
            <a:spLocks xmlns:a="http://schemas.openxmlformats.org/drawingml/2006/main" noGrp="1"/>
          </p:cNvSpPr>
          <p:nvPr/>
        </p:nvSpPr>
        <p:spPr>
          <a:xfrm xmlns:a="http://schemas.openxmlformats.org/drawingml/2006/main">
            <a:off x="6343650" y="3162300"/>
            <a:ext cx="1619250" cy="342900"/>
          </a:xfrm>
          <a:prstGeom xmlns:a="http://schemas.openxmlformats.org/drawingml/2006/main" prst="rect">
            <a:avLst/>
          </a:prstGeom>
          <a:ln xmlns:a="http://schemas.openxmlformats.org/drawingml/2006/main" w="9525">
            <a:prstDash val="solid"/>
          </a:ln>
        </p:spPr>
      </p:sp>
      <p:sp>
        <p:nvSpPr>
          <p:cNvPr id="13" name="">
            <a:extLst xmlns:a="http://schemas.openxmlformats.org/drawingml/2006/main">
              <a:ext uri="{FF2B5EF4-FFF2-40B4-BE49-F238E27FC236}">
                <a16:creationId xmlns:a16="http://schemas.microsoft.com/office/drawing/2014/main" id="{2800FD06-4783-4133-9AF2-A811E679CDDF}"/>
              </a:ext>
            </a:extLst>
          </p:cNvPr>
          <p:cNvSpPr>
            <a:spLocks xmlns:a="http://schemas.openxmlformats.org/drawingml/2006/main" noGrp="1"/>
          </p:cNvSpPr>
          <p:nvPr/>
        </p:nvSpPr>
        <p:spPr>
          <a:xfrm xmlns:a="http://schemas.openxmlformats.org/drawingml/2006/main">
            <a:off x="6457950" y="3238500"/>
            <a:ext cx="1390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FFFFF"/>
                </a:solidFill>
                <a:latin typeface="Aptos"/>
                <a:ea typeface="Aptos"/>
                <a:cs typeface="Aptos"/>
              </a:defRPr>
            </a:pPr>
            <a:r>
              <a:rPr sz="1050" b="0">
                <a:solidFill>
                  <a:srgbClr val="FFFFFF"/>
                </a:solidFill>
                <a:latin typeface="Aptos"/>
                <a:ea typeface="Aptos"/>
                <a:cs typeface="Aptos"/>
              </a:rPr>
              <a:t>批量审计执行</a:t>
            </a:r>
          </a:p>
        </p:txBody>
      </p:sp>
      <p:sp>
        <p:nvSpPr>
          <p:cNvPr id="14" name="">
            <a:extLst xmlns:a="http://schemas.openxmlformats.org/drawingml/2006/main">
              <a:ext uri="{FF2B5EF4-FFF2-40B4-BE49-F238E27FC236}">
                <a16:creationId xmlns:a16="http://schemas.microsoft.com/office/drawing/2014/main" id="{B7F76F78-5B7B-472A-9BCF-B769FFAD8914}"/>
              </a:ext>
            </a:extLst>
          </p:cNvPr>
          <p:cNvSpPr>
            <a:spLocks xmlns:a="http://schemas.openxmlformats.org/drawingml/2006/main" noGrp="1"/>
          </p:cNvSpPr>
          <p:nvPr/>
        </p:nvSpPr>
        <p:spPr>
          <a:xfrm xmlns:a="http://schemas.openxmlformats.org/drawingml/2006/main">
            <a:off x="8077200" y="3162300"/>
            <a:ext cx="1352550" cy="342900"/>
          </a:xfrm>
          <a:prstGeom xmlns:a="http://schemas.openxmlformats.org/drawingml/2006/main" prst="rect">
            <a:avLst/>
          </a:prstGeom>
          <a:ln xmlns:a="http://schemas.openxmlformats.org/drawingml/2006/main" w="9525">
            <a:prstDash val="solid"/>
          </a:ln>
        </p:spPr>
      </p:sp>
      <p:sp>
        <p:nvSpPr>
          <p:cNvPr id="15" name="">
            <a:extLst xmlns:a="http://schemas.openxmlformats.org/drawingml/2006/main">
              <a:ext uri="{FF2B5EF4-FFF2-40B4-BE49-F238E27FC236}">
                <a16:creationId xmlns:a16="http://schemas.microsoft.com/office/drawing/2014/main" id="{8D134CFB-5F92-476F-AAC1-441EF1C84DCB}"/>
              </a:ext>
            </a:extLst>
          </p:cNvPr>
          <p:cNvSpPr>
            <a:spLocks xmlns:a="http://schemas.openxmlformats.org/drawingml/2006/main" noGrp="1"/>
          </p:cNvSpPr>
          <p:nvPr/>
        </p:nvSpPr>
        <p:spPr>
          <a:xfrm xmlns:a="http://schemas.openxmlformats.org/drawingml/2006/main">
            <a:off x="8191500" y="3238500"/>
            <a:ext cx="1123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FFFFF"/>
                </a:solidFill>
                <a:latin typeface="Aptos"/>
                <a:ea typeface="Aptos"/>
                <a:cs typeface="Aptos"/>
              </a:defRPr>
            </a:pPr>
            <a:r>
              <a:rPr sz="1050" b="0">
                <a:solidFill>
                  <a:srgbClr val="FFFFFF"/>
                </a:solidFill>
                <a:latin typeface="Aptos"/>
                <a:ea typeface="Aptos"/>
                <a:cs typeface="Aptos"/>
              </a:rPr>
              <a:t>能力沉淀</a:t>
            </a:r>
          </a:p>
        </p:txBody>
      </p:sp>
      <p:sp>
        <p:nvSpPr>
          <p:cNvPr id="16" name="">
            <a:extLst xmlns:a="http://schemas.openxmlformats.org/drawingml/2006/main">
              <a:ext uri="{FF2B5EF4-FFF2-40B4-BE49-F238E27FC236}">
                <a16:creationId xmlns:a16="http://schemas.microsoft.com/office/drawing/2014/main" id="{39FA0021-CF3C-48C1-AA81-CD481CFA6BA3}"/>
              </a:ext>
            </a:extLst>
          </p:cNvPr>
          <p:cNvSpPr>
            <a:spLocks xmlns:a="http://schemas.openxmlformats.org/drawingml/2006/main" noGrp="1"/>
          </p:cNvSpPr>
          <p:nvPr/>
        </p:nvSpPr>
        <p:spPr>
          <a:xfrm xmlns:a="http://schemas.openxmlformats.org/drawingml/2006/main">
            <a:off x="1009650" y="4953000"/>
            <a:ext cx="2095500" cy="685800"/>
          </a:xfrm>
          <a:prstGeom xmlns:a="http://schemas.openxmlformats.org/drawingml/2006/main" prst="rect">
            <a:avLst/>
          </a:prstGeom>
          <a:ln xmlns:a="http://schemas.openxmlformats.org/drawingml/2006/main" w="9525">
            <a:prstDash val="solid"/>
          </a:ln>
        </p:spPr>
      </p:sp>
      <p:sp>
        <p:nvSpPr>
          <p:cNvPr id="17" name="">
            <a:extLst xmlns:a="http://schemas.openxmlformats.org/drawingml/2006/main">
              <a:ext uri="{FF2B5EF4-FFF2-40B4-BE49-F238E27FC236}">
                <a16:creationId xmlns:a16="http://schemas.microsoft.com/office/drawing/2014/main" id="{9B65D70C-C9C0-4D1D-9800-95C11C56C06A}"/>
              </a:ext>
            </a:extLst>
          </p:cNvPr>
          <p:cNvSpPr>
            <a:spLocks xmlns:a="http://schemas.openxmlformats.org/drawingml/2006/main" noGrp="1"/>
          </p:cNvSpPr>
          <p:nvPr/>
        </p:nvSpPr>
        <p:spPr>
          <a:xfrm xmlns:a="http://schemas.openxmlformats.org/drawingml/2006/main">
            <a:off x="1162050" y="5181600"/>
            <a:ext cx="1790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智能体平台</a:t>
            </a:r>
          </a:p>
        </p:txBody>
      </p:sp>
      <p:sp>
        <p:nvSpPr>
          <p:cNvPr id="18" name="">
            <a:extLst xmlns:a="http://schemas.openxmlformats.org/drawingml/2006/main">
              <a:ext uri="{FF2B5EF4-FFF2-40B4-BE49-F238E27FC236}">
                <a16:creationId xmlns:a16="http://schemas.microsoft.com/office/drawing/2014/main" id="{DCAC8129-49A4-453E-BF6F-F3538BD31D0E}"/>
              </a:ext>
            </a:extLst>
          </p:cNvPr>
          <p:cNvSpPr>
            <a:spLocks xmlns:a="http://schemas.openxmlformats.org/drawingml/2006/main" noGrp="1"/>
          </p:cNvSpPr>
          <p:nvPr/>
        </p:nvSpPr>
        <p:spPr>
          <a:xfrm xmlns:a="http://schemas.openxmlformats.org/drawingml/2006/main">
            <a:off x="3333750" y="4953000"/>
            <a:ext cx="2095500" cy="685800"/>
          </a:xfrm>
          <a:prstGeom xmlns:a="http://schemas.openxmlformats.org/drawingml/2006/main" prst="rect">
            <a:avLst/>
          </a:prstGeom>
          <a:ln xmlns:a="http://schemas.openxmlformats.org/drawingml/2006/main" w="9525">
            <a:prstDash val="solid"/>
          </a:ln>
        </p:spPr>
      </p:sp>
      <p:sp>
        <p:nvSpPr>
          <p:cNvPr id="19" name="">
            <a:extLst xmlns:a="http://schemas.openxmlformats.org/drawingml/2006/main">
              <a:ext uri="{FF2B5EF4-FFF2-40B4-BE49-F238E27FC236}">
                <a16:creationId xmlns:a16="http://schemas.microsoft.com/office/drawing/2014/main" id="{B2D2C667-558D-4CE1-9964-9E1241097213}"/>
              </a:ext>
            </a:extLst>
          </p:cNvPr>
          <p:cNvSpPr>
            <a:spLocks xmlns:a="http://schemas.openxmlformats.org/drawingml/2006/main" noGrp="1"/>
          </p:cNvSpPr>
          <p:nvPr/>
        </p:nvSpPr>
        <p:spPr>
          <a:xfrm xmlns:a="http://schemas.openxmlformats.org/drawingml/2006/main">
            <a:off x="3486150" y="5181600"/>
            <a:ext cx="1790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数据治理平台</a:t>
            </a:r>
          </a:p>
        </p:txBody>
      </p:sp>
      <p:sp>
        <p:nvSpPr>
          <p:cNvPr id="20" name="">
            <a:extLst xmlns:a="http://schemas.openxmlformats.org/drawingml/2006/main">
              <a:ext uri="{FF2B5EF4-FFF2-40B4-BE49-F238E27FC236}">
                <a16:creationId xmlns:a16="http://schemas.microsoft.com/office/drawing/2014/main" id="{772520C9-2429-4C1C-9F0E-8EED8675B09D}"/>
              </a:ext>
            </a:extLst>
          </p:cNvPr>
          <p:cNvSpPr>
            <a:spLocks xmlns:a="http://schemas.openxmlformats.org/drawingml/2006/main" noGrp="1"/>
          </p:cNvSpPr>
          <p:nvPr/>
        </p:nvSpPr>
        <p:spPr>
          <a:xfrm xmlns:a="http://schemas.openxmlformats.org/drawingml/2006/main">
            <a:off x="5657850" y="4953000"/>
            <a:ext cx="2095500" cy="685800"/>
          </a:xfrm>
          <a:prstGeom xmlns:a="http://schemas.openxmlformats.org/drawingml/2006/main" prst="rect">
            <a:avLst/>
          </a:prstGeom>
          <a:ln xmlns:a="http://schemas.openxmlformats.org/drawingml/2006/main" w="9525">
            <a:prstDash val="solid"/>
          </a:ln>
        </p:spPr>
      </p:sp>
      <p:sp>
        <p:nvSpPr>
          <p:cNvPr id="21" name="">
            <a:extLst xmlns:a="http://schemas.openxmlformats.org/drawingml/2006/main">
              <a:ext uri="{FF2B5EF4-FFF2-40B4-BE49-F238E27FC236}">
                <a16:creationId xmlns:a16="http://schemas.microsoft.com/office/drawing/2014/main" id="{AFE1FD1F-DB36-42C0-8663-5E11799CE5C4}"/>
              </a:ext>
            </a:extLst>
          </p:cNvPr>
          <p:cNvSpPr>
            <a:spLocks xmlns:a="http://schemas.openxmlformats.org/drawingml/2006/main" noGrp="1"/>
          </p:cNvSpPr>
          <p:nvPr/>
        </p:nvSpPr>
        <p:spPr>
          <a:xfrm xmlns:a="http://schemas.openxmlformats.org/drawingml/2006/main">
            <a:off x="5810250" y="5181600"/>
            <a:ext cx="1790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数据图谱平台</a:t>
            </a:r>
          </a:p>
        </p:txBody>
      </p:sp>
      <p:sp>
        <p:nvSpPr>
          <p:cNvPr id="22" name="">
            <a:extLst xmlns:a="http://schemas.openxmlformats.org/drawingml/2006/main">
              <a:ext uri="{FF2B5EF4-FFF2-40B4-BE49-F238E27FC236}">
                <a16:creationId xmlns:a16="http://schemas.microsoft.com/office/drawing/2014/main" id="{02A95F8F-A0F3-441B-8ADB-3E0E31F35FB2}"/>
              </a:ext>
            </a:extLst>
          </p:cNvPr>
          <p:cNvSpPr>
            <a:spLocks xmlns:a="http://schemas.openxmlformats.org/drawingml/2006/main" noGrp="1"/>
          </p:cNvSpPr>
          <p:nvPr/>
        </p:nvSpPr>
        <p:spPr>
          <a:xfrm xmlns:a="http://schemas.openxmlformats.org/drawingml/2006/main">
            <a:off x="7981950" y="4953000"/>
            <a:ext cx="2095500" cy="685800"/>
          </a:xfrm>
          <a:prstGeom xmlns:a="http://schemas.openxmlformats.org/drawingml/2006/main" prst="rect">
            <a:avLst/>
          </a:prstGeom>
          <a:ln xmlns:a="http://schemas.openxmlformats.org/drawingml/2006/main" w="9525">
            <a:prstDash val="solid"/>
          </a:ln>
        </p:spPr>
      </p:sp>
      <p:sp>
        <p:nvSpPr>
          <p:cNvPr id="23" name="">
            <a:extLst xmlns:a="http://schemas.openxmlformats.org/drawingml/2006/main">
              <a:ext uri="{FF2B5EF4-FFF2-40B4-BE49-F238E27FC236}">
                <a16:creationId xmlns:a16="http://schemas.microsoft.com/office/drawing/2014/main" id="{B4F51CB0-CBF2-4D0C-843F-43845F1C35EC}"/>
              </a:ext>
            </a:extLst>
          </p:cNvPr>
          <p:cNvSpPr>
            <a:spLocks xmlns:a="http://schemas.openxmlformats.org/drawingml/2006/main" noGrp="1"/>
          </p:cNvSpPr>
          <p:nvPr/>
        </p:nvSpPr>
        <p:spPr>
          <a:xfrm xmlns:a="http://schemas.openxmlformats.org/drawingml/2006/main">
            <a:off x="8134350" y="5181600"/>
            <a:ext cx="1790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a:ea typeface="Aptos"/>
                <a:cs typeface="Aptos"/>
              </a:defRPr>
            </a:pPr>
            <a:r>
              <a:rPr sz="1350" b="1">
                <a:solidFill>
                  <a:srgbClr val="FFFFFF"/>
                </a:solidFill>
                <a:latin typeface="Aptos"/>
                <a:ea typeface="Aptos"/>
                <a:cs typeface="Aptos"/>
              </a:rPr>
              <a:t>综合分析平台</a:t>
            </a:r>
          </a:p>
        </p:txBody>
      </p:sp>
      <p:sp>
        <p:nvSpPr>
          <p:cNvPr id="24" name="">
            <a:extLst xmlns:a="http://schemas.openxmlformats.org/drawingml/2006/main">
              <a:ext uri="{FF2B5EF4-FFF2-40B4-BE49-F238E27FC236}">
                <a16:creationId xmlns:a16="http://schemas.microsoft.com/office/drawing/2014/main" id="{DB5460A8-4855-4D3B-BDCA-85EE77AEF93F}"/>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25" name="">
            <a:extLst xmlns:a="http://schemas.openxmlformats.org/drawingml/2006/main">
              <a:ext uri="{FF2B5EF4-FFF2-40B4-BE49-F238E27FC236}">
                <a16:creationId xmlns:a16="http://schemas.microsoft.com/office/drawing/2014/main" id="{E57F57F9-BC6F-4A9D-912A-DF8B63442FAF}"/>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01</a:t>
            </a:r>
          </a:p>
        </p:txBody>
      </p:sp>
    </p:spTree>
    <p:extLst>
      <p:ext uri="{BB962C8B-B14F-4D97-AF65-F5344CB8AC3E}">
        <p14:creationId xmlns:p14="http://schemas.microsoft.com/office/powerpoint/2010/main" val="13132496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E3B3D23-F7FA-4703-9F02-A7C1568497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4687BE9-55BB-46D1-A10B-BEBF6FA8AB6E}"/>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6AFEE48-2805-4609-ADBA-107BC8C58ADF}"/>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13B8A6"/>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274DCBF-E4CC-42C8-81FD-3796B0480D9E}"/>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目录</a:t>
            </a:r>
          </a:p>
        </p:txBody>
      </p:sp>
      <p:sp>
        <p:nvSpPr>
          <p:cNvPr id="5" name="">
            <a:extLst xmlns:a="http://schemas.openxmlformats.org/drawingml/2006/main">
              <a:ext uri="{FF2B5EF4-FFF2-40B4-BE49-F238E27FC236}">
                <a16:creationId xmlns:a16="http://schemas.microsoft.com/office/drawing/2014/main" id="{7A70FAE9-6C7F-457E-81F3-B471ADAE409F}"/>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4E96753D-9341-4E92-A156-AE675589424D}"/>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保留原有七章顺序，但把每章的讲述重点从“产品模块说明”调整为“技术能力证明”。</a:t>
            </a:r>
          </a:p>
        </p:txBody>
      </p:sp>
      <p:sp>
        <p:nvSpPr>
          <p:cNvPr id="7" name="">
            <a:extLst xmlns:a="http://schemas.openxmlformats.org/drawingml/2006/main">
              <a:ext uri="{FF2B5EF4-FFF2-40B4-BE49-F238E27FC236}">
                <a16:creationId xmlns:a16="http://schemas.microsoft.com/office/drawing/2014/main" id="{4897C5EF-A67F-4F1E-BFBC-2E60C5920EA4}"/>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26BC9A8A-F486-4C71-9665-960B461BCF89}"/>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0D5B26A5-496F-4DE2-94AF-38392E16577E}"/>
              </a:ext>
            </a:extLst>
          </p:cNvPr>
          <p:cNvSpPr>
            <a:spLocks xmlns:a="http://schemas.openxmlformats.org/drawingml/2006/main" noGrp="1"/>
          </p:cNvSpPr>
          <p:nvPr/>
        </p:nvSpPr>
        <p:spPr>
          <a:xfrm xmlns:a="http://schemas.openxmlformats.org/drawingml/2006/main">
            <a:off x="800100" y="2095500"/>
            <a:ext cx="10668000" cy="60960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7ACEEE6E-CF04-4D0D-923E-D2D391443405}"/>
              </a:ext>
            </a:extLst>
          </p:cNvPr>
          <p:cNvSpPr>
            <a:spLocks xmlns:a="http://schemas.openxmlformats.org/drawingml/2006/main" noGrp="1"/>
          </p:cNvSpPr>
          <p:nvPr/>
        </p:nvSpPr>
        <p:spPr>
          <a:xfrm xmlns:a="http://schemas.openxmlformats.org/drawingml/2006/main">
            <a:off x="1028700" y="2257425"/>
            <a:ext cx="68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01</a:t>
            </a:r>
          </a:p>
        </p:txBody>
      </p:sp>
      <p:sp>
        <p:nvSpPr>
          <p:cNvPr id="11" name="">
            <a:extLst xmlns:a="http://schemas.openxmlformats.org/drawingml/2006/main">
              <a:ext uri="{FF2B5EF4-FFF2-40B4-BE49-F238E27FC236}">
                <a16:creationId xmlns:a16="http://schemas.microsoft.com/office/drawing/2014/main" id="{312BA1F3-A031-485A-9A34-B46945C81535}"/>
              </a:ext>
            </a:extLst>
          </p:cNvPr>
          <p:cNvSpPr>
            <a:spLocks xmlns:a="http://schemas.openxmlformats.org/drawingml/2006/main" noGrp="1"/>
          </p:cNvSpPr>
          <p:nvPr/>
        </p:nvSpPr>
        <p:spPr>
          <a:xfrm xmlns:a="http://schemas.openxmlformats.org/drawingml/2006/main">
            <a:off x="1866900" y="2286000"/>
            <a:ext cx="8953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33F"/>
                </a:solidFill>
                <a:latin typeface="Aptos"/>
                <a:ea typeface="Aptos"/>
                <a:cs typeface="Aptos"/>
              </a:defRPr>
            </a:pPr>
            <a:r>
              <a:rPr sz="1500" b="1">
                <a:solidFill>
                  <a:srgbClr val="10233F"/>
                </a:solidFill>
                <a:latin typeface="Aptos"/>
                <a:ea typeface="Aptos"/>
                <a:cs typeface="Aptos"/>
              </a:rPr>
              <a:t>审计智能化演进与关键问题  </a:t>
            </a:r>
          </a:p>
        </p:txBody>
      </p:sp>
      <p:sp>
        <p:nvSpPr>
          <p:cNvPr id="12" name="">
            <a:extLst xmlns:a="http://schemas.openxmlformats.org/drawingml/2006/main">
              <a:ext uri="{FF2B5EF4-FFF2-40B4-BE49-F238E27FC236}">
                <a16:creationId xmlns:a16="http://schemas.microsoft.com/office/drawing/2014/main" id="{12DE566A-02FC-4064-A8B9-06677AEA61AD}"/>
              </a:ext>
            </a:extLst>
          </p:cNvPr>
          <p:cNvSpPr>
            <a:spLocks xmlns:a="http://schemas.openxmlformats.org/drawingml/2006/main" noGrp="1"/>
          </p:cNvSpPr>
          <p:nvPr/>
        </p:nvSpPr>
        <p:spPr>
          <a:xfrm xmlns:a="http://schemas.openxmlformats.org/drawingml/2006/main">
            <a:off x="800100" y="2819400"/>
            <a:ext cx="10668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3" name="">
            <a:extLst xmlns:a="http://schemas.openxmlformats.org/drawingml/2006/main">
              <a:ext uri="{FF2B5EF4-FFF2-40B4-BE49-F238E27FC236}">
                <a16:creationId xmlns:a16="http://schemas.microsoft.com/office/drawing/2014/main" id="{CCA8B8BC-1B7C-443C-85F9-D53914C0B4D3}"/>
              </a:ext>
            </a:extLst>
          </p:cNvPr>
          <p:cNvSpPr>
            <a:spLocks xmlns:a="http://schemas.openxmlformats.org/drawingml/2006/main" noGrp="1"/>
          </p:cNvSpPr>
          <p:nvPr/>
        </p:nvSpPr>
        <p:spPr>
          <a:xfrm xmlns:a="http://schemas.openxmlformats.org/drawingml/2006/main">
            <a:off x="1028700" y="2981325"/>
            <a:ext cx="68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02</a:t>
            </a:r>
          </a:p>
        </p:txBody>
      </p:sp>
      <p:sp>
        <p:nvSpPr>
          <p:cNvPr id="14" name="">
            <a:extLst xmlns:a="http://schemas.openxmlformats.org/drawingml/2006/main">
              <a:ext uri="{FF2B5EF4-FFF2-40B4-BE49-F238E27FC236}">
                <a16:creationId xmlns:a16="http://schemas.microsoft.com/office/drawing/2014/main" id="{6C6A4FC2-0952-479F-A94F-47FD8309EDFD}"/>
              </a:ext>
            </a:extLst>
          </p:cNvPr>
          <p:cNvSpPr>
            <a:spLocks xmlns:a="http://schemas.openxmlformats.org/drawingml/2006/main" noGrp="1"/>
          </p:cNvSpPr>
          <p:nvPr/>
        </p:nvSpPr>
        <p:spPr>
          <a:xfrm xmlns:a="http://schemas.openxmlformats.org/drawingml/2006/main">
            <a:off x="1866900" y="3009900"/>
            <a:ext cx="8953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33F"/>
                </a:solidFill>
                <a:latin typeface="Aptos"/>
                <a:ea typeface="Aptos"/>
                <a:cs typeface="Aptos"/>
              </a:defRPr>
            </a:pPr>
            <a:r>
              <a:rPr sz="1500" b="1">
                <a:solidFill>
                  <a:srgbClr val="10233F"/>
                </a:solidFill>
                <a:latin typeface="Aptos"/>
                <a:ea typeface="Aptos"/>
                <a:cs typeface="Aptos"/>
              </a:rPr>
              <a:t>AI 原生产品底座与能力链路  </a:t>
            </a:r>
          </a:p>
        </p:txBody>
      </p:sp>
      <p:sp>
        <p:nvSpPr>
          <p:cNvPr id="15" name="">
            <a:extLst xmlns:a="http://schemas.openxmlformats.org/drawingml/2006/main">
              <a:ext uri="{FF2B5EF4-FFF2-40B4-BE49-F238E27FC236}">
                <a16:creationId xmlns:a16="http://schemas.microsoft.com/office/drawing/2014/main" id="{671E76F4-5621-40BF-B521-C0844672DF56}"/>
              </a:ext>
            </a:extLst>
          </p:cNvPr>
          <p:cNvSpPr>
            <a:spLocks xmlns:a="http://schemas.openxmlformats.org/drawingml/2006/main" noGrp="1"/>
          </p:cNvSpPr>
          <p:nvPr/>
        </p:nvSpPr>
        <p:spPr>
          <a:xfrm xmlns:a="http://schemas.openxmlformats.org/drawingml/2006/main">
            <a:off x="800100" y="3543300"/>
            <a:ext cx="10668000" cy="60960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6" name="">
            <a:extLst xmlns:a="http://schemas.openxmlformats.org/drawingml/2006/main">
              <a:ext uri="{FF2B5EF4-FFF2-40B4-BE49-F238E27FC236}">
                <a16:creationId xmlns:a16="http://schemas.microsoft.com/office/drawing/2014/main" id="{9F8ACD08-459A-4402-9BF1-722BBE5C6632}"/>
              </a:ext>
            </a:extLst>
          </p:cNvPr>
          <p:cNvSpPr>
            <a:spLocks xmlns:a="http://schemas.openxmlformats.org/drawingml/2006/main" noGrp="1"/>
          </p:cNvSpPr>
          <p:nvPr/>
        </p:nvSpPr>
        <p:spPr>
          <a:xfrm xmlns:a="http://schemas.openxmlformats.org/drawingml/2006/main">
            <a:off x="1028700" y="3705225"/>
            <a:ext cx="68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03</a:t>
            </a:r>
          </a:p>
        </p:txBody>
      </p:sp>
      <p:sp>
        <p:nvSpPr>
          <p:cNvPr id="17" name="">
            <a:extLst xmlns:a="http://schemas.openxmlformats.org/drawingml/2006/main">
              <a:ext uri="{FF2B5EF4-FFF2-40B4-BE49-F238E27FC236}">
                <a16:creationId xmlns:a16="http://schemas.microsoft.com/office/drawing/2014/main" id="{00B6E79C-AD4E-4125-BE08-E01D55FFCADC}"/>
              </a:ext>
            </a:extLst>
          </p:cNvPr>
          <p:cNvSpPr>
            <a:spLocks xmlns:a="http://schemas.openxmlformats.org/drawingml/2006/main" noGrp="1"/>
          </p:cNvSpPr>
          <p:nvPr/>
        </p:nvSpPr>
        <p:spPr>
          <a:xfrm xmlns:a="http://schemas.openxmlformats.org/drawingml/2006/main">
            <a:off x="1866900" y="3733800"/>
            <a:ext cx="8953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33F"/>
                </a:solidFill>
                <a:latin typeface="Aptos"/>
                <a:ea typeface="Aptos"/>
                <a:cs typeface="Aptos"/>
              </a:defRPr>
            </a:pPr>
            <a:r>
              <a:rPr sz="1500" b="1">
                <a:solidFill>
                  <a:srgbClr val="10233F"/>
                </a:solidFill>
                <a:latin typeface="Aptos"/>
                <a:ea typeface="Aptos"/>
                <a:cs typeface="Aptos"/>
              </a:rPr>
              <a:t>智能体平台：AI 能力生产与编排底座  </a:t>
            </a:r>
          </a:p>
        </p:txBody>
      </p:sp>
      <p:sp>
        <p:nvSpPr>
          <p:cNvPr id="18" name="">
            <a:extLst xmlns:a="http://schemas.openxmlformats.org/drawingml/2006/main">
              <a:ext uri="{FF2B5EF4-FFF2-40B4-BE49-F238E27FC236}">
                <a16:creationId xmlns:a16="http://schemas.microsoft.com/office/drawing/2014/main" id="{DEDDEC4D-BCDE-477A-ACB7-4E0B35E4DDD8}"/>
              </a:ext>
            </a:extLst>
          </p:cNvPr>
          <p:cNvSpPr>
            <a:spLocks xmlns:a="http://schemas.openxmlformats.org/drawingml/2006/main" noGrp="1"/>
          </p:cNvSpPr>
          <p:nvPr/>
        </p:nvSpPr>
        <p:spPr>
          <a:xfrm xmlns:a="http://schemas.openxmlformats.org/drawingml/2006/main">
            <a:off x="800100" y="4267200"/>
            <a:ext cx="10668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19FEFF7E-133F-411F-B70F-4878097E14B9}"/>
              </a:ext>
            </a:extLst>
          </p:cNvPr>
          <p:cNvSpPr>
            <a:spLocks xmlns:a="http://schemas.openxmlformats.org/drawingml/2006/main" noGrp="1"/>
          </p:cNvSpPr>
          <p:nvPr/>
        </p:nvSpPr>
        <p:spPr>
          <a:xfrm xmlns:a="http://schemas.openxmlformats.org/drawingml/2006/main">
            <a:off x="1028700" y="4429125"/>
            <a:ext cx="68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04</a:t>
            </a:r>
          </a:p>
        </p:txBody>
      </p:sp>
      <p:sp>
        <p:nvSpPr>
          <p:cNvPr id="20" name="">
            <a:extLst xmlns:a="http://schemas.openxmlformats.org/drawingml/2006/main">
              <a:ext uri="{FF2B5EF4-FFF2-40B4-BE49-F238E27FC236}">
                <a16:creationId xmlns:a16="http://schemas.microsoft.com/office/drawing/2014/main" id="{41050BFF-C355-47A4-BA2E-931972E7E9DF}"/>
              </a:ext>
            </a:extLst>
          </p:cNvPr>
          <p:cNvSpPr>
            <a:spLocks xmlns:a="http://schemas.openxmlformats.org/drawingml/2006/main" noGrp="1"/>
          </p:cNvSpPr>
          <p:nvPr/>
        </p:nvSpPr>
        <p:spPr>
          <a:xfrm xmlns:a="http://schemas.openxmlformats.org/drawingml/2006/main">
            <a:off x="1866900" y="4457700"/>
            <a:ext cx="8953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33F"/>
                </a:solidFill>
                <a:latin typeface="Aptos"/>
                <a:ea typeface="Aptos"/>
                <a:cs typeface="Aptos"/>
              </a:defRPr>
            </a:pPr>
            <a:r>
              <a:rPr sz="1500" b="1">
                <a:solidFill>
                  <a:srgbClr val="10233F"/>
                </a:solidFill>
                <a:latin typeface="Aptos"/>
                <a:ea typeface="Aptos"/>
                <a:cs typeface="Aptos"/>
              </a:rPr>
              <a:t>数据治理平台：复杂数据可用性治理  </a:t>
            </a:r>
          </a:p>
        </p:txBody>
      </p:sp>
      <p:sp>
        <p:nvSpPr>
          <p:cNvPr id="21" name="">
            <a:extLst xmlns:a="http://schemas.openxmlformats.org/drawingml/2006/main">
              <a:ext uri="{FF2B5EF4-FFF2-40B4-BE49-F238E27FC236}">
                <a16:creationId xmlns:a16="http://schemas.microsoft.com/office/drawing/2014/main" id="{CE7E7C23-C3DC-41D8-B3DA-FBE4ABF5112D}"/>
              </a:ext>
            </a:extLst>
          </p:cNvPr>
          <p:cNvSpPr>
            <a:spLocks xmlns:a="http://schemas.openxmlformats.org/drawingml/2006/main" noGrp="1"/>
          </p:cNvSpPr>
          <p:nvPr/>
        </p:nvSpPr>
        <p:spPr>
          <a:xfrm xmlns:a="http://schemas.openxmlformats.org/drawingml/2006/main">
            <a:off x="800100" y="4991100"/>
            <a:ext cx="10668000" cy="60960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9D07BB36-19FD-494A-A0F6-0A024164B8F2}"/>
              </a:ext>
            </a:extLst>
          </p:cNvPr>
          <p:cNvSpPr>
            <a:spLocks xmlns:a="http://schemas.openxmlformats.org/drawingml/2006/main" noGrp="1"/>
          </p:cNvSpPr>
          <p:nvPr/>
        </p:nvSpPr>
        <p:spPr>
          <a:xfrm xmlns:a="http://schemas.openxmlformats.org/drawingml/2006/main">
            <a:off x="1028700" y="5153025"/>
            <a:ext cx="68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05</a:t>
            </a:r>
          </a:p>
        </p:txBody>
      </p:sp>
      <p:sp>
        <p:nvSpPr>
          <p:cNvPr id="23" name="">
            <a:extLst xmlns:a="http://schemas.openxmlformats.org/drawingml/2006/main">
              <a:ext uri="{FF2B5EF4-FFF2-40B4-BE49-F238E27FC236}">
                <a16:creationId xmlns:a16="http://schemas.microsoft.com/office/drawing/2014/main" id="{B96C24AD-97D3-49CF-9398-3AD6F229E4AA}"/>
              </a:ext>
            </a:extLst>
          </p:cNvPr>
          <p:cNvSpPr>
            <a:spLocks xmlns:a="http://schemas.openxmlformats.org/drawingml/2006/main" noGrp="1"/>
          </p:cNvSpPr>
          <p:nvPr/>
        </p:nvSpPr>
        <p:spPr>
          <a:xfrm xmlns:a="http://schemas.openxmlformats.org/drawingml/2006/main">
            <a:off x="1866900" y="5181600"/>
            <a:ext cx="8953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33F"/>
                </a:solidFill>
                <a:latin typeface="Aptos"/>
                <a:ea typeface="Aptos"/>
                <a:cs typeface="Aptos"/>
              </a:defRPr>
            </a:pPr>
            <a:r>
              <a:rPr sz="1500" b="1">
                <a:solidFill>
                  <a:srgbClr val="10233F"/>
                </a:solidFill>
                <a:latin typeface="Aptos"/>
                <a:ea typeface="Aptos"/>
                <a:cs typeface="Aptos"/>
              </a:rPr>
              <a:t>数据图谱平台：关系建模、图计算与线索挖掘  </a:t>
            </a:r>
          </a:p>
        </p:txBody>
      </p:sp>
      <p:sp>
        <p:nvSpPr>
          <p:cNvPr id="24" name="">
            <a:extLst xmlns:a="http://schemas.openxmlformats.org/drawingml/2006/main">
              <a:ext uri="{FF2B5EF4-FFF2-40B4-BE49-F238E27FC236}">
                <a16:creationId xmlns:a16="http://schemas.microsoft.com/office/drawing/2014/main" id="{DF6719F4-923C-4DF6-9903-0DCE236D5A99}"/>
              </a:ext>
            </a:extLst>
          </p:cNvPr>
          <p:cNvSpPr>
            <a:spLocks xmlns:a="http://schemas.openxmlformats.org/drawingml/2006/main" noGrp="1"/>
          </p:cNvSpPr>
          <p:nvPr/>
        </p:nvSpPr>
        <p:spPr>
          <a:xfrm xmlns:a="http://schemas.openxmlformats.org/drawingml/2006/main">
            <a:off x="800100" y="5715000"/>
            <a:ext cx="10668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8FA78539-575B-4A3D-9AAF-B94107B91D02}"/>
              </a:ext>
            </a:extLst>
          </p:cNvPr>
          <p:cNvSpPr>
            <a:spLocks xmlns:a="http://schemas.openxmlformats.org/drawingml/2006/main" noGrp="1"/>
          </p:cNvSpPr>
          <p:nvPr/>
        </p:nvSpPr>
        <p:spPr>
          <a:xfrm xmlns:a="http://schemas.openxmlformats.org/drawingml/2006/main">
            <a:off x="1028700" y="5876925"/>
            <a:ext cx="68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06</a:t>
            </a:r>
          </a:p>
        </p:txBody>
      </p:sp>
      <p:sp>
        <p:nvSpPr>
          <p:cNvPr id="26" name="">
            <a:extLst xmlns:a="http://schemas.openxmlformats.org/drawingml/2006/main">
              <a:ext uri="{FF2B5EF4-FFF2-40B4-BE49-F238E27FC236}">
                <a16:creationId xmlns:a16="http://schemas.microsoft.com/office/drawing/2014/main" id="{EE220775-9E97-4A33-9C88-456D0CADDB31}"/>
              </a:ext>
            </a:extLst>
          </p:cNvPr>
          <p:cNvSpPr>
            <a:spLocks xmlns:a="http://schemas.openxmlformats.org/drawingml/2006/main" noGrp="1"/>
          </p:cNvSpPr>
          <p:nvPr/>
        </p:nvSpPr>
        <p:spPr>
          <a:xfrm xmlns:a="http://schemas.openxmlformats.org/drawingml/2006/main">
            <a:off x="1866900" y="5905500"/>
            <a:ext cx="8953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33F"/>
                </a:solidFill>
                <a:latin typeface="Aptos"/>
                <a:ea typeface="Aptos"/>
                <a:cs typeface="Aptos"/>
              </a:defRPr>
            </a:pPr>
            <a:r>
              <a:rPr sz="1500" b="1">
                <a:solidFill>
                  <a:srgbClr val="10233F"/>
                </a:solidFill>
                <a:latin typeface="Aptos"/>
                <a:ea typeface="Aptos"/>
                <a:cs typeface="Aptos"/>
              </a:rPr>
              <a:t>综合分析平台：任务执行、技能沉淀与应用承接  </a:t>
            </a:r>
          </a:p>
        </p:txBody>
      </p:sp>
      <p:sp>
        <p:nvSpPr>
          <p:cNvPr id="27" name="">
            <a:extLst xmlns:a="http://schemas.openxmlformats.org/drawingml/2006/main">
              <a:ext uri="{FF2B5EF4-FFF2-40B4-BE49-F238E27FC236}">
                <a16:creationId xmlns:a16="http://schemas.microsoft.com/office/drawing/2014/main" id="{5131E04F-1CB7-4839-BC17-901AAAA485E0}"/>
              </a:ext>
            </a:extLst>
          </p:cNvPr>
          <p:cNvSpPr>
            <a:spLocks xmlns:a="http://schemas.openxmlformats.org/drawingml/2006/main" noGrp="1"/>
          </p:cNvSpPr>
          <p:nvPr/>
        </p:nvSpPr>
        <p:spPr>
          <a:xfrm xmlns:a="http://schemas.openxmlformats.org/drawingml/2006/main">
            <a:off x="800100" y="6438900"/>
            <a:ext cx="10668000" cy="60960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28" name="">
            <a:extLst xmlns:a="http://schemas.openxmlformats.org/drawingml/2006/main">
              <a:ext uri="{FF2B5EF4-FFF2-40B4-BE49-F238E27FC236}">
                <a16:creationId xmlns:a16="http://schemas.microsoft.com/office/drawing/2014/main" id="{5A1A085C-6D8F-49FA-81F6-CCC4031DE5DF}"/>
              </a:ext>
            </a:extLst>
          </p:cNvPr>
          <p:cNvSpPr>
            <a:spLocks xmlns:a="http://schemas.openxmlformats.org/drawingml/2006/main" noGrp="1"/>
          </p:cNvSpPr>
          <p:nvPr/>
        </p:nvSpPr>
        <p:spPr>
          <a:xfrm xmlns:a="http://schemas.openxmlformats.org/drawingml/2006/main">
            <a:off x="1028700" y="6600825"/>
            <a:ext cx="68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8EC7"/>
                </a:solidFill>
                <a:latin typeface="Aptos Display"/>
                <a:ea typeface="Aptos Display"/>
                <a:cs typeface="Aptos Display"/>
              </a:defRPr>
            </a:pPr>
            <a:r>
              <a:rPr sz="2100" b="1">
                <a:solidFill>
                  <a:srgbClr val="0F8EC7"/>
                </a:solidFill>
                <a:latin typeface="Aptos Display"/>
                <a:ea typeface="Aptos Display"/>
                <a:cs typeface="Aptos Display"/>
              </a:rPr>
              <a:t>07</a:t>
            </a:r>
          </a:p>
        </p:txBody>
      </p:sp>
      <p:sp>
        <p:nvSpPr>
          <p:cNvPr id="29" name="">
            <a:extLst xmlns:a="http://schemas.openxmlformats.org/drawingml/2006/main">
              <a:ext uri="{FF2B5EF4-FFF2-40B4-BE49-F238E27FC236}">
                <a16:creationId xmlns:a16="http://schemas.microsoft.com/office/drawing/2014/main" id="{4D60DA60-BD67-4C06-9A29-12E696ADA5A7}"/>
              </a:ext>
            </a:extLst>
          </p:cNvPr>
          <p:cNvSpPr>
            <a:spLocks xmlns:a="http://schemas.openxmlformats.org/drawingml/2006/main" noGrp="1"/>
          </p:cNvSpPr>
          <p:nvPr/>
        </p:nvSpPr>
        <p:spPr>
          <a:xfrm xmlns:a="http://schemas.openxmlformats.org/drawingml/2006/main">
            <a:off x="1866900" y="6629400"/>
            <a:ext cx="8953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0233F"/>
                </a:solidFill>
                <a:latin typeface="Aptos"/>
                <a:ea typeface="Aptos"/>
                <a:cs typeface="Aptos"/>
              </a:defRPr>
            </a:pPr>
            <a:r>
              <a:rPr sz="1500" b="1">
                <a:solidFill>
                  <a:srgbClr val="10233F"/>
                </a:solidFill>
                <a:latin typeface="Aptos"/>
                <a:ea typeface="Aptos"/>
                <a:cs typeface="Aptos"/>
              </a:rPr>
              <a:t>总结：从单点能力到 AI 原生审计闭环</a:t>
            </a:r>
          </a:p>
        </p:txBody>
      </p:sp>
    </p:spTree>
    <p:extLst>
      <p:ext uri="{BB962C8B-B14F-4D97-AF65-F5344CB8AC3E}">
        <p14:creationId xmlns:p14="http://schemas.microsoft.com/office/powerpoint/2010/main" val="150915238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BC7584-501E-4BB0-B906-B91130EA8FF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BEA85B2-6990-4DDE-942F-92D4477361B5}"/>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48877B3-F6F3-4608-85DD-79BF2DFA3A79}"/>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2DE3636-CC7D-4598-B091-8C48FA943425}"/>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审计信息化已经奠定基础，但正在进入智能化深水区</a:t>
            </a:r>
          </a:p>
        </p:txBody>
      </p:sp>
      <p:sp>
        <p:nvSpPr>
          <p:cNvPr id="5" name="">
            <a:extLst xmlns:a="http://schemas.openxmlformats.org/drawingml/2006/main">
              <a:ext uri="{FF2B5EF4-FFF2-40B4-BE49-F238E27FC236}">
                <a16:creationId xmlns:a16="http://schemas.microsoft.com/office/drawing/2014/main" id="{E93699DC-1AA9-49CC-8888-659E8095A6FB}"/>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23717A24-F938-41E3-B857-BA4F529D8D21}"/>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先承认传统信息化和政务数据建设的价值，再指出下一阶段的增量问题是“数据智能使用”。</a:t>
            </a:r>
          </a:p>
        </p:txBody>
      </p:sp>
      <p:sp>
        <p:nvSpPr>
          <p:cNvPr id="7" name="">
            <a:extLst xmlns:a="http://schemas.openxmlformats.org/drawingml/2006/main">
              <a:ext uri="{FF2B5EF4-FFF2-40B4-BE49-F238E27FC236}">
                <a16:creationId xmlns:a16="http://schemas.microsoft.com/office/drawing/2014/main" id="{7DCA0050-9AF1-4942-80D3-5A36CF51A998}"/>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AC6B663C-BFDC-4C58-8671-6BF46A5BE85B}"/>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03</a:t>
            </a:r>
          </a:p>
        </p:txBody>
      </p:sp>
      <p:sp>
        <p:nvSpPr>
          <p:cNvPr id="9" name="">
            <a:extLst xmlns:a="http://schemas.openxmlformats.org/drawingml/2006/main">
              <a:ext uri="{FF2B5EF4-FFF2-40B4-BE49-F238E27FC236}">
                <a16:creationId xmlns:a16="http://schemas.microsoft.com/office/drawing/2014/main" id="{EC9FEC21-86F1-42C8-BD7D-00F87BA92E75}"/>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854C806C-C4C4-4F84-B30A-B321A31EC6B1}"/>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审计信息化已经完成了多年建设，围绕数据采集、数据归集、数据查询、规则分析、流程管理和成果管理，形成了较为成熟的基础支撑。</a:t>
            </a:r>
          </a:p>
        </p:txBody>
      </p:sp>
      <p:sp>
        <p:nvSpPr>
          <p:cNvPr id="11" name="">
            <a:extLst xmlns:a="http://schemas.openxmlformats.org/drawingml/2006/main">
              <a:ext uri="{FF2B5EF4-FFF2-40B4-BE49-F238E27FC236}">
                <a16:creationId xmlns:a16="http://schemas.microsoft.com/office/drawing/2014/main" id="{4A71369D-3CDC-4CEE-9A83-1A52AF7F9581}"/>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FE564A63-4FCE-4BE4-99FA-F0618D5E5915}"/>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已有建设已经解决了三类基础问题：</a:t>
            </a:r>
          </a:p>
        </p:txBody>
      </p:sp>
      <p:sp>
        <p:nvSpPr>
          <p:cNvPr id="13" name="">
            <a:extLst xmlns:a="http://schemas.openxmlformats.org/drawingml/2006/main">
              <a:ext uri="{FF2B5EF4-FFF2-40B4-BE49-F238E27FC236}">
                <a16:creationId xmlns:a16="http://schemas.microsoft.com/office/drawing/2014/main" id="{3F2FE4C0-8B4A-4D3E-8E32-D6060F102A14}"/>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数据归集与规则分析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通过固定 SQL、指标模型、规则脚本和定时任务，对明确口径下的数据进行自动筛查和统计分析。</a:t>
            </a:r>
          </a:p>
        </p:txBody>
      </p:sp>
      <p:sp>
        <p:nvSpPr>
          <p:cNvPr id="14" name="">
            <a:extLst xmlns:a="http://schemas.openxmlformats.org/drawingml/2006/main">
              <a:ext uri="{FF2B5EF4-FFF2-40B4-BE49-F238E27FC236}">
                <a16:creationId xmlns:a16="http://schemas.microsoft.com/office/drawing/2014/main" id="{2376F66B-D0C1-4180-B941-42479228C8D6}"/>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E6B67468-DC6C-401C-B8D0-E481B2E728EB}"/>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审计流程与项目管理</a:t>
            </a:r>
          </a:p>
        </p:txBody>
      </p:sp>
      <p:sp>
        <p:nvSpPr>
          <p:cNvPr id="16" name="">
            <a:extLst xmlns:a="http://schemas.openxmlformats.org/drawingml/2006/main">
              <a:ext uri="{FF2B5EF4-FFF2-40B4-BE49-F238E27FC236}">
                <a16:creationId xmlns:a16="http://schemas.microsoft.com/office/drawing/2014/main" id="{49C10D52-DB61-4501-A576-5FD741E82A24}"/>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支撑审计项目立项、审计方案制定、任务分派、过程流转、进度跟踪和成果归档。</a:t>
            </a:r>
          </a:p>
        </p:txBody>
      </p:sp>
      <p:sp>
        <p:nvSpPr>
          <p:cNvPr id="17" name="">
            <a:extLst xmlns:a="http://schemas.openxmlformats.org/drawingml/2006/main">
              <a:ext uri="{FF2B5EF4-FFF2-40B4-BE49-F238E27FC236}">
                <a16:creationId xmlns:a16="http://schemas.microsoft.com/office/drawing/2014/main" id="{86166524-D37E-4D55-8C40-F00B69520131}"/>
              </a:ext>
            </a:extLst>
          </p:cNvPr>
          <p:cNvSpPr>
            <a:spLocks xmlns:a="http://schemas.openxmlformats.org/drawingml/2006/main" noGrp="1"/>
          </p:cNvSpPr>
          <p:nvPr/>
        </p:nvSpPr>
        <p:spPr>
          <a:xfrm xmlns:a="http://schemas.openxmlformats.org/drawingml/2006/main">
            <a:off x="6858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0C108673-BCC3-4549-8C10-74E8A8D781A8}"/>
              </a:ext>
            </a:extLst>
          </p:cNvPr>
          <p:cNvSpPr>
            <a:spLocks xmlns:a="http://schemas.openxmlformats.org/drawingml/2006/main" noGrp="1"/>
          </p:cNvSpPr>
          <p:nvPr/>
        </p:nvSpPr>
        <p:spPr>
          <a:xfrm xmlns:a="http://schemas.openxmlformats.org/drawingml/2006/main">
            <a:off x="8382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底稿与成果管理</a:t>
            </a:r>
          </a:p>
        </p:txBody>
      </p:sp>
      <p:sp>
        <p:nvSpPr>
          <p:cNvPr id="19" name="">
            <a:extLst xmlns:a="http://schemas.openxmlformats.org/drawingml/2006/main">
              <a:ext uri="{FF2B5EF4-FFF2-40B4-BE49-F238E27FC236}">
                <a16:creationId xmlns:a16="http://schemas.microsoft.com/office/drawing/2014/main" id="{7DCEE090-A48B-4345-8517-F8698DA259F8}"/>
              </a:ext>
            </a:extLst>
          </p:cNvPr>
          <p:cNvSpPr>
            <a:spLocks xmlns:a="http://schemas.openxmlformats.org/drawingml/2006/main" noGrp="1"/>
          </p:cNvSpPr>
          <p:nvPr/>
        </p:nvSpPr>
        <p:spPr>
          <a:xfrm xmlns:a="http://schemas.openxmlformats.org/drawingml/2006/main">
            <a:off x="8382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支撑审计取证、底稿编写、问题整理、报告生成、整改跟踪和成果沉淀。</a:t>
            </a:r>
          </a:p>
        </p:txBody>
      </p:sp>
      <p:sp>
        <p:nvSpPr>
          <p:cNvPr id="20" name="">
            <a:extLst xmlns:a="http://schemas.openxmlformats.org/drawingml/2006/main">
              <a:ext uri="{FF2B5EF4-FFF2-40B4-BE49-F238E27FC236}">
                <a16:creationId xmlns:a16="http://schemas.microsoft.com/office/drawing/2014/main" id="{C09D6B57-0C84-418E-8388-B39523597F4E}"/>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1" name="">
            <a:extLst xmlns:a="http://schemas.openxmlformats.org/drawingml/2006/main">
              <a:ext uri="{FF2B5EF4-FFF2-40B4-BE49-F238E27FC236}">
                <a16:creationId xmlns:a16="http://schemas.microsoft.com/office/drawing/2014/main" id="{A9C8BEAF-F25D-443B-A6FC-DBC667AEEDF4}"/>
              </a:ext>
            </a:extLst>
          </p:cNvPr>
          <p:cNvSpPr>
            <a:spLocks xmlns:a="http://schemas.openxmlformats.org/drawingml/2006/main" noGrp="1"/>
          </p:cNvSpPr>
          <p:nvPr/>
        </p:nvSpPr>
        <p:spPr>
          <a:xfrm xmlns:a="http://schemas.openxmlformats.org/drawingml/2006/main">
            <a:off x="64389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但随着审计对象、数据类型和业务关系持续复杂化，传统方式正在进入深水区：</a:t>
            </a:r>
          </a:p>
        </p:txBody>
      </p:sp>
      <p:sp>
        <p:nvSpPr>
          <p:cNvPr id="22" name="">
            <a:extLst xmlns:a="http://schemas.openxmlformats.org/drawingml/2006/main">
              <a:ext uri="{FF2B5EF4-FFF2-40B4-BE49-F238E27FC236}">
                <a16:creationId xmlns:a16="http://schemas.microsoft.com/office/drawing/2014/main" id="{A08201A3-5210-44E6-9105-D639F1292870}"/>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3" name="">
            <a:extLst xmlns:a="http://schemas.openxmlformats.org/drawingml/2006/main">
              <a:ext uri="{FF2B5EF4-FFF2-40B4-BE49-F238E27FC236}">
                <a16:creationId xmlns:a16="http://schemas.microsoft.com/office/drawing/2014/main" id="{83D8BBCC-AAAE-4479-89D3-D35C39EF5231}"/>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数据可见，但难用</a:t>
            </a:r>
          </a:p>
        </p:txBody>
      </p:sp>
      <p:sp>
        <p:nvSpPr>
          <p:cNvPr id="24" name="">
            <a:extLst xmlns:a="http://schemas.openxmlformats.org/drawingml/2006/main">
              <a:ext uri="{FF2B5EF4-FFF2-40B4-BE49-F238E27FC236}">
                <a16:creationId xmlns:a16="http://schemas.microsoft.com/office/drawing/2014/main" id="{02232C61-E4CA-4793-A231-1815EBF3B7AE}"/>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数据已经汇聚，但字段语义不清、表间关系不明、资料格式复杂，审计人员仍要大量依赖人工理解。</a:t>
            </a:r>
          </a:p>
        </p:txBody>
      </p:sp>
      <p:sp>
        <p:nvSpPr>
          <p:cNvPr id="25" name="">
            <a:extLst xmlns:a="http://schemas.openxmlformats.org/drawingml/2006/main">
              <a:ext uri="{FF2B5EF4-FFF2-40B4-BE49-F238E27FC236}">
                <a16:creationId xmlns:a16="http://schemas.microsoft.com/office/drawing/2014/main" id="{62208954-0070-4652-9306-A0232DA81B36}"/>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6" name="">
            <a:extLst xmlns:a="http://schemas.openxmlformats.org/drawingml/2006/main">
              <a:ext uri="{FF2B5EF4-FFF2-40B4-BE49-F238E27FC236}">
                <a16:creationId xmlns:a16="http://schemas.microsoft.com/office/drawing/2014/main" id="{BE7A7BF5-7A6D-46FC-8B95-7378134D46FE}"/>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线索存在，但难穿透</a:t>
            </a:r>
          </a:p>
        </p:txBody>
      </p:sp>
      <p:sp>
        <p:nvSpPr>
          <p:cNvPr id="27" name="">
            <a:extLst xmlns:a="http://schemas.openxmlformats.org/drawingml/2006/main">
              <a:ext uri="{FF2B5EF4-FFF2-40B4-BE49-F238E27FC236}">
                <a16:creationId xmlns:a16="http://schemas.microsoft.com/office/drawing/2014/main" id="{A01B55AC-22A4-4453-9118-F1558A52F954}"/>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人员、企业、单位、项目、资金、票据分散在不同系统、不同表、不同资料中，单点查询很难还原真实关系链条。</a:t>
            </a:r>
          </a:p>
        </p:txBody>
      </p:sp>
      <p:sp>
        <p:nvSpPr>
          <p:cNvPr id="28" name="">
            <a:extLst xmlns:a="http://schemas.openxmlformats.org/drawingml/2006/main">
              <a:ext uri="{FF2B5EF4-FFF2-40B4-BE49-F238E27FC236}">
                <a16:creationId xmlns:a16="http://schemas.microsoft.com/office/drawing/2014/main" id="{5249A3AC-FB20-462E-9E01-8FA94B1A3EB3}"/>
              </a:ext>
            </a:extLst>
          </p:cNvPr>
          <p:cNvSpPr>
            <a:spLocks xmlns:a="http://schemas.openxmlformats.org/drawingml/2006/main" noGrp="1"/>
          </p:cNvSpPr>
          <p:nvPr/>
        </p:nvSpPr>
        <p:spPr>
          <a:xfrm xmlns:a="http://schemas.openxmlformats.org/drawingml/2006/main">
            <a:off x="62865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9" name="">
            <a:extLst xmlns:a="http://schemas.openxmlformats.org/drawingml/2006/main">
              <a:ext uri="{FF2B5EF4-FFF2-40B4-BE49-F238E27FC236}">
                <a16:creationId xmlns:a16="http://schemas.microsoft.com/office/drawing/2014/main" id="{76338274-BACB-4E18-958E-47EB913028EB}"/>
              </a:ext>
            </a:extLst>
          </p:cNvPr>
          <p:cNvSpPr>
            <a:spLocks xmlns:a="http://schemas.openxmlformats.org/drawingml/2006/main" noGrp="1"/>
          </p:cNvSpPr>
          <p:nvPr/>
        </p:nvSpPr>
        <p:spPr>
          <a:xfrm xmlns:a="http://schemas.openxmlformats.org/drawingml/2006/main">
            <a:off x="64389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经验成熟，但难复制</a:t>
            </a:r>
          </a:p>
        </p:txBody>
      </p:sp>
      <p:sp>
        <p:nvSpPr>
          <p:cNvPr id="30" name="">
            <a:extLst xmlns:a="http://schemas.openxmlformats.org/drawingml/2006/main">
              <a:ext uri="{FF2B5EF4-FFF2-40B4-BE49-F238E27FC236}">
                <a16:creationId xmlns:a16="http://schemas.microsoft.com/office/drawing/2014/main" id="{B606388B-4B9F-48AC-9FED-07531BA0EDA8}"/>
              </a:ext>
            </a:extLst>
          </p:cNvPr>
          <p:cNvSpPr>
            <a:spLocks xmlns:a="http://schemas.openxmlformats.org/drawingml/2006/main" noGrp="1"/>
          </p:cNvSpPr>
          <p:nvPr/>
        </p:nvSpPr>
        <p:spPr>
          <a:xfrm xmlns:a="http://schemas.openxmlformats.org/drawingml/2006/main">
            <a:off x="64389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专家审计经验、核查路径和判断规则往往沉淀在个人脑中，难以跨项目、跨专业、跨层级复用。</a:t>
            </a:r>
          </a:p>
        </p:txBody>
      </p:sp>
    </p:spTree>
    <p:extLst>
      <p:ext uri="{BB962C8B-B14F-4D97-AF65-F5344CB8AC3E}">
        <p14:creationId xmlns:p14="http://schemas.microsoft.com/office/powerpoint/2010/main" val="45385921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FCE0D69-08DB-42B6-86BF-A3691C5B95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2E2AF53-2E78-44C9-A76F-3B7C983FE238}"/>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909FFAB-913A-4297-9E26-1362295B8369}"/>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4315413-B442-4007-8EB0-4D70293A6E6E}"/>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大模型带来新可能，但通用 AI 难以直接承接审计作业</a:t>
            </a:r>
          </a:p>
        </p:txBody>
      </p:sp>
      <p:sp>
        <p:nvSpPr>
          <p:cNvPr id="5" name="">
            <a:extLst xmlns:a="http://schemas.openxmlformats.org/drawingml/2006/main">
              <a:ext uri="{FF2B5EF4-FFF2-40B4-BE49-F238E27FC236}">
                <a16:creationId xmlns:a16="http://schemas.microsoft.com/office/drawing/2014/main" id="{C2F79AAB-A517-47A2-9A5F-1D8095D7E760}"/>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3356EE4C-5480-488B-9889-6AE5370707C0}"/>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把技术门槛立起来：审计 AI 的难点不是模型能力本身，而是模型能否安全、稳定、可追溯地进入真实数据和真实流程。</a:t>
            </a:r>
          </a:p>
        </p:txBody>
      </p:sp>
      <p:sp>
        <p:nvSpPr>
          <p:cNvPr id="7" name="">
            <a:extLst xmlns:a="http://schemas.openxmlformats.org/drawingml/2006/main">
              <a:ext uri="{FF2B5EF4-FFF2-40B4-BE49-F238E27FC236}">
                <a16:creationId xmlns:a16="http://schemas.microsoft.com/office/drawing/2014/main" id="{79E77ECB-EDBC-4C11-AA90-58E50D1E58BA}"/>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3716EDDE-E4A6-42F3-8550-AC6D24106E88}"/>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04</a:t>
            </a:r>
          </a:p>
        </p:txBody>
      </p:sp>
      <p:sp>
        <p:nvSpPr>
          <p:cNvPr id="9" name="">
            <a:extLst xmlns:a="http://schemas.openxmlformats.org/drawingml/2006/main">
              <a:ext uri="{FF2B5EF4-FFF2-40B4-BE49-F238E27FC236}">
                <a16:creationId xmlns:a16="http://schemas.microsoft.com/office/drawing/2014/main" id="{B21DBBD4-3A94-4FFC-BE2F-F522A77DBAAF}"/>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81493231-1CEB-46FC-AEC6-066B201C934B}"/>
              </a:ext>
            </a:extLst>
          </p:cNvPr>
          <p:cNvSpPr>
            <a:spLocks xmlns:a="http://schemas.openxmlformats.org/drawingml/2006/main" noGrp="1"/>
          </p:cNvSpPr>
          <p:nvPr/>
        </p:nvSpPr>
        <p:spPr>
          <a:xfrm xmlns:a="http://schemas.openxmlformats.org/drawingml/2006/main">
            <a:off x="8382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大模型为审计工作带来了新的能力空间：</a:t>
            </a:r>
          </a:p>
        </p:txBody>
      </p:sp>
      <p:sp>
        <p:nvSpPr>
          <p:cNvPr id="11" name="">
            <a:extLst xmlns:a="http://schemas.openxmlformats.org/drawingml/2006/main">
              <a:ext uri="{FF2B5EF4-FFF2-40B4-BE49-F238E27FC236}">
                <a16:creationId xmlns:a16="http://schemas.microsoft.com/office/drawing/2014/main" id="{84135773-7027-4D6E-878B-0C57AA9134B3}"/>
              </a:ext>
            </a:extLst>
          </p:cNvPr>
          <p:cNvSpPr>
            <a:spLocks xmlns:a="http://schemas.openxmlformats.org/drawingml/2006/main" noGrp="1"/>
          </p:cNvSpPr>
          <p:nvPr/>
        </p:nvSpPr>
        <p:spPr>
          <a:xfrm xmlns:a="http://schemas.openxmlformats.org/drawingml/2006/main">
            <a:off x="8382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快速阅读大量资料</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辅助提取关键信息</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理解制度、法规和案例</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生成分析摘要和报告初稿</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通过自然语言降低系统使用门槛</a:t>
            </a:r>
          </a:p>
        </p:txBody>
      </p:sp>
      <p:sp>
        <p:nvSpPr>
          <p:cNvPr id="12" name="">
            <a:extLst xmlns:a="http://schemas.openxmlformats.org/drawingml/2006/main">
              <a:ext uri="{FF2B5EF4-FFF2-40B4-BE49-F238E27FC236}">
                <a16:creationId xmlns:a16="http://schemas.microsoft.com/office/drawing/2014/main" id="{632F7326-B0E5-470B-B719-7F00466CF7AC}"/>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3" name="">
            <a:extLst xmlns:a="http://schemas.openxmlformats.org/drawingml/2006/main">
              <a:ext uri="{FF2B5EF4-FFF2-40B4-BE49-F238E27FC236}">
                <a16:creationId xmlns:a16="http://schemas.microsoft.com/office/drawing/2014/main" id="{C39078DF-90D8-4708-B49E-C13EA6A7C9D4}"/>
              </a:ext>
            </a:extLst>
          </p:cNvPr>
          <p:cNvSpPr>
            <a:spLocks xmlns:a="http://schemas.openxmlformats.org/drawingml/2006/main" noGrp="1"/>
          </p:cNvSpPr>
          <p:nvPr/>
        </p:nvSpPr>
        <p:spPr>
          <a:xfrm xmlns:a="http://schemas.openxmlformats.org/drawingml/2006/main">
            <a:off x="838200" y="321945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但通用 AI 不能直接等同于审计 AI。真实审计场景至少存在四类技术门槛：</a:t>
            </a:r>
          </a:p>
        </p:txBody>
      </p:sp>
      <p:sp>
        <p:nvSpPr>
          <p:cNvPr id="14" name="">
            <a:extLst xmlns:a="http://schemas.openxmlformats.org/drawingml/2006/main">
              <a:ext uri="{FF2B5EF4-FFF2-40B4-BE49-F238E27FC236}">
                <a16:creationId xmlns:a16="http://schemas.microsoft.com/office/drawing/2014/main" id="{7D8A215F-1971-42AA-BDC4-2650E5C4B4C2}"/>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481CBC21-4515-4B82-BC00-5EEC52907977}"/>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安全边界门槛</a:t>
            </a:r>
          </a:p>
        </p:txBody>
      </p:sp>
      <p:sp>
        <p:nvSpPr>
          <p:cNvPr id="16" name="">
            <a:extLst xmlns:a="http://schemas.openxmlformats.org/drawingml/2006/main">
              <a:ext uri="{FF2B5EF4-FFF2-40B4-BE49-F238E27FC236}">
                <a16:creationId xmlns:a16="http://schemas.microsoft.com/office/drawing/2014/main" id="{3E8A6CC1-F3F7-430A-BFA2-F54F9B91D75E}"/>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审计数据涉及财政资金、国有资产、公共资源交易、重大项目、社保医保、企业经营和人员关系等敏感内容，必须满足数据不出域、权限可控制、过程可记录、结果可复核。</a:t>
            </a:r>
          </a:p>
        </p:txBody>
      </p:sp>
      <p:sp>
        <p:nvSpPr>
          <p:cNvPr id="17" name="">
            <a:extLst xmlns:a="http://schemas.openxmlformats.org/drawingml/2006/main">
              <a:ext uri="{FF2B5EF4-FFF2-40B4-BE49-F238E27FC236}">
                <a16:creationId xmlns:a16="http://schemas.microsoft.com/office/drawing/2014/main" id="{1EBEBB95-AF95-473E-87C8-3B9E067DD9AA}"/>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14EE4840-6A38-4F90-908D-00E99A92AB82}"/>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真实数据接入门槛</a:t>
            </a:r>
          </a:p>
        </p:txBody>
      </p:sp>
      <p:sp>
        <p:nvSpPr>
          <p:cNvPr id="19" name="">
            <a:extLst xmlns:a="http://schemas.openxmlformats.org/drawingml/2006/main">
              <a:ext uri="{FF2B5EF4-FFF2-40B4-BE49-F238E27FC236}">
                <a16:creationId xmlns:a16="http://schemas.microsoft.com/office/drawing/2014/main" id="{19E31BD2-2427-4B4B-9045-7AD16C77B457}"/>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如果 AI 不能连接结构化数据库、业务系统、图数据库、文档资料、法规案例库和项目资料，就只能停留在文本问答层面，无法基于真实数据开展审计分析。</a:t>
            </a:r>
          </a:p>
        </p:txBody>
      </p:sp>
      <p:sp>
        <p:nvSpPr>
          <p:cNvPr id="20" name="">
            <a:extLst xmlns:a="http://schemas.openxmlformats.org/drawingml/2006/main">
              <a:ext uri="{FF2B5EF4-FFF2-40B4-BE49-F238E27FC236}">
                <a16:creationId xmlns:a16="http://schemas.microsoft.com/office/drawing/2014/main" id="{37727C0A-6D74-4F31-8033-964F8D83CEB1}"/>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1" name="">
            <a:extLst xmlns:a="http://schemas.openxmlformats.org/drawingml/2006/main">
              <a:ext uri="{FF2B5EF4-FFF2-40B4-BE49-F238E27FC236}">
                <a16:creationId xmlns:a16="http://schemas.microsoft.com/office/drawing/2014/main" id="{A24D5054-C8D2-46BF-86A3-16103222693D}"/>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专业任务执行门槛</a:t>
            </a:r>
          </a:p>
        </p:txBody>
      </p:sp>
      <p:sp>
        <p:nvSpPr>
          <p:cNvPr id="22" name="">
            <a:extLst xmlns:a="http://schemas.openxmlformats.org/drawingml/2006/main">
              <a:ext uri="{FF2B5EF4-FFF2-40B4-BE49-F238E27FC236}">
                <a16:creationId xmlns:a16="http://schemas.microsoft.com/office/drawing/2014/main" id="{3E330039-DEE0-41B2-8291-1F3EF22AE8D0}"/>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审计不是一次问答，而是连续的资料读取、要素抽取、数据探查、关系比对、路径追溯、规则判断和结果生成过程。</a:t>
            </a:r>
          </a:p>
        </p:txBody>
      </p:sp>
      <p:sp>
        <p:nvSpPr>
          <p:cNvPr id="23" name="">
            <a:extLst xmlns:a="http://schemas.openxmlformats.org/drawingml/2006/main">
              <a:ext uri="{FF2B5EF4-FFF2-40B4-BE49-F238E27FC236}">
                <a16:creationId xmlns:a16="http://schemas.microsoft.com/office/drawing/2014/main" id="{37BB12EE-DE45-4A30-BE2D-A9890625A25A}"/>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4" name="">
            <a:extLst xmlns:a="http://schemas.openxmlformats.org/drawingml/2006/main">
              <a:ext uri="{FF2B5EF4-FFF2-40B4-BE49-F238E27FC236}">
                <a16:creationId xmlns:a16="http://schemas.microsoft.com/office/drawing/2014/main" id="{B805F09C-C019-41A3-ABDF-892A0C2DD307}"/>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证据链闭环门槛</a:t>
            </a:r>
          </a:p>
        </p:txBody>
      </p:sp>
      <p:sp>
        <p:nvSpPr>
          <p:cNvPr id="25" name="">
            <a:extLst xmlns:a="http://schemas.openxmlformats.org/drawingml/2006/main">
              <a:ext uri="{FF2B5EF4-FFF2-40B4-BE49-F238E27FC236}">
                <a16:creationId xmlns:a16="http://schemas.microsoft.com/office/drawing/2014/main" id="{CDCD0C6C-D995-4F2D-887B-90841B12ED12}"/>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AI 给出的结论必须能够回到原始资料、原始数据、图谱路径、执行日志和人工复核过程，不能只给一个无法验证的答案。</a:t>
            </a:r>
          </a:p>
        </p:txBody>
      </p:sp>
    </p:spTree>
    <p:extLst>
      <p:ext uri="{BB962C8B-B14F-4D97-AF65-F5344CB8AC3E}">
        <p14:creationId xmlns:p14="http://schemas.microsoft.com/office/powerpoint/2010/main" val="5056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9B024B-49F6-47B7-A574-1B681D8F9EB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0586795-AC92-4E4F-A4C2-B13456192EC5}"/>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6041AFF-7284-46E5-87D2-B802B466DAEF}"/>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3D78698D-0A4E-4852-90FA-DD4DCB0F9E97}"/>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AI + 审计真正要解决的是完整作业链路</a:t>
            </a:r>
          </a:p>
        </p:txBody>
      </p:sp>
      <p:sp>
        <p:nvSpPr>
          <p:cNvPr id="5" name="">
            <a:extLst xmlns:a="http://schemas.openxmlformats.org/drawingml/2006/main">
              <a:ext uri="{FF2B5EF4-FFF2-40B4-BE49-F238E27FC236}">
                <a16:creationId xmlns:a16="http://schemas.microsoft.com/office/drawing/2014/main" id="{D7B918B0-C023-486D-8B4B-81E90702482B}"/>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0D627C2F-EFC2-49D1-8E22-84244AB995D8}"/>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把“传统大数据、通用 AI、AI + 审计”的边界讲清楚，形成后续产品体系的逻辑起点。</a:t>
            </a:r>
          </a:p>
        </p:txBody>
      </p:sp>
      <p:sp>
        <p:nvSpPr>
          <p:cNvPr id="7" name="">
            <a:extLst xmlns:a="http://schemas.openxmlformats.org/drawingml/2006/main">
              <a:ext uri="{FF2B5EF4-FFF2-40B4-BE49-F238E27FC236}">
                <a16:creationId xmlns:a16="http://schemas.microsoft.com/office/drawing/2014/main" id="{5C27FA4B-890B-476A-8F45-91BA9B84D3F8}"/>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F329E51B-7F93-47BE-89FB-80CD5E4A0562}"/>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05</a:t>
            </a:r>
          </a:p>
        </p:txBody>
      </p:sp>
      <p:sp>
        <p:nvSpPr>
          <p:cNvPr id="9" name="">
            <a:extLst xmlns:a="http://schemas.openxmlformats.org/drawingml/2006/main">
              <a:ext uri="{FF2B5EF4-FFF2-40B4-BE49-F238E27FC236}">
                <a16:creationId xmlns:a16="http://schemas.microsoft.com/office/drawing/2014/main" id="{50AFB05B-1DC5-43BE-9248-80E28A4E7020}"/>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CD026EFB-A7CE-4735-ADFA-D2D519FAFF62}"/>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AI + 审计的核心，不是把大模型接入系统，也不是增加一个智能问答入口，而是让 AI 能够进入审计完整作业链路。</a:t>
            </a:r>
          </a:p>
        </p:txBody>
      </p:sp>
      <p:sp>
        <p:nvSpPr>
          <p:cNvPr id="11" name="">
            <a:extLst xmlns:a="http://schemas.openxmlformats.org/drawingml/2006/main">
              <a:ext uri="{FF2B5EF4-FFF2-40B4-BE49-F238E27FC236}">
                <a16:creationId xmlns:a16="http://schemas.microsoft.com/office/drawing/2014/main" id="{6E288598-E213-438E-8D16-2D2FD7501747}"/>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9878296E-7E05-4E61-B660-A4D3EB01A7F3}"/>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传统大数据解决的是“跑数”</a:t>
            </a:r>
          </a:p>
        </p:txBody>
      </p:sp>
      <p:sp>
        <p:nvSpPr>
          <p:cNvPr id="13" name="">
            <a:extLst xmlns:a="http://schemas.openxmlformats.org/drawingml/2006/main">
              <a:ext uri="{FF2B5EF4-FFF2-40B4-BE49-F238E27FC236}">
                <a16:creationId xmlns:a16="http://schemas.microsoft.com/office/drawing/2014/main" id="{15F38EFA-16FE-48A3-B2EF-B48E3C7C6DF4}"/>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依赖人工理解字段、编写 SQL、维护规则和脚本，适合处理明确口径下的数据查询、指标统计和规则筛查。</a:t>
            </a:r>
          </a:p>
        </p:txBody>
      </p:sp>
      <p:sp>
        <p:nvSpPr>
          <p:cNvPr id="14" name="">
            <a:extLst xmlns:a="http://schemas.openxmlformats.org/drawingml/2006/main">
              <a:ext uri="{FF2B5EF4-FFF2-40B4-BE49-F238E27FC236}">
                <a16:creationId xmlns:a16="http://schemas.microsoft.com/office/drawing/2014/main" id="{6CE62432-5180-4156-9559-1C10471D338A}"/>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33EF776E-C985-4571-88DA-9F42DA4AA3A5}"/>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通用 AI 解决的是“问答”</a:t>
            </a:r>
          </a:p>
        </p:txBody>
      </p:sp>
      <p:sp>
        <p:nvSpPr>
          <p:cNvPr id="16" name="">
            <a:extLst xmlns:a="http://schemas.openxmlformats.org/drawingml/2006/main">
              <a:ext uri="{FF2B5EF4-FFF2-40B4-BE49-F238E27FC236}">
                <a16:creationId xmlns:a16="http://schemas.microsoft.com/office/drawing/2014/main" id="{71AAA997-3E7F-4DE2-A187-2CE8473A2B32}"/>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擅长文本理解、资料总结、知识问答和内容生成，但缺少对真实审计数据、审计流程和审计证据链的深度承接。</a:t>
            </a:r>
          </a:p>
        </p:txBody>
      </p:sp>
      <p:sp>
        <p:nvSpPr>
          <p:cNvPr id="17" name="">
            <a:extLst xmlns:a="http://schemas.openxmlformats.org/drawingml/2006/main">
              <a:ext uri="{FF2B5EF4-FFF2-40B4-BE49-F238E27FC236}">
                <a16:creationId xmlns:a16="http://schemas.microsoft.com/office/drawing/2014/main" id="{0532F7DB-7476-4AC4-99FF-C212A8EB8CB7}"/>
              </a:ext>
            </a:extLst>
          </p:cNvPr>
          <p:cNvSpPr>
            <a:spLocks xmlns:a="http://schemas.openxmlformats.org/drawingml/2006/main" noGrp="1"/>
          </p:cNvSpPr>
          <p:nvPr/>
        </p:nvSpPr>
        <p:spPr>
          <a:xfrm xmlns:a="http://schemas.openxmlformats.org/drawingml/2006/main">
            <a:off x="6858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CB48430C-2A57-45F7-8EAE-0680892CD356}"/>
              </a:ext>
            </a:extLst>
          </p:cNvPr>
          <p:cNvSpPr>
            <a:spLocks xmlns:a="http://schemas.openxmlformats.org/drawingml/2006/main" noGrp="1"/>
          </p:cNvSpPr>
          <p:nvPr/>
        </p:nvSpPr>
        <p:spPr>
          <a:xfrm xmlns:a="http://schemas.openxmlformats.org/drawingml/2006/main">
            <a:off x="838200" y="516255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AI + 审计真正要解决的是“从数据到任务的闭环”</a:t>
            </a:r>
          </a:p>
        </p:txBody>
      </p:sp>
      <p:sp>
        <p:nvSpPr>
          <p:cNvPr id="19" name="">
            <a:extLst xmlns:a="http://schemas.openxmlformats.org/drawingml/2006/main">
              <a:ext uri="{FF2B5EF4-FFF2-40B4-BE49-F238E27FC236}">
                <a16:creationId xmlns:a16="http://schemas.microsoft.com/office/drawing/2014/main" id="{5A89635F-429A-4881-857D-FA78A505D726}"/>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0" name="">
            <a:extLst xmlns:a="http://schemas.openxmlformats.org/drawingml/2006/main">
              <a:ext uri="{FF2B5EF4-FFF2-40B4-BE49-F238E27FC236}">
                <a16:creationId xmlns:a16="http://schemas.microsoft.com/office/drawing/2014/main" id="{4E472C14-8686-4798-9398-DDF2F5A85D51}"/>
              </a:ext>
            </a:extLst>
          </p:cNvPr>
          <p:cNvSpPr>
            <a:spLocks xmlns:a="http://schemas.openxmlformats.org/drawingml/2006/main" noGrp="1"/>
          </p:cNvSpPr>
          <p:nvPr/>
        </p:nvSpPr>
        <p:spPr>
          <a:xfrm xmlns:a="http://schemas.openxmlformats.org/drawingml/2006/main">
            <a:off x="64389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1. 数据理解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让 AI 理解字段、资料、实体、指标、制度和业务语义。</a:t>
            </a:r>
          </a:p>
        </p:txBody>
      </p:sp>
      <p:sp>
        <p:nvSpPr>
          <p:cNvPr id="21" name="">
            <a:extLst xmlns:a="http://schemas.openxmlformats.org/drawingml/2006/main">
              <a:ext uri="{FF2B5EF4-FFF2-40B4-BE49-F238E27FC236}">
                <a16:creationId xmlns:a16="http://schemas.microsoft.com/office/drawing/2014/main" id="{88A9C3B1-3B10-4185-8F43-978BE8AA326E}"/>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3C4EB559-842C-49CD-BA2B-6A3CE0704FE1}"/>
              </a:ext>
            </a:extLst>
          </p:cNvPr>
          <p:cNvSpPr>
            <a:spLocks xmlns:a="http://schemas.openxmlformats.org/drawingml/2006/main" noGrp="1"/>
          </p:cNvSpPr>
          <p:nvPr/>
        </p:nvSpPr>
        <p:spPr>
          <a:xfrm xmlns:a="http://schemas.openxmlformats.org/drawingml/2006/main">
            <a:off x="6438900" y="321945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2. 关系发现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让 AI 发现人员、企业、单位、项目、资金、票据之间的显性关系和隐含关系。</a:t>
            </a:r>
          </a:p>
        </p:txBody>
      </p:sp>
      <p:sp>
        <p:nvSpPr>
          <p:cNvPr id="23" name="">
            <a:extLst xmlns:a="http://schemas.openxmlformats.org/drawingml/2006/main">
              <a:ext uri="{FF2B5EF4-FFF2-40B4-BE49-F238E27FC236}">
                <a16:creationId xmlns:a16="http://schemas.microsoft.com/office/drawing/2014/main" id="{131AF53C-79DA-40E7-AF8B-170388D51918}"/>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4" name="">
            <a:extLst xmlns:a="http://schemas.openxmlformats.org/drawingml/2006/main">
              <a:ext uri="{FF2B5EF4-FFF2-40B4-BE49-F238E27FC236}">
                <a16:creationId xmlns:a16="http://schemas.microsoft.com/office/drawing/2014/main" id="{8EB3430C-10A3-49E4-84F2-0CC11D204127}"/>
              </a:ext>
            </a:extLst>
          </p:cNvPr>
          <p:cNvSpPr>
            <a:spLocks xmlns:a="http://schemas.openxmlformats.org/drawingml/2006/main" noGrp="1"/>
          </p:cNvSpPr>
          <p:nvPr/>
        </p:nvSpPr>
        <p:spPr>
          <a:xfrm xmlns:a="http://schemas.openxmlformats.org/drawingml/2006/main">
            <a:off x="6438900" y="41910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3. 任务执行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让 AI 围绕审计目标执行探查、抽取、比对、核验、追溯、定性辅助和结果生成。</a:t>
            </a:r>
          </a:p>
        </p:txBody>
      </p:sp>
      <p:sp>
        <p:nvSpPr>
          <p:cNvPr id="25" name="">
            <a:extLst xmlns:a="http://schemas.openxmlformats.org/drawingml/2006/main">
              <a:ext uri="{FF2B5EF4-FFF2-40B4-BE49-F238E27FC236}">
                <a16:creationId xmlns:a16="http://schemas.microsoft.com/office/drawing/2014/main" id="{2BD6D447-6582-4FA6-AE58-A7DDA8DC932D}"/>
              </a:ext>
            </a:extLst>
          </p:cNvPr>
          <p:cNvSpPr>
            <a:spLocks xmlns:a="http://schemas.openxmlformats.org/drawingml/2006/main" noGrp="1"/>
          </p:cNvSpPr>
          <p:nvPr/>
        </p:nvSpPr>
        <p:spPr>
          <a:xfrm xmlns:a="http://schemas.openxmlformats.org/drawingml/2006/main">
            <a:off x="62865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6" name="">
            <a:extLst xmlns:a="http://schemas.openxmlformats.org/drawingml/2006/main">
              <a:ext uri="{FF2B5EF4-FFF2-40B4-BE49-F238E27FC236}">
                <a16:creationId xmlns:a16="http://schemas.microsoft.com/office/drawing/2014/main" id="{6322D1DA-146E-4661-A544-EE672BC5D6C1}"/>
              </a:ext>
            </a:extLst>
          </p:cNvPr>
          <p:cNvSpPr>
            <a:spLocks xmlns:a="http://schemas.openxmlformats.org/drawingml/2006/main" noGrp="1"/>
          </p:cNvSpPr>
          <p:nvPr/>
        </p:nvSpPr>
        <p:spPr>
          <a:xfrm xmlns:a="http://schemas.openxmlformats.org/drawingml/2006/main">
            <a:off x="6438900" y="516255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4. 证据复核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让 AI 结论能够回到原始资料、原始数据、图谱路径、SQL 取证语句和任务执行记录。</a:t>
            </a:r>
          </a:p>
        </p:txBody>
      </p:sp>
    </p:spTree>
    <p:extLst>
      <p:ext uri="{BB962C8B-B14F-4D97-AF65-F5344CB8AC3E}">
        <p14:creationId xmlns:p14="http://schemas.microsoft.com/office/powerpoint/2010/main" val="118543634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5E3573-FF8B-465C-A134-D92ADB805B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96910E5-3FAD-4A51-84BB-A54B56A2E719}"/>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44B3837-B12A-48C7-BC91-C8D045F18D1F}"/>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3161145-97E4-4727-9875-48F5D424B9FC}"/>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我们的解法：AI 原生审计产品体系</a:t>
            </a:r>
          </a:p>
        </p:txBody>
      </p:sp>
      <p:sp>
        <p:nvSpPr>
          <p:cNvPr id="5" name="">
            <a:extLst xmlns:a="http://schemas.openxmlformats.org/drawingml/2006/main">
              <a:ext uri="{FF2B5EF4-FFF2-40B4-BE49-F238E27FC236}">
                <a16:creationId xmlns:a16="http://schemas.microsoft.com/office/drawing/2014/main" id="{FCCB5684-D90D-4795-B916-88FC487748E6}"/>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2199349A-ED4C-408C-A93B-58B11142F49D}"/>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说明产品体系的设计原则：不是外接 AI，而是围绕审计链路重组数据、图谱、智能体和工作台。</a:t>
            </a:r>
          </a:p>
        </p:txBody>
      </p:sp>
      <p:sp>
        <p:nvSpPr>
          <p:cNvPr id="7" name="">
            <a:extLst xmlns:a="http://schemas.openxmlformats.org/drawingml/2006/main">
              <a:ext uri="{FF2B5EF4-FFF2-40B4-BE49-F238E27FC236}">
                <a16:creationId xmlns:a16="http://schemas.microsoft.com/office/drawing/2014/main" id="{D5A774D3-17BE-476C-AF53-304C12DE98DD}"/>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96F53ECD-F946-460B-8ACD-DAC02EFFDE2B}"/>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06</a:t>
            </a:r>
          </a:p>
        </p:txBody>
      </p:sp>
      <p:sp>
        <p:nvSpPr>
          <p:cNvPr id="9" name="">
            <a:extLst xmlns:a="http://schemas.openxmlformats.org/drawingml/2006/main">
              <a:ext uri="{FF2B5EF4-FFF2-40B4-BE49-F238E27FC236}">
                <a16:creationId xmlns:a16="http://schemas.microsoft.com/office/drawing/2014/main" id="{C4356975-C5F4-4211-874A-1A85F92DC1D8}"/>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F61F2941-22B2-41B8-B880-400A29D1E62D}"/>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我们的解法，不是在传统系统外层增加一个 AI 问答入口，也不是从通用 AI 能力反推审计应用，而是围绕审计作业链路，重新组织数据、智能体、图谱和综合分析能力。</a:t>
            </a:r>
          </a:p>
        </p:txBody>
      </p:sp>
      <p:sp>
        <p:nvSpPr>
          <p:cNvPr id="11" name="">
            <a:extLst xmlns:a="http://schemas.openxmlformats.org/drawingml/2006/main">
              <a:ext uri="{FF2B5EF4-FFF2-40B4-BE49-F238E27FC236}">
                <a16:creationId xmlns:a16="http://schemas.microsoft.com/office/drawing/2014/main" id="{177FD4F2-62E9-4CB1-BBF5-A657057FBF92}"/>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3D8E1589-669C-4CF7-BB6E-89ACF6A4EA08}"/>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这套产品体系围绕三类核心问题展开：</a:t>
            </a:r>
          </a:p>
        </p:txBody>
      </p:sp>
      <p:sp>
        <p:nvSpPr>
          <p:cNvPr id="13" name="">
            <a:extLst xmlns:a="http://schemas.openxmlformats.org/drawingml/2006/main">
              <a:ext uri="{FF2B5EF4-FFF2-40B4-BE49-F238E27FC236}">
                <a16:creationId xmlns:a16="http://schemas.microsoft.com/office/drawing/2014/main" id="{CAA7C59C-42B3-45EE-938F-6E291DE3586B}"/>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如何避免大模型幻觉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通过原文引用、数据溯源、图谱路径、SQL 语句、任务过程记录和人工复核机制，让 AI 结论具备可追溯、可验证、可复核的依据链条。</a:t>
            </a:r>
          </a:p>
        </p:txBody>
      </p:sp>
      <p:sp>
        <p:nvSpPr>
          <p:cNvPr id="14" name="">
            <a:extLst xmlns:a="http://schemas.openxmlformats.org/drawingml/2006/main">
              <a:ext uri="{FF2B5EF4-FFF2-40B4-BE49-F238E27FC236}">
                <a16:creationId xmlns:a16="http://schemas.microsoft.com/office/drawing/2014/main" id="{BFD5D8CE-7612-4CF5-BE29-E6203908A749}"/>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A1F73C12-4004-4D38-A54C-BCCD37A0429F}"/>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如何让大模型具备审计思路</a:t>
            </a:r>
          </a:p>
        </p:txBody>
      </p:sp>
      <p:sp>
        <p:nvSpPr>
          <p:cNvPr id="16" name="">
            <a:extLst xmlns:a="http://schemas.openxmlformats.org/drawingml/2006/main">
              <a:ext uri="{FF2B5EF4-FFF2-40B4-BE49-F238E27FC236}">
                <a16:creationId xmlns:a16="http://schemas.microsoft.com/office/drawing/2014/main" id="{1DF1D1BD-6082-44F0-BF49-A9C5087D792E}"/>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将审计人员的核查路径、判断规则、分析步骤、资料调用方式和经验方法，转化为智能体、技能、模板和应用，使 AI 不只是回答问题，而是按照审计逻辑执行任务。</a:t>
            </a:r>
          </a:p>
        </p:txBody>
      </p:sp>
      <p:sp>
        <p:nvSpPr>
          <p:cNvPr id="17" name="">
            <a:extLst xmlns:a="http://schemas.openxmlformats.org/drawingml/2006/main">
              <a:ext uri="{FF2B5EF4-FFF2-40B4-BE49-F238E27FC236}">
                <a16:creationId xmlns:a16="http://schemas.microsoft.com/office/drawing/2014/main" id="{153AC1EB-21C9-4FB6-98D2-EE8E3AC0CBF1}"/>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5FECF33D-5F47-4D43-AE1B-78F50210A454}"/>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如何让大模型与审计人员协作</a:t>
            </a:r>
          </a:p>
        </p:txBody>
      </p:sp>
      <p:sp>
        <p:nvSpPr>
          <p:cNvPr id="19" name="">
            <a:extLst xmlns:a="http://schemas.openxmlformats.org/drawingml/2006/main">
              <a:ext uri="{FF2B5EF4-FFF2-40B4-BE49-F238E27FC236}">
                <a16:creationId xmlns:a16="http://schemas.microsoft.com/office/drawing/2014/main" id="{F452B007-673A-4A71-8239-8084B14B6847}"/>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通过项目工作台、任务过程展示、结果明细、证据复核和能力沉淀，让 AI 处理高频重复工作，让审计人员聚焦疑点判断、问题定性、证据把关和管理建议。</a:t>
            </a:r>
          </a:p>
        </p:txBody>
      </p:sp>
      <p:sp>
        <p:nvSpPr>
          <p:cNvPr id="20" name="">
            <a:extLst xmlns:a="http://schemas.openxmlformats.org/drawingml/2006/main">
              <a:ext uri="{FF2B5EF4-FFF2-40B4-BE49-F238E27FC236}">
                <a16:creationId xmlns:a16="http://schemas.microsoft.com/office/drawing/2014/main" id="{90697EE6-97D6-461F-A5E3-057EF41057C7}"/>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1" name="">
            <a:extLst xmlns:a="http://schemas.openxmlformats.org/drawingml/2006/main">
              <a:ext uri="{FF2B5EF4-FFF2-40B4-BE49-F238E27FC236}">
                <a16:creationId xmlns:a16="http://schemas.microsoft.com/office/drawing/2014/main" id="{919AACF2-2F48-44DD-8912-D29CD8E5BD44}"/>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产品体系的底层设计原则：</a:t>
            </a:r>
          </a:p>
        </p:txBody>
      </p:sp>
      <p:sp>
        <p:nvSpPr>
          <p:cNvPr id="22" name="">
            <a:extLst xmlns:a="http://schemas.openxmlformats.org/drawingml/2006/main">
              <a:ext uri="{FF2B5EF4-FFF2-40B4-BE49-F238E27FC236}">
                <a16:creationId xmlns:a16="http://schemas.microsoft.com/office/drawing/2014/main" id="{F81DC383-7BB0-424E-BED0-CADE75755D12}"/>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数据在域内，权限可控</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模型可替换，能力可编排</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任务可监控，过程可追溯</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结果有依据，结论可复核</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经验可沉淀，能力可复用</a:t>
            </a:r>
          </a:p>
        </p:txBody>
      </p:sp>
    </p:spTree>
    <p:extLst>
      <p:ext uri="{BB962C8B-B14F-4D97-AF65-F5344CB8AC3E}">
        <p14:creationId xmlns:p14="http://schemas.microsoft.com/office/powerpoint/2010/main" val="152288671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1B96198-83DD-47B3-9A74-63474A52A8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A4D7C9D-7974-494B-BFF4-EE5534353DDA}"/>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C885E20-2C97-4FBA-A3CA-FB89AB38EA6B}"/>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4940D03-A92D-4543-BEA7-F865AAEFAF9C}"/>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解法路径：连接存量数据、实际业务与智能体能力</a:t>
            </a:r>
          </a:p>
        </p:txBody>
      </p:sp>
      <p:sp>
        <p:nvSpPr>
          <p:cNvPr id="5" name="">
            <a:extLst xmlns:a="http://schemas.openxmlformats.org/drawingml/2006/main">
              <a:ext uri="{FF2B5EF4-FFF2-40B4-BE49-F238E27FC236}">
                <a16:creationId xmlns:a16="http://schemas.microsoft.com/office/drawing/2014/main" id="{4EE1BB8A-3B1F-457C-A6FD-E21E0DFEE327}"/>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29C6597B-90F8-4DF9-85DC-CA0F48FEEABD}"/>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面向传统政务数据厂商，明确合作姿态：不重复建设数据底座，而是在既有数据基础上建设 AI 增量能力层。</a:t>
            </a:r>
          </a:p>
        </p:txBody>
      </p:sp>
      <p:sp>
        <p:nvSpPr>
          <p:cNvPr id="7" name="">
            <a:extLst xmlns:a="http://schemas.openxmlformats.org/drawingml/2006/main">
              <a:ext uri="{FF2B5EF4-FFF2-40B4-BE49-F238E27FC236}">
                <a16:creationId xmlns:a16="http://schemas.microsoft.com/office/drawing/2014/main" id="{29AC5BA8-0F73-4EFC-BCC6-DA5AC58A722A}"/>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60966B52-7C6C-4DD3-9671-34D015056542}"/>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07</a:t>
            </a:r>
          </a:p>
        </p:txBody>
      </p:sp>
      <p:sp>
        <p:nvSpPr>
          <p:cNvPr id="9" name="">
            <a:extLst xmlns:a="http://schemas.openxmlformats.org/drawingml/2006/main">
              <a:ext uri="{FF2B5EF4-FFF2-40B4-BE49-F238E27FC236}">
                <a16:creationId xmlns:a16="http://schemas.microsoft.com/office/drawing/2014/main" id="{F1FDF431-64FC-4855-A8FE-D90E24597D77}"/>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76CC3D43-85BA-48A0-85E7-205B683A81F8}"/>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在具体路径上，我们不替代现有业务系统，也不重复建设传统数据平台，而是在审计机关已有数据、资料、系统和知识基础上，建立“存量数据 - 实际业务 - 智能体能力”之间的桥梁。</a:t>
            </a:r>
          </a:p>
        </p:txBody>
      </p:sp>
      <p:sp>
        <p:nvSpPr>
          <p:cNvPr id="11" name="">
            <a:extLst xmlns:a="http://schemas.openxmlformats.org/drawingml/2006/main">
              <a:ext uri="{FF2B5EF4-FFF2-40B4-BE49-F238E27FC236}">
                <a16:creationId xmlns:a16="http://schemas.microsoft.com/office/drawing/2014/main" id="{C906A9E6-8E77-446E-9D3B-21A06D81CB6C}"/>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B2321FF6-F5ED-4500-8731-FF21309C78E6}"/>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已有基础：政务数据与审计数据底座</a:t>
            </a:r>
          </a:p>
        </p:txBody>
      </p:sp>
      <p:sp>
        <p:nvSpPr>
          <p:cNvPr id="13" name="">
            <a:extLst xmlns:a="http://schemas.openxmlformats.org/drawingml/2006/main">
              <a:ext uri="{FF2B5EF4-FFF2-40B4-BE49-F238E27FC236}">
                <a16:creationId xmlns:a16="http://schemas.microsoft.com/office/drawing/2014/main" id="{9C2FA3A5-0D07-464F-9CBE-F6AB106C561B}"/>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包括数据归集、数据目录、库表管理、指标模型、专题分析、业务系统和审计项目资料。</a:t>
            </a:r>
          </a:p>
        </p:txBody>
      </p:sp>
      <p:sp>
        <p:nvSpPr>
          <p:cNvPr id="14" name="">
            <a:extLst xmlns:a="http://schemas.openxmlformats.org/drawingml/2006/main">
              <a:ext uri="{FF2B5EF4-FFF2-40B4-BE49-F238E27FC236}">
                <a16:creationId xmlns:a16="http://schemas.microsoft.com/office/drawing/2014/main" id="{326429B3-C58F-41D3-990E-83B2BB759933}"/>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1B83CB37-6001-4DA0-9D01-3DBB226F83EC}"/>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增量能力一：AI 数据理解层</a:t>
            </a:r>
          </a:p>
        </p:txBody>
      </p:sp>
      <p:sp>
        <p:nvSpPr>
          <p:cNvPr id="16" name="">
            <a:extLst xmlns:a="http://schemas.openxmlformats.org/drawingml/2006/main">
              <a:ext uri="{FF2B5EF4-FFF2-40B4-BE49-F238E27FC236}">
                <a16:creationId xmlns:a16="http://schemas.microsoft.com/office/drawing/2014/main" id="{C7A2A2B9-7A7F-487B-B9EB-8330A378FF52}"/>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通过数据漫游、字段语义识别、文档解析、实体识别和结构化抽取，让数据和资料能够被 AI 稳定调用。</a:t>
            </a:r>
          </a:p>
        </p:txBody>
      </p:sp>
      <p:sp>
        <p:nvSpPr>
          <p:cNvPr id="17" name="">
            <a:extLst xmlns:a="http://schemas.openxmlformats.org/drawingml/2006/main">
              <a:ext uri="{FF2B5EF4-FFF2-40B4-BE49-F238E27FC236}">
                <a16:creationId xmlns:a16="http://schemas.microsoft.com/office/drawing/2014/main" id="{0B06DF2F-7657-479F-90D7-E7D5FDD89CAD}"/>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3FDB2FC3-F853-4574-9468-E8FE8756E2ED}"/>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增量能力二：图谱关系贯通层</a:t>
            </a:r>
          </a:p>
        </p:txBody>
      </p:sp>
      <p:sp>
        <p:nvSpPr>
          <p:cNvPr id="19" name="">
            <a:extLst xmlns:a="http://schemas.openxmlformats.org/drawingml/2006/main">
              <a:ext uri="{FF2B5EF4-FFF2-40B4-BE49-F238E27FC236}">
                <a16:creationId xmlns:a16="http://schemas.microsoft.com/office/drawing/2014/main" id="{A4942093-87B9-4283-BA65-4B86BBDC73BB}"/>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围绕人、企、单位、项目、资金、合同、发票等对象，建立跨系统、跨表、跨资料的关系网络。</a:t>
            </a:r>
          </a:p>
        </p:txBody>
      </p:sp>
      <p:sp>
        <p:nvSpPr>
          <p:cNvPr id="20" name="">
            <a:extLst xmlns:a="http://schemas.openxmlformats.org/drawingml/2006/main">
              <a:ext uri="{FF2B5EF4-FFF2-40B4-BE49-F238E27FC236}">
                <a16:creationId xmlns:a16="http://schemas.microsoft.com/office/drawing/2014/main" id="{44B0DCBD-7AD7-4BF9-973A-C6BFFB16FBC3}"/>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1" name="">
            <a:extLst xmlns:a="http://schemas.openxmlformats.org/drawingml/2006/main">
              <a:ext uri="{FF2B5EF4-FFF2-40B4-BE49-F238E27FC236}">
                <a16:creationId xmlns:a16="http://schemas.microsoft.com/office/drawing/2014/main" id="{6635BC33-90D3-4697-9E14-FBC6AB7E4565}"/>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增量能力三：智能审计作业层</a:t>
            </a:r>
          </a:p>
        </p:txBody>
      </p:sp>
      <p:sp>
        <p:nvSpPr>
          <p:cNvPr id="22" name="">
            <a:extLst xmlns:a="http://schemas.openxmlformats.org/drawingml/2006/main">
              <a:ext uri="{FF2B5EF4-FFF2-40B4-BE49-F238E27FC236}">
                <a16:creationId xmlns:a16="http://schemas.microsoft.com/office/drawing/2014/main" id="{D7721C01-6F90-4E98-B8C6-0E731F568E78}"/>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把审计规则、核查路径和专家经验封装为智能体、技能、任务和应用，支撑批量核查、证据复核和成果沉淀。</a:t>
            </a:r>
          </a:p>
        </p:txBody>
      </p:sp>
      <p:sp>
        <p:nvSpPr>
          <p:cNvPr id="23" name="">
            <a:extLst xmlns:a="http://schemas.openxmlformats.org/drawingml/2006/main">
              <a:ext uri="{FF2B5EF4-FFF2-40B4-BE49-F238E27FC236}">
                <a16:creationId xmlns:a16="http://schemas.microsoft.com/office/drawing/2014/main" id="{3C236A91-8DDA-44EB-9375-EC9ACCBC90C1}"/>
              </a:ext>
            </a:extLst>
          </p:cNvPr>
          <p:cNvSpPr>
            <a:spLocks xmlns:a="http://schemas.openxmlformats.org/drawingml/2006/main" noGrp="1"/>
          </p:cNvSpPr>
          <p:nvPr/>
        </p:nvSpPr>
        <p:spPr>
          <a:xfrm xmlns:a="http://schemas.openxmlformats.org/drawingml/2006/main">
            <a:off x="6286500" y="4038600"/>
            <a:ext cx="5219700" cy="888111"/>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4" name="">
            <a:extLst xmlns:a="http://schemas.openxmlformats.org/drawingml/2006/main">
              <a:ext uri="{FF2B5EF4-FFF2-40B4-BE49-F238E27FC236}">
                <a16:creationId xmlns:a16="http://schemas.microsoft.com/office/drawing/2014/main" id="{60050664-99DA-47E3-869B-AF7101090093}"/>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这套产品体系重点解决五类问题：</a:t>
            </a:r>
          </a:p>
        </p:txBody>
      </p:sp>
      <p:sp>
        <p:nvSpPr>
          <p:cNvPr id="25" name="">
            <a:extLst xmlns:a="http://schemas.openxmlformats.org/drawingml/2006/main">
              <a:ext uri="{FF2B5EF4-FFF2-40B4-BE49-F238E27FC236}">
                <a16:creationId xmlns:a16="http://schemas.microsoft.com/office/drawing/2014/main" id="{F1A6353B-7D64-4840-B932-4799ECEB3119}"/>
              </a:ext>
            </a:extLst>
          </p:cNvPr>
          <p:cNvSpPr>
            <a:spLocks xmlns:a="http://schemas.openxmlformats.org/drawingml/2006/main" noGrp="1"/>
          </p:cNvSpPr>
          <p:nvPr/>
        </p:nvSpPr>
        <p:spPr>
          <a:xfrm xmlns:a="http://schemas.openxmlformats.org/drawingml/2006/main">
            <a:off x="6438900" y="4419600"/>
            <a:ext cx="4914900" cy="411861"/>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海量非结构化资料的数据治理</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多源数据贯通与隐含价值挖掘</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人、企、单位、项目、资金图谱搭建与疑点挖掘</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大批量审计核查任务自动化执行</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审计思路沉淀与团队共享</a:t>
            </a:r>
          </a:p>
        </p:txBody>
      </p:sp>
    </p:spTree>
    <p:extLst>
      <p:ext uri="{BB962C8B-B14F-4D97-AF65-F5344CB8AC3E}">
        <p14:creationId xmlns:p14="http://schemas.microsoft.com/office/powerpoint/2010/main" val="2564921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9EE3238-F80D-4FEE-8143-8628E982A1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917A5A9-4A91-41A6-80DB-51C1FB984812}"/>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C148EE1-ADE6-46C5-8C9D-CA2088808CE2}"/>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3E2E65E-BBCD-45F0-9B5A-DD4DFDBD912E}"/>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本章收束：从单点工具走向 AI 原生审计技术体系</a:t>
            </a:r>
          </a:p>
        </p:txBody>
      </p:sp>
      <p:sp>
        <p:nvSpPr>
          <p:cNvPr id="5" name="">
            <a:extLst xmlns:a="http://schemas.openxmlformats.org/drawingml/2006/main">
              <a:ext uri="{FF2B5EF4-FFF2-40B4-BE49-F238E27FC236}">
                <a16:creationId xmlns:a16="http://schemas.microsoft.com/office/drawing/2014/main" id="{69A1D533-1893-415A-8D9B-76A30481C8EB}"/>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E05FFEB2-ED2B-44E8-9807-B08A58E5AFFF}"/>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把第一章收束成体系化结论，为后续“3+1”产品底座铺垫。</a:t>
            </a:r>
          </a:p>
        </p:txBody>
      </p:sp>
      <p:sp>
        <p:nvSpPr>
          <p:cNvPr id="7" name="">
            <a:extLst xmlns:a="http://schemas.openxmlformats.org/drawingml/2006/main">
              <a:ext uri="{FF2B5EF4-FFF2-40B4-BE49-F238E27FC236}">
                <a16:creationId xmlns:a16="http://schemas.microsoft.com/office/drawing/2014/main" id="{D400F2EC-C0CA-4C0D-A023-3CC661FD09FD}"/>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88A00222-8604-40BD-BF27-8564B9EB91ED}"/>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08</a:t>
            </a:r>
          </a:p>
        </p:txBody>
      </p:sp>
      <p:sp>
        <p:nvSpPr>
          <p:cNvPr id="9" name="">
            <a:extLst xmlns:a="http://schemas.openxmlformats.org/drawingml/2006/main">
              <a:ext uri="{FF2B5EF4-FFF2-40B4-BE49-F238E27FC236}">
                <a16:creationId xmlns:a16="http://schemas.microsoft.com/office/drawing/2014/main" id="{FF00DFFD-55E3-48BE-B06E-36C9543D194B}"/>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7758118C-97BB-4E75-91E6-82426F081F3A}"/>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因此，AI + 审计的核心不是单点工具能力，而是形成一套可持续演进的技术体系和产品体系。</a:t>
            </a:r>
          </a:p>
        </p:txBody>
      </p:sp>
      <p:sp>
        <p:nvSpPr>
          <p:cNvPr id="11" name="">
            <a:extLst xmlns:a="http://schemas.openxmlformats.org/drawingml/2006/main">
              <a:ext uri="{FF2B5EF4-FFF2-40B4-BE49-F238E27FC236}">
                <a16:creationId xmlns:a16="http://schemas.microsoft.com/office/drawing/2014/main" id="{ECD9BDF9-E947-4404-B557-246F8AFBF9CD}"/>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302B0418-20BF-40FA-8D56-643DB6580BD0}"/>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从单点工具到体系化能力：</a:t>
            </a:r>
          </a:p>
        </p:txBody>
      </p:sp>
      <p:sp>
        <p:nvSpPr>
          <p:cNvPr id="13" name="">
            <a:extLst xmlns:a="http://schemas.openxmlformats.org/drawingml/2006/main">
              <a:ext uri="{FF2B5EF4-FFF2-40B4-BE49-F238E27FC236}">
                <a16:creationId xmlns:a16="http://schemas.microsoft.com/office/drawing/2014/main" id="{66C72F54-49A1-411B-91D6-ABD17F50D3BB}"/>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从 AI 问答 → 智能体任务执行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AI 不只是回答问题，而是能够调用资料、数据库、图谱和工具，围绕审计目标执行多步骤任务。</a:t>
            </a:r>
          </a:p>
        </p:txBody>
      </p:sp>
      <p:sp>
        <p:nvSpPr>
          <p:cNvPr id="14" name="">
            <a:extLst xmlns:a="http://schemas.openxmlformats.org/drawingml/2006/main">
              <a:ext uri="{FF2B5EF4-FFF2-40B4-BE49-F238E27FC236}">
                <a16:creationId xmlns:a16="http://schemas.microsoft.com/office/drawing/2014/main" id="{8D445974-B5C1-43B4-9211-0F135F1B4D78}"/>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D5856020-5290-4642-AC91-28E5513D9AD2}"/>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从数据查询 → 数据理解与关系发现</a:t>
            </a:r>
          </a:p>
        </p:txBody>
      </p:sp>
      <p:sp>
        <p:nvSpPr>
          <p:cNvPr id="16" name="">
            <a:extLst xmlns:a="http://schemas.openxmlformats.org/drawingml/2006/main">
              <a:ext uri="{FF2B5EF4-FFF2-40B4-BE49-F238E27FC236}">
                <a16:creationId xmlns:a16="http://schemas.microsoft.com/office/drawing/2014/main" id="{C0B473B1-501E-4863-84AB-1742D9CF7E76}"/>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系统不只是查表和跑数，而是理解字段、识别实体、发现关系，并将数据转化为可分析资产。</a:t>
            </a:r>
          </a:p>
        </p:txBody>
      </p:sp>
      <p:sp>
        <p:nvSpPr>
          <p:cNvPr id="17" name="">
            <a:extLst xmlns:a="http://schemas.openxmlformats.org/drawingml/2006/main">
              <a:ext uri="{FF2B5EF4-FFF2-40B4-BE49-F238E27FC236}">
                <a16:creationId xmlns:a16="http://schemas.microsoft.com/office/drawing/2014/main" id="{CFDEEDD6-9451-45C6-B469-B19590A7652C}"/>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BEB303D9-EB59-424E-8DCE-29558C020DBE}"/>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从单次分析 → 证据复核与成果沉淀</a:t>
            </a:r>
          </a:p>
        </p:txBody>
      </p:sp>
      <p:sp>
        <p:nvSpPr>
          <p:cNvPr id="19" name="">
            <a:extLst xmlns:a="http://schemas.openxmlformats.org/drawingml/2006/main">
              <a:ext uri="{FF2B5EF4-FFF2-40B4-BE49-F238E27FC236}">
                <a16:creationId xmlns:a16="http://schemas.microsoft.com/office/drawing/2014/main" id="{644D0E34-ECC8-4DEB-A178-36335E6C8532}"/>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每一次分析结果都要能够回到原始依据，并沉淀为后续项目可复用的技能和应用。</a:t>
            </a:r>
          </a:p>
        </p:txBody>
      </p:sp>
      <p:sp>
        <p:nvSpPr>
          <p:cNvPr id="20" name="">
            <a:extLst xmlns:a="http://schemas.openxmlformats.org/drawingml/2006/main">
              <a:ext uri="{FF2B5EF4-FFF2-40B4-BE49-F238E27FC236}">
                <a16:creationId xmlns:a16="http://schemas.microsoft.com/office/drawing/2014/main" id="{DCE93485-74CF-4858-A87F-569BF58FC2A1}"/>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1" name="">
            <a:extLst xmlns:a="http://schemas.openxmlformats.org/drawingml/2006/main">
              <a:ext uri="{FF2B5EF4-FFF2-40B4-BE49-F238E27FC236}">
                <a16:creationId xmlns:a16="http://schemas.microsoft.com/office/drawing/2014/main" id="{24ED47A0-CF8A-47CE-9C60-476A27436B1D}"/>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从个人经验 → 组织级审计能力复用</a:t>
            </a:r>
          </a:p>
        </p:txBody>
      </p:sp>
      <p:sp>
        <p:nvSpPr>
          <p:cNvPr id="22" name="">
            <a:extLst xmlns:a="http://schemas.openxmlformats.org/drawingml/2006/main">
              <a:ext uri="{FF2B5EF4-FFF2-40B4-BE49-F238E27FC236}">
                <a16:creationId xmlns:a16="http://schemas.microsoft.com/office/drawing/2014/main" id="{266DE029-B3ED-469A-932F-6BFF42EE5016}"/>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把优秀审计人员的核查方法、判断逻辑和案例经验转化为组织级数字能力。</a:t>
            </a:r>
          </a:p>
        </p:txBody>
      </p:sp>
      <p:sp>
        <p:nvSpPr>
          <p:cNvPr id="23" name="">
            <a:extLst xmlns:a="http://schemas.openxmlformats.org/drawingml/2006/main">
              <a:ext uri="{FF2B5EF4-FFF2-40B4-BE49-F238E27FC236}">
                <a16:creationId xmlns:a16="http://schemas.microsoft.com/office/drawing/2014/main" id="{5B78AC49-9B7A-4E8B-BDD4-CB50B3054898}"/>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4" name="">
            <a:extLst xmlns:a="http://schemas.openxmlformats.org/drawingml/2006/main">
              <a:ext uri="{FF2B5EF4-FFF2-40B4-BE49-F238E27FC236}">
                <a16:creationId xmlns:a16="http://schemas.microsoft.com/office/drawing/2014/main" id="{C2B18D8F-FE5F-41BD-A8E4-E2070F02B610}"/>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承接下一章：</a:t>
            </a:r>
          </a:p>
        </p:txBody>
      </p:sp>
      <p:sp>
        <p:nvSpPr>
          <p:cNvPr id="25" name="">
            <a:extLst xmlns:a="http://schemas.openxmlformats.org/drawingml/2006/main">
              <a:ext uri="{FF2B5EF4-FFF2-40B4-BE49-F238E27FC236}">
                <a16:creationId xmlns:a16="http://schemas.microsoft.com/office/drawing/2014/main" id="{FA98BE62-9F25-4603-9719-DE6111579F0C}"/>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我们将围绕智能体平台、数据治理平台、数据图谱平台和综合分析平台，构建一套 AI 原生的一体化智能审计产品体系。</a:t>
            </a:r>
          </a:p>
        </p:txBody>
      </p:sp>
    </p:spTree>
    <p:extLst>
      <p:ext uri="{BB962C8B-B14F-4D97-AF65-F5344CB8AC3E}">
        <p14:creationId xmlns:p14="http://schemas.microsoft.com/office/powerpoint/2010/main" val="73372720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4D8D49-99E5-4F7C-B91D-AB45F616BC1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2F5B620-3EFC-4C77-A4C1-7170EFE02E83}"/>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506D1B7-3289-4649-8DF5-FDA5017D351D}"/>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13B8A6"/>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0E0A8A3-7E64-4756-A5A6-1B8F1B69B802}"/>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3+1 AI 原生审计技术底座</a:t>
            </a:r>
          </a:p>
        </p:txBody>
      </p:sp>
      <p:sp>
        <p:nvSpPr>
          <p:cNvPr id="5" name="">
            <a:extLst xmlns:a="http://schemas.openxmlformats.org/drawingml/2006/main">
              <a:ext uri="{FF2B5EF4-FFF2-40B4-BE49-F238E27FC236}">
                <a16:creationId xmlns:a16="http://schemas.microsoft.com/office/drawing/2014/main" id="{7DD50E50-3789-402B-B94A-9F38C5D95F56}"/>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B71D846F-477E-4C2E-8C82-DF95CC305C59}"/>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把原来的“3+1 产品底座”升级为“3+1 技术承载面”，突出四个平台之间的技术分工和数据流向。</a:t>
            </a:r>
          </a:p>
        </p:txBody>
      </p:sp>
      <p:sp>
        <p:nvSpPr>
          <p:cNvPr id="7" name="">
            <a:extLst xmlns:a="http://schemas.openxmlformats.org/drawingml/2006/main">
              <a:ext uri="{FF2B5EF4-FFF2-40B4-BE49-F238E27FC236}">
                <a16:creationId xmlns:a16="http://schemas.microsoft.com/office/drawing/2014/main" id="{BFED99C4-95A9-4AB9-B6AD-920D6CC545F0}"/>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EDFCC937-202C-45E4-9DD5-A3F7FA248960}"/>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09</a:t>
            </a:r>
          </a:p>
        </p:txBody>
      </p:sp>
      <p:sp>
        <p:nvSpPr>
          <p:cNvPr id="9" name="">
            <a:extLst xmlns:a="http://schemas.openxmlformats.org/drawingml/2006/main">
              <a:ext uri="{FF2B5EF4-FFF2-40B4-BE49-F238E27FC236}">
                <a16:creationId xmlns:a16="http://schemas.microsoft.com/office/drawing/2014/main" id="{E2EBAAA2-3B05-498B-9742-3C27E648E0D3}"/>
              </a:ext>
            </a:extLst>
          </p:cNvPr>
          <p:cNvSpPr>
            <a:spLocks xmlns:a="http://schemas.openxmlformats.org/drawingml/2006/main" noGrp="1"/>
          </p:cNvSpPr>
          <p:nvPr/>
        </p:nvSpPr>
        <p:spPr>
          <a:xfrm xmlns:a="http://schemas.openxmlformats.org/drawingml/2006/main">
            <a:off x="781050" y="2762250"/>
            <a:ext cx="2476500" cy="14287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E5D272C7-0ED6-41D7-AB42-FC4470F4646B}"/>
              </a:ext>
            </a:extLst>
          </p:cNvPr>
          <p:cNvSpPr>
            <a:spLocks xmlns:a="http://schemas.openxmlformats.org/drawingml/2006/main" noGrp="1"/>
          </p:cNvSpPr>
          <p:nvPr/>
        </p:nvSpPr>
        <p:spPr>
          <a:xfrm xmlns:a="http://schemas.openxmlformats.org/drawingml/2006/main">
            <a:off x="952500" y="2990850"/>
            <a:ext cx="2133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0233F"/>
                </a:solidFill>
                <a:latin typeface="Aptos Display"/>
                <a:ea typeface="Aptos Display"/>
                <a:cs typeface="Aptos Display"/>
              </a:defRPr>
            </a:pPr>
            <a:r>
              <a:rPr sz="1650" b="1">
                <a:solidFill>
                  <a:srgbClr val="10233F"/>
                </a:solidFill>
                <a:latin typeface="Aptos Display"/>
                <a:ea typeface="Aptos Display"/>
                <a:cs typeface="Aptos Display"/>
              </a:rPr>
              <a:t>智能体平台</a:t>
            </a:r>
          </a:p>
        </p:txBody>
      </p:sp>
      <p:sp>
        <p:nvSpPr>
          <p:cNvPr id="11" name="">
            <a:extLst xmlns:a="http://schemas.openxmlformats.org/drawingml/2006/main">
              <a:ext uri="{FF2B5EF4-FFF2-40B4-BE49-F238E27FC236}">
                <a16:creationId xmlns:a16="http://schemas.microsoft.com/office/drawing/2014/main" id="{F44E7781-23EC-449F-BB5F-4F65630BB463}"/>
              </a:ext>
            </a:extLst>
          </p:cNvPr>
          <p:cNvSpPr>
            <a:spLocks xmlns:a="http://schemas.openxmlformats.org/drawingml/2006/main" noGrp="1"/>
          </p:cNvSpPr>
          <p:nvPr/>
        </p:nvSpPr>
        <p:spPr>
          <a:xfrm xmlns:a="http://schemas.openxmlformats.org/drawingml/2006/main">
            <a:off x="952500" y="3429000"/>
            <a:ext cx="21336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324D"/>
                </a:solidFill>
                <a:latin typeface="Aptos"/>
                <a:ea typeface="Aptos"/>
                <a:cs typeface="Aptos"/>
              </a:defRPr>
            </a:pPr>
            <a:r>
              <a:rPr sz="1125" b="0">
                <a:solidFill>
                  <a:srgbClr val="17324D"/>
                </a:solidFill>
                <a:latin typeface="Aptos"/>
                <a:ea typeface="Aptos"/>
                <a:cs typeface="Aptos"/>
              </a:rPr>
              <a:t>AI能力生产与编排底座</a:t>
            </a:r>
          </a:p>
        </p:txBody>
      </p:sp>
      <p:sp>
        <p:nvSpPr>
          <p:cNvPr id="12" name="">
            <a:extLst xmlns:a="http://schemas.openxmlformats.org/drawingml/2006/main">
              <a:ext uri="{FF2B5EF4-FFF2-40B4-BE49-F238E27FC236}">
                <a16:creationId xmlns:a16="http://schemas.microsoft.com/office/drawing/2014/main" id="{359CC028-94BC-4B3E-880E-BACCA39853C1}"/>
              </a:ext>
            </a:extLst>
          </p:cNvPr>
          <p:cNvSpPr>
            <a:spLocks xmlns:a="http://schemas.openxmlformats.org/drawingml/2006/main" noGrp="1"/>
          </p:cNvSpPr>
          <p:nvPr/>
        </p:nvSpPr>
        <p:spPr>
          <a:xfrm xmlns:a="http://schemas.openxmlformats.org/drawingml/2006/main">
            <a:off x="3314700" y="3314700"/>
            <a:ext cx="342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0F8EC7"/>
                </a:solidFill>
                <a:latin typeface="Aptos"/>
                <a:ea typeface="Aptos"/>
                <a:cs typeface="Aptos"/>
              </a:defRPr>
            </a:pPr>
            <a:r>
              <a:rPr sz="2100" b="1">
                <a:solidFill>
                  <a:srgbClr val="0F8EC7"/>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109EE20A-C237-49FB-8235-FABF65325F04}"/>
              </a:ext>
            </a:extLst>
          </p:cNvPr>
          <p:cNvSpPr>
            <a:spLocks xmlns:a="http://schemas.openxmlformats.org/drawingml/2006/main" noGrp="1"/>
          </p:cNvSpPr>
          <p:nvPr/>
        </p:nvSpPr>
        <p:spPr>
          <a:xfrm xmlns:a="http://schemas.openxmlformats.org/drawingml/2006/main">
            <a:off x="3562350" y="2762250"/>
            <a:ext cx="2476500" cy="14287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4" name="">
            <a:extLst xmlns:a="http://schemas.openxmlformats.org/drawingml/2006/main">
              <a:ext uri="{FF2B5EF4-FFF2-40B4-BE49-F238E27FC236}">
                <a16:creationId xmlns:a16="http://schemas.microsoft.com/office/drawing/2014/main" id="{5F2B0461-A23B-4149-BB54-F3F53D20BE24}"/>
              </a:ext>
            </a:extLst>
          </p:cNvPr>
          <p:cNvSpPr>
            <a:spLocks xmlns:a="http://schemas.openxmlformats.org/drawingml/2006/main" noGrp="1"/>
          </p:cNvSpPr>
          <p:nvPr/>
        </p:nvSpPr>
        <p:spPr>
          <a:xfrm xmlns:a="http://schemas.openxmlformats.org/drawingml/2006/main">
            <a:off x="3733800" y="2990850"/>
            <a:ext cx="2133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0233F"/>
                </a:solidFill>
                <a:latin typeface="Aptos Display"/>
                <a:ea typeface="Aptos Display"/>
                <a:cs typeface="Aptos Display"/>
              </a:defRPr>
            </a:pPr>
            <a:r>
              <a:rPr sz="1650" b="1">
                <a:solidFill>
                  <a:srgbClr val="10233F"/>
                </a:solidFill>
                <a:latin typeface="Aptos Display"/>
                <a:ea typeface="Aptos Display"/>
                <a:cs typeface="Aptos Display"/>
              </a:rPr>
              <a:t>数据治理平台</a:t>
            </a:r>
          </a:p>
        </p:txBody>
      </p:sp>
      <p:sp>
        <p:nvSpPr>
          <p:cNvPr id="15" name="">
            <a:extLst xmlns:a="http://schemas.openxmlformats.org/drawingml/2006/main">
              <a:ext uri="{FF2B5EF4-FFF2-40B4-BE49-F238E27FC236}">
                <a16:creationId xmlns:a16="http://schemas.microsoft.com/office/drawing/2014/main" id="{EE659E0B-0063-4A09-8DF8-0DCCEA856870}"/>
              </a:ext>
            </a:extLst>
          </p:cNvPr>
          <p:cNvSpPr>
            <a:spLocks xmlns:a="http://schemas.openxmlformats.org/drawingml/2006/main" noGrp="1"/>
          </p:cNvSpPr>
          <p:nvPr/>
        </p:nvSpPr>
        <p:spPr>
          <a:xfrm xmlns:a="http://schemas.openxmlformats.org/drawingml/2006/main">
            <a:off x="3733800" y="3429000"/>
            <a:ext cx="21336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324D"/>
                </a:solidFill>
                <a:latin typeface="Aptos"/>
                <a:ea typeface="Aptos"/>
                <a:cs typeface="Aptos"/>
              </a:defRPr>
            </a:pPr>
            <a:r>
              <a:rPr sz="1125" b="0">
                <a:solidFill>
                  <a:srgbClr val="17324D"/>
                </a:solidFill>
                <a:latin typeface="Aptos"/>
                <a:ea typeface="Aptos"/>
                <a:cs typeface="Aptos"/>
              </a:rPr>
              <a:t>复杂数据可用性治理底座</a:t>
            </a:r>
          </a:p>
        </p:txBody>
      </p:sp>
      <p:sp>
        <p:nvSpPr>
          <p:cNvPr id="16" name="">
            <a:extLst xmlns:a="http://schemas.openxmlformats.org/drawingml/2006/main">
              <a:ext uri="{FF2B5EF4-FFF2-40B4-BE49-F238E27FC236}">
                <a16:creationId xmlns:a16="http://schemas.microsoft.com/office/drawing/2014/main" id="{F89EE488-1364-4BBF-85B7-202C3311428C}"/>
              </a:ext>
            </a:extLst>
          </p:cNvPr>
          <p:cNvSpPr>
            <a:spLocks xmlns:a="http://schemas.openxmlformats.org/drawingml/2006/main" noGrp="1"/>
          </p:cNvSpPr>
          <p:nvPr/>
        </p:nvSpPr>
        <p:spPr>
          <a:xfrm xmlns:a="http://schemas.openxmlformats.org/drawingml/2006/main">
            <a:off x="6096000" y="3314700"/>
            <a:ext cx="342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0F8EC7"/>
                </a:solidFill>
                <a:latin typeface="Aptos"/>
                <a:ea typeface="Aptos"/>
                <a:cs typeface="Aptos"/>
              </a:defRPr>
            </a:pPr>
            <a:r>
              <a:rPr sz="2100" b="1">
                <a:solidFill>
                  <a:srgbClr val="0F8EC7"/>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51270481-CF3E-40F1-A506-0ABF067ADFDD}"/>
              </a:ext>
            </a:extLst>
          </p:cNvPr>
          <p:cNvSpPr>
            <a:spLocks xmlns:a="http://schemas.openxmlformats.org/drawingml/2006/main" noGrp="1"/>
          </p:cNvSpPr>
          <p:nvPr/>
        </p:nvSpPr>
        <p:spPr>
          <a:xfrm xmlns:a="http://schemas.openxmlformats.org/drawingml/2006/main">
            <a:off x="6343650" y="2762250"/>
            <a:ext cx="2476500" cy="14287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90834F1F-E731-424F-B7A7-0839CB6679FB}"/>
              </a:ext>
            </a:extLst>
          </p:cNvPr>
          <p:cNvSpPr>
            <a:spLocks xmlns:a="http://schemas.openxmlformats.org/drawingml/2006/main" noGrp="1"/>
          </p:cNvSpPr>
          <p:nvPr/>
        </p:nvSpPr>
        <p:spPr>
          <a:xfrm xmlns:a="http://schemas.openxmlformats.org/drawingml/2006/main">
            <a:off x="6515100" y="2990850"/>
            <a:ext cx="2133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0233F"/>
                </a:solidFill>
                <a:latin typeface="Aptos Display"/>
                <a:ea typeface="Aptos Display"/>
                <a:cs typeface="Aptos Display"/>
              </a:defRPr>
            </a:pPr>
            <a:r>
              <a:rPr sz="1650" b="1">
                <a:solidFill>
                  <a:srgbClr val="10233F"/>
                </a:solidFill>
                <a:latin typeface="Aptos Display"/>
                <a:ea typeface="Aptos Display"/>
                <a:cs typeface="Aptos Display"/>
              </a:rPr>
              <a:t>数据图谱平台</a:t>
            </a:r>
          </a:p>
        </p:txBody>
      </p:sp>
      <p:sp>
        <p:nvSpPr>
          <p:cNvPr id="19" name="">
            <a:extLst xmlns:a="http://schemas.openxmlformats.org/drawingml/2006/main">
              <a:ext uri="{FF2B5EF4-FFF2-40B4-BE49-F238E27FC236}">
                <a16:creationId xmlns:a16="http://schemas.microsoft.com/office/drawing/2014/main" id="{941E013E-3DAE-4D81-A6EF-71CF86BF1B4C}"/>
              </a:ext>
            </a:extLst>
          </p:cNvPr>
          <p:cNvSpPr>
            <a:spLocks xmlns:a="http://schemas.openxmlformats.org/drawingml/2006/main" noGrp="1"/>
          </p:cNvSpPr>
          <p:nvPr/>
        </p:nvSpPr>
        <p:spPr>
          <a:xfrm xmlns:a="http://schemas.openxmlformats.org/drawingml/2006/main">
            <a:off x="6515100" y="3429000"/>
            <a:ext cx="21336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324D"/>
                </a:solidFill>
                <a:latin typeface="Aptos"/>
                <a:ea typeface="Aptos"/>
                <a:cs typeface="Aptos"/>
              </a:defRPr>
            </a:pPr>
            <a:r>
              <a:rPr sz="1125" b="0">
                <a:solidFill>
                  <a:srgbClr val="17324D"/>
                </a:solidFill>
                <a:latin typeface="Aptos"/>
                <a:ea typeface="Aptos"/>
                <a:cs typeface="Aptos"/>
              </a:rPr>
              <a:t>关系资产化与线索挖掘底座</a:t>
            </a:r>
          </a:p>
        </p:txBody>
      </p:sp>
      <p:sp>
        <p:nvSpPr>
          <p:cNvPr id="20" name="">
            <a:extLst xmlns:a="http://schemas.openxmlformats.org/drawingml/2006/main">
              <a:ext uri="{FF2B5EF4-FFF2-40B4-BE49-F238E27FC236}">
                <a16:creationId xmlns:a16="http://schemas.microsoft.com/office/drawing/2014/main" id="{B7C6E89A-3B44-41B6-886B-51AB8602D449}"/>
              </a:ext>
            </a:extLst>
          </p:cNvPr>
          <p:cNvSpPr>
            <a:spLocks xmlns:a="http://schemas.openxmlformats.org/drawingml/2006/main" noGrp="1"/>
          </p:cNvSpPr>
          <p:nvPr/>
        </p:nvSpPr>
        <p:spPr>
          <a:xfrm xmlns:a="http://schemas.openxmlformats.org/drawingml/2006/main">
            <a:off x="8877300" y="3314700"/>
            <a:ext cx="342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0F8EC7"/>
                </a:solidFill>
                <a:latin typeface="Aptos"/>
                <a:ea typeface="Aptos"/>
                <a:cs typeface="Aptos"/>
              </a:defRPr>
            </a:pPr>
            <a:r>
              <a:rPr sz="2100" b="1">
                <a:solidFill>
                  <a:srgbClr val="0F8EC7"/>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7459B07D-8329-4210-A8A4-3C7C24A6D6BB}"/>
              </a:ext>
            </a:extLst>
          </p:cNvPr>
          <p:cNvSpPr>
            <a:spLocks xmlns:a="http://schemas.openxmlformats.org/drawingml/2006/main" noGrp="1"/>
          </p:cNvSpPr>
          <p:nvPr/>
        </p:nvSpPr>
        <p:spPr>
          <a:xfrm xmlns:a="http://schemas.openxmlformats.org/drawingml/2006/main">
            <a:off x="9124950" y="2762250"/>
            <a:ext cx="2476500" cy="14287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A09CB6A1-373B-4ECF-A354-A523663CD86F}"/>
              </a:ext>
            </a:extLst>
          </p:cNvPr>
          <p:cNvSpPr>
            <a:spLocks xmlns:a="http://schemas.openxmlformats.org/drawingml/2006/main" noGrp="1"/>
          </p:cNvSpPr>
          <p:nvPr/>
        </p:nvSpPr>
        <p:spPr>
          <a:xfrm xmlns:a="http://schemas.openxmlformats.org/drawingml/2006/main">
            <a:off x="9296400" y="2990850"/>
            <a:ext cx="21336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0233F"/>
                </a:solidFill>
                <a:latin typeface="Aptos Display"/>
                <a:ea typeface="Aptos Display"/>
                <a:cs typeface="Aptos Display"/>
              </a:defRPr>
            </a:pPr>
            <a:r>
              <a:rPr sz="1650" b="1">
                <a:solidFill>
                  <a:srgbClr val="10233F"/>
                </a:solidFill>
                <a:latin typeface="Aptos Display"/>
                <a:ea typeface="Aptos Display"/>
                <a:cs typeface="Aptos Display"/>
              </a:rPr>
              <a:t>综合分析平台</a:t>
            </a:r>
          </a:p>
        </p:txBody>
      </p:sp>
      <p:sp>
        <p:nvSpPr>
          <p:cNvPr id="23" name="">
            <a:extLst xmlns:a="http://schemas.openxmlformats.org/drawingml/2006/main">
              <a:ext uri="{FF2B5EF4-FFF2-40B4-BE49-F238E27FC236}">
                <a16:creationId xmlns:a16="http://schemas.microsoft.com/office/drawing/2014/main" id="{99E92AF0-0DA7-4D5A-BD2C-2EC18B498B6B}"/>
              </a:ext>
            </a:extLst>
          </p:cNvPr>
          <p:cNvSpPr>
            <a:spLocks xmlns:a="http://schemas.openxmlformats.org/drawingml/2006/main" noGrp="1"/>
          </p:cNvSpPr>
          <p:nvPr/>
        </p:nvSpPr>
        <p:spPr>
          <a:xfrm xmlns:a="http://schemas.openxmlformats.org/drawingml/2006/main">
            <a:off x="9296400" y="3429000"/>
            <a:ext cx="21336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7324D"/>
                </a:solidFill>
                <a:latin typeface="Aptos"/>
                <a:ea typeface="Aptos"/>
                <a:cs typeface="Aptos"/>
              </a:defRPr>
            </a:pPr>
            <a:r>
              <a:rPr sz="1125" b="0">
                <a:solidFill>
                  <a:srgbClr val="17324D"/>
                </a:solidFill>
                <a:latin typeface="Aptos"/>
                <a:ea typeface="Aptos"/>
                <a:cs typeface="Aptos"/>
              </a:rPr>
              <a:t>审计任务执行与能力沉淀平台</a:t>
            </a:r>
          </a:p>
        </p:txBody>
      </p:sp>
      <p:sp>
        <p:nvSpPr>
          <p:cNvPr id="24" name="">
            <a:extLst xmlns:a="http://schemas.openxmlformats.org/drawingml/2006/main">
              <a:ext uri="{FF2B5EF4-FFF2-40B4-BE49-F238E27FC236}">
                <a16:creationId xmlns:a16="http://schemas.microsoft.com/office/drawing/2014/main" id="{417D6148-B4E4-4395-8A26-8240B08BC8D6}"/>
              </a:ext>
            </a:extLst>
          </p:cNvPr>
          <p:cNvSpPr>
            <a:spLocks xmlns:a="http://schemas.openxmlformats.org/drawingml/2006/main" noGrp="1"/>
          </p:cNvSpPr>
          <p:nvPr/>
        </p:nvSpPr>
        <p:spPr>
          <a:xfrm xmlns:a="http://schemas.openxmlformats.org/drawingml/2006/main">
            <a:off x="781050" y="4610100"/>
            <a:ext cx="10668000" cy="800100"/>
          </a:xfrm>
          <a:prstGeom xmlns:a="http://schemas.openxmlformats.org/drawingml/2006/main" prst="rect">
            <a:avLst/>
          </a:prstGeom>
          <a:solidFill xmlns:a="http://schemas.openxmlformats.org/drawingml/2006/main">
            <a:srgbClr val="0D1B2A"/>
          </a:solidFill>
          <a:ln xmlns:a="http://schemas.openxmlformats.org/drawingml/2006/main" w="0">
            <a:solidFill>
              <a:srgbClr val="0D1B2A"/>
            </a:solidFill>
            <a:prstDash val="solid"/>
          </a:ln>
        </p:spPr>
      </p:sp>
      <p:sp>
        <p:nvSpPr>
          <p:cNvPr id="25" name="">
            <a:extLst xmlns:a="http://schemas.openxmlformats.org/drawingml/2006/main">
              <a:ext uri="{FF2B5EF4-FFF2-40B4-BE49-F238E27FC236}">
                <a16:creationId xmlns:a16="http://schemas.microsoft.com/office/drawing/2014/main" id="{4802E54C-392A-4D27-A46E-0F76A952D7AA}"/>
              </a:ext>
            </a:extLst>
          </p:cNvPr>
          <p:cNvSpPr>
            <a:spLocks xmlns:a="http://schemas.openxmlformats.org/drawingml/2006/main" noGrp="1"/>
          </p:cNvSpPr>
          <p:nvPr/>
        </p:nvSpPr>
        <p:spPr>
          <a:xfrm xmlns:a="http://schemas.openxmlformats.org/drawingml/2006/main">
            <a:off x="1028700" y="4857750"/>
            <a:ext cx="10172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以智能体平台为 AI 能力底座，以数据治理和数据图谱完成数据与关系资产化，最终由综合分析平台承接审计作业闭环。</a:t>
            </a:r>
          </a:p>
        </p:txBody>
      </p:sp>
    </p:spTree>
    <p:extLst>
      <p:ext uri="{BB962C8B-B14F-4D97-AF65-F5344CB8AC3E}">
        <p14:creationId xmlns:p14="http://schemas.microsoft.com/office/powerpoint/2010/main" val="181854580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28D5B5B-2BB6-484A-BFAB-9606AE2E53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2886022-446F-4A39-A9F4-770BBB952BD0}"/>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B0E73D6-D114-416D-896A-9DD034DD683C}"/>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FF8A3D"/>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1E82D13-5087-4A0B-9ECC-E88BCD3F8C34}"/>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四层能力破局：从数据到作业闭环</a:t>
            </a:r>
          </a:p>
        </p:txBody>
      </p:sp>
      <p:sp>
        <p:nvSpPr>
          <p:cNvPr id="5" name="">
            <a:extLst xmlns:a="http://schemas.openxmlformats.org/drawingml/2006/main">
              <a:ext uri="{FF2B5EF4-FFF2-40B4-BE49-F238E27FC236}">
                <a16:creationId xmlns:a16="http://schemas.microsoft.com/office/drawing/2014/main" id="{AE50DD80-2196-43A1-B280-9E51DB466767}"/>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B9E19CFF-D5FA-46E7-B614-4F94B170545A}"/>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把“治理、贯通、编排、协同”讲成连续技术链路，是全场最重要的体系页之一。</a:t>
            </a:r>
          </a:p>
        </p:txBody>
      </p:sp>
      <p:sp>
        <p:nvSpPr>
          <p:cNvPr id="7" name="">
            <a:extLst xmlns:a="http://schemas.openxmlformats.org/drawingml/2006/main">
              <a:ext uri="{FF2B5EF4-FFF2-40B4-BE49-F238E27FC236}">
                <a16:creationId xmlns:a16="http://schemas.microsoft.com/office/drawing/2014/main" id="{3F893537-5599-438A-998E-6F72BF9EAA7B}"/>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1E1F5266-B777-491F-8E58-6CD96D3FCC14}"/>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10</a:t>
            </a:r>
          </a:p>
        </p:txBody>
      </p:sp>
      <p:sp>
        <p:nvSpPr>
          <p:cNvPr id="9" name="">
            <a:extLst xmlns:a="http://schemas.openxmlformats.org/drawingml/2006/main">
              <a:ext uri="{FF2B5EF4-FFF2-40B4-BE49-F238E27FC236}">
                <a16:creationId xmlns:a16="http://schemas.microsoft.com/office/drawing/2014/main" id="{E9F1349C-1C47-4022-81A9-24428C071F4D}"/>
              </a:ext>
            </a:extLst>
          </p:cNvPr>
          <p:cNvSpPr>
            <a:spLocks xmlns:a="http://schemas.openxmlformats.org/drawingml/2006/main" noGrp="1"/>
          </p:cNvSpPr>
          <p:nvPr/>
        </p:nvSpPr>
        <p:spPr>
          <a:xfrm xmlns:a="http://schemas.openxmlformats.org/drawingml/2006/main">
            <a:off x="1295400" y="2038350"/>
            <a:ext cx="9601200" cy="1028700"/>
          </a:xfrm>
          <a:prstGeom xmlns:a="http://schemas.openxmlformats.org/drawingml/2006/main" prst="rect">
            <a:avLst/>
          </a:prstGeom>
          <a:solidFill xmlns:a="http://schemas.openxmlformats.org/drawingml/2006/main">
            <a:srgbClr val="0D1B2A"/>
          </a:solidFill>
          <a:ln xmlns:a="http://schemas.openxmlformats.org/drawingml/2006/main" w="0">
            <a:solidFill>
              <a:srgbClr val="0D1B2A"/>
            </a:solidFill>
            <a:prstDash val="solid"/>
          </a:ln>
        </p:spPr>
      </p:sp>
      <p:sp>
        <p:nvSpPr>
          <p:cNvPr id="10" name="">
            <a:extLst xmlns:a="http://schemas.openxmlformats.org/drawingml/2006/main">
              <a:ext uri="{FF2B5EF4-FFF2-40B4-BE49-F238E27FC236}">
                <a16:creationId xmlns:a16="http://schemas.microsoft.com/office/drawing/2014/main" id="{06FFEACE-56D2-44EC-9AED-303A9F3FBB1F}"/>
              </a:ext>
            </a:extLst>
          </p:cNvPr>
          <p:cNvSpPr>
            <a:spLocks xmlns:a="http://schemas.openxmlformats.org/drawingml/2006/main" noGrp="1"/>
          </p:cNvSpPr>
          <p:nvPr/>
        </p:nvSpPr>
        <p:spPr>
          <a:xfrm xmlns:a="http://schemas.openxmlformats.org/drawingml/2006/main">
            <a:off x="1581150" y="220980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第四层｜协同</a:t>
            </a:r>
          </a:p>
        </p:txBody>
      </p:sp>
      <p:sp>
        <p:nvSpPr>
          <p:cNvPr id="11" name="">
            <a:extLst xmlns:a="http://schemas.openxmlformats.org/drawingml/2006/main">
              <a:ext uri="{FF2B5EF4-FFF2-40B4-BE49-F238E27FC236}">
                <a16:creationId xmlns:a16="http://schemas.microsoft.com/office/drawing/2014/main" id="{E3004ABC-4397-4FD8-991D-F742199821FF}"/>
              </a:ext>
            </a:extLst>
          </p:cNvPr>
          <p:cNvSpPr>
            <a:spLocks xmlns:a="http://schemas.openxmlformats.org/drawingml/2006/main" noGrp="1"/>
          </p:cNvSpPr>
          <p:nvPr/>
        </p:nvSpPr>
        <p:spPr>
          <a:xfrm xmlns:a="http://schemas.openxmlformats.org/drawingml/2006/main">
            <a:off x="1581150" y="2533650"/>
            <a:ext cx="8572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统一收口数据、知识、图谱、智能体和审计成果，形成可复核、可沉淀的人机协同工作台。</a:t>
            </a:r>
          </a:p>
        </p:txBody>
      </p:sp>
      <p:sp>
        <p:nvSpPr>
          <p:cNvPr id="12" name="">
            <a:extLst xmlns:a="http://schemas.openxmlformats.org/drawingml/2006/main">
              <a:ext uri="{FF2B5EF4-FFF2-40B4-BE49-F238E27FC236}">
                <a16:creationId xmlns:a16="http://schemas.microsoft.com/office/drawing/2014/main" id="{141EE96F-E4C2-43EE-A011-C1BC4A0EA81B}"/>
              </a:ext>
            </a:extLst>
          </p:cNvPr>
          <p:cNvSpPr>
            <a:spLocks xmlns:a="http://schemas.openxmlformats.org/drawingml/2006/main" noGrp="1"/>
          </p:cNvSpPr>
          <p:nvPr/>
        </p:nvSpPr>
        <p:spPr>
          <a:xfrm xmlns:a="http://schemas.openxmlformats.org/drawingml/2006/main">
            <a:off x="1562100" y="3200400"/>
            <a:ext cx="9067800" cy="914400"/>
          </a:xfrm>
          <a:prstGeom xmlns:a="http://schemas.openxmlformats.org/drawingml/2006/main" prst="rect">
            <a:avLst/>
          </a:prstGeom>
          <a:solidFill xmlns:a="http://schemas.openxmlformats.org/drawingml/2006/main">
            <a:srgbClr val="0F8EC7"/>
          </a:solidFill>
          <a:ln xmlns:a="http://schemas.openxmlformats.org/drawingml/2006/main" w="0">
            <a:solidFill>
              <a:srgbClr val="0F8EC7"/>
            </a:solidFill>
            <a:prstDash val="solid"/>
          </a:ln>
        </p:spPr>
      </p:sp>
      <p:sp>
        <p:nvSpPr>
          <p:cNvPr id="13" name="">
            <a:extLst xmlns:a="http://schemas.openxmlformats.org/drawingml/2006/main">
              <a:ext uri="{FF2B5EF4-FFF2-40B4-BE49-F238E27FC236}">
                <a16:creationId xmlns:a16="http://schemas.microsoft.com/office/drawing/2014/main" id="{118D37BF-1AAC-4631-9939-475D244541AB}"/>
              </a:ext>
            </a:extLst>
          </p:cNvPr>
          <p:cNvSpPr>
            <a:spLocks xmlns:a="http://schemas.openxmlformats.org/drawingml/2006/main" noGrp="1"/>
          </p:cNvSpPr>
          <p:nvPr/>
        </p:nvSpPr>
        <p:spPr>
          <a:xfrm xmlns:a="http://schemas.openxmlformats.org/drawingml/2006/main">
            <a:off x="1847850" y="33718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第三层｜编排</a:t>
            </a:r>
          </a:p>
        </p:txBody>
      </p:sp>
      <p:sp>
        <p:nvSpPr>
          <p:cNvPr id="14" name="">
            <a:extLst xmlns:a="http://schemas.openxmlformats.org/drawingml/2006/main">
              <a:ext uri="{FF2B5EF4-FFF2-40B4-BE49-F238E27FC236}">
                <a16:creationId xmlns:a16="http://schemas.microsoft.com/office/drawing/2014/main" id="{FB4A7E47-AA8A-48C4-9943-4EFB63BF1F13}"/>
              </a:ext>
            </a:extLst>
          </p:cNvPr>
          <p:cNvSpPr>
            <a:spLocks xmlns:a="http://schemas.openxmlformats.org/drawingml/2006/main" noGrp="1"/>
          </p:cNvSpPr>
          <p:nvPr/>
        </p:nvSpPr>
        <p:spPr>
          <a:xfrm xmlns:a="http://schemas.openxmlformats.org/drawingml/2006/main">
            <a:off x="1847850" y="3695700"/>
            <a:ext cx="80391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将审计规则、核查路径、分析方法和任务流程封装为智能体、技能和任务。</a:t>
            </a:r>
          </a:p>
        </p:txBody>
      </p:sp>
      <p:sp>
        <p:nvSpPr>
          <p:cNvPr id="15" name="">
            <a:extLst xmlns:a="http://schemas.openxmlformats.org/drawingml/2006/main">
              <a:ext uri="{FF2B5EF4-FFF2-40B4-BE49-F238E27FC236}">
                <a16:creationId xmlns:a16="http://schemas.microsoft.com/office/drawing/2014/main" id="{E3D1286F-FE6C-4795-95A1-81C1CBCA0182}"/>
              </a:ext>
            </a:extLst>
          </p:cNvPr>
          <p:cNvSpPr>
            <a:spLocks xmlns:a="http://schemas.openxmlformats.org/drawingml/2006/main" noGrp="1"/>
          </p:cNvSpPr>
          <p:nvPr/>
        </p:nvSpPr>
        <p:spPr>
          <a:xfrm xmlns:a="http://schemas.openxmlformats.org/drawingml/2006/main">
            <a:off x="1828800" y="4248150"/>
            <a:ext cx="8534400" cy="914400"/>
          </a:xfrm>
          <a:prstGeom xmlns:a="http://schemas.openxmlformats.org/drawingml/2006/main" prst="rect">
            <a:avLst/>
          </a:prstGeom>
          <a:solidFill xmlns:a="http://schemas.openxmlformats.org/drawingml/2006/main">
            <a:srgbClr val="13B8A6"/>
          </a:solidFill>
          <a:ln xmlns:a="http://schemas.openxmlformats.org/drawingml/2006/main" w="0">
            <a:solidFill>
              <a:srgbClr val="13B8A6"/>
            </a:solidFill>
            <a:prstDash val="solid"/>
          </a:ln>
        </p:spPr>
      </p:sp>
      <p:sp>
        <p:nvSpPr>
          <p:cNvPr id="16" name="">
            <a:extLst xmlns:a="http://schemas.openxmlformats.org/drawingml/2006/main">
              <a:ext uri="{FF2B5EF4-FFF2-40B4-BE49-F238E27FC236}">
                <a16:creationId xmlns:a16="http://schemas.microsoft.com/office/drawing/2014/main" id="{5D309317-5041-42FB-883B-9837356C259D}"/>
              </a:ext>
            </a:extLst>
          </p:cNvPr>
          <p:cNvSpPr>
            <a:spLocks xmlns:a="http://schemas.openxmlformats.org/drawingml/2006/main" noGrp="1"/>
          </p:cNvSpPr>
          <p:nvPr/>
        </p:nvSpPr>
        <p:spPr>
          <a:xfrm xmlns:a="http://schemas.openxmlformats.org/drawingml/2006/main">
            <a:off x="2114550" y="441960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第二层｜贯通</a:t>
            </a:r>
          </a:p>
        </p:txBody>
      </p:sp>
      <p:sp>
        <p:nvSpPr>
          <p:cNvPr id="17" name="">
            <a:extLst xmlns:a="http://schemas.openxmlformats.org/drawingml/2006/main">
              <a:ext uri="{FF2B5EF4-FFF2-40B4-BE49-F238E27FC236}">
                <a16:creationId xmlns:a16="http://schemas.microsoft.com/office/drawing/2014/main" id="{9F136983-BACC-4B90-93D3-983A93C40AD4}"/>
              </a:ext>
            </a:extLst>
          </p:cNvPr>
          <p:cNvSpPr>
            <a:spLocks xmlns:a="http://schemas.openxmlformats.org/drawingml/2006/main" noGrp="1"/>
          </p:cNvSpPr>
          <p:nvPr/>
        </p:nvSpPr>
        <p:spPr>
          <a:xfrm xmlns:a="http://schemas.openxmlformats.org/drawingml/2006/main">
            <a:off x="2114550" y="4743450"/>
            <a:ext cx="75057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围绕人、企、单位、项目、资金、合同、发票建立跨系统关系网络。</a:t>
            </a:r>
          </a:p>
        </p:txBody>
      </p:sp>
      <p:sp>
        <p:nvSpPr>
          <p:cNvPr id="18" name="">
            <a:extLst xmlns:a="http://schemas.openxmlformats.org/drawingml/2006/main">
              <a:ext uri="{FF2B5EF4-FFF2-40B4-BE49-F238E27FC236}">
                <a16:creationId xmlns:a16="http://schemas.microsoft.com/office/drawing/2014/main" id="{9FBF6648-647E-4F8A-859A-F7CD6889CCDF}"/>
              </a:ext>
            </a:extLst>
          </p:cNvPr>
          <p:cNvSpPr>
            <a:spLocks xmlns:a="http://schemas.openxmlformats.org/drawingml/2006/main" noGrp="1"/>
          </p:cNvSpPr>
          <p:nvPr/>
        </p:nvSpPr>
        <p:spPr>
          <a:xfrm xmlns:a="http://schemas.openxmlformats.org/drawingml/2006/main">
            <a:off x="2095500" y="5295900"/>
            <a:ext cx="8001000" cy="914400"/>
          </a:xfrm>
          <a:prstGeom xmlns:a="http://schemas.openxmlformats.org/drawingml/2006/main" prst="rect">
            <a:avLst/>
          </a:prstGeom>
          <a:solidFill xmlns:a="http://schemas.openxmlformats.org/drawingml/2006/main">
            <a:srgbClr val="DCEEF7"/>
          </a:solidFill>
          <a:ln xmlns:a="http://schemas.openxmlformats.org/drawingml/2006/main" w="0">
            <a:solidFill>
              <a:srgbClr val="DCEEF7"/>
            </a:solidFill>
            <a:prstDash val="solid"/>
          </a:ln>
        </p:spPr>
      </p:sp>
      <p:sp>
        <p:nvSpPr>
          <p:cNvPr id="19" name="">
            <a:extLst xmlns:a="http://schemas.openxmlformats.org/drawingml/2006/main">
              <a:ext uri="{FF2B5EF4-FFF2-40B4-BE49-F238E27FC236}">
                <a16:creationId xmlns:a16="http://schemas.microsoft.com/office/drawing/2014/main" id="{4A67BE11-2094-48E4-9050-93AA731AB0FA}"/>
              </a:ext>
            </a:extLst>
          </p:cNvPr>
          <p:cNvSpPr>
            <a:spLocks xmlns:a="http://schemas.openxmlformats.org/drawingml/2006/main" noGrp="1"/>
          </p:cNvSpPr>
          <p:nvPr/>
        </p:nvSpPr>
        <p:spPr>
          <a:xfrm xmlns:a="http://schemas.openxmlformats.org/drawingml/2006/main">
            <a:off x="2381250" y="546735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0233F"/>
                </a:solidFill>
                <a:latin typeface="Aptos Display"/>
                <a:ea typeface="Aptos Display"/>
                <a:cs typeface="Aptos Display"/>
              </a:defRPr>
            </a:pPr>
            <a:r>
              <a:rPr sz="1650" b="1">
                <a:solidFill>
                  <a:srgbClr val="10233F"/>
                </a:solidFill>
                <a:latin typeface="Aptos Display"/>
                <a:ea typeface="Aptos Display"/>
                <a:cs typeface="Aptos Display"/>
              </a:rPr>
              <a:t>第一层｜治理</a:t>
            </a:r>
          </a:p>
        </p:txBody>
      </p:sp>
      <p:sp>
        <p:nvSpPr>
          <p:cNvPr id="20" name="">
            <a:extLst xmlns:a="http://schemas.openxmlformats.org/drawingml/2006/main">
              <a:ext uri="{FF2B5EF4-FFF2-40B4-BE49-F238E27FC236}">
                <a16:creationId xmlns:a16="http://schemas.microsoft.com/office/drawing/2014/main" id="{04A14F39-2937-41A7-A499-9B7285446316}"/>
              </a:ext>
            </a:extLst>
          </p:cNvPr>
          <p:cNvSpPr>
            <a:spLocks xmlns:a="http://schemas.openxmlformats.org/drawingml/2006/main" noGrp="1"/>
          </p:cNvSpPr>
          <p:nvPr/>
        </p:nvSpPr>
        <p:spPr>
          <a:xfrm xmlns:a="http://schemas.openxmlformats.org/drawingml/2006/main">
            <a:off x="2381250" y="5791200"/>
            <a:ext cx="6972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0233F"/>
                </a:solidFill>
                <a:latin typeface="Aptos"/>
                <a:ea typeface="Aptos"/>
                <a:cs typeface="Aptos"/>
              </a:defRPr>
            </a:pPr>
            <a:r>
              <a:rPr sz="1125" b="0">
                <a:solidFill>
                  <a:srgbClr val="10233F"/>
                </a:solidFill>
                <a:latin typeface="Aptos"/>
                <a:ea typeface="Aptos"/>
                <a:cs typeface="Aptos"/>
              </a:rPr>
              <a:t>通过数据探查、数据漫游、结构化抽取和字段语义理解，让数据变成可复用资产。</a:t>
            </a:r>
          </a:p>
        </p:txBody>
      </p:sp>
    </p:spTree>
    <p:extLst>
      <p:ext uri="{BB962C8B-B14F-4D97-AF65-F5344CB8AC3E}">
        <p14:creationId xmlns:p14="http://schemas.microsoft.com/office/powerpoint/2010/main" val="151283436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5865702-48B1-49B9-9A35-735695152E6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B8FBD15-8AAB-4673-A2F7-C6D5034D9878}"/>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BC8C8AC-E4B7-4181-A734-AFE6475AFCA2}"/>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39D7AEB2-C9F1-4878-886B-5C5CD4C074C6}"/>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平台定位与能力底座</a:t>
            </a:r>
          </a:p>
        </p:txBody>
      </p:sp>
      <p:sp>
        <p:nvSpPr>
          <p:cNvPr id="5" name="">
            <a:extLst xmlns:a="http://schemas.openxmlformats.org/drawingml/2006/main">
              <a:ext uri="{FF2B5EF4-FFF2-40B4-BE49-F238E27FC236}">
                <a16:creationId xmlns:a16="http://schemas.microsoft.com/office/drawing/2014/main" id="{5A16EB3E-8E78-4BE5-94C1-55ADE3AC73F2}"/>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7D5E204E-72BB-4DC6-8279-B29F67926BA6}"/>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强调智能体平台不是聊天机器人，而是统一纳管模型、知识、数据、工具和权限的 AI 工程化底座。</a:t>
            </a:r>
          </a:p>
        </p:txBody>
      </p:sp>
      <p:sp>
        <p:nvSpPr>
          <p:cNvPr id="7" name="">
            <a:extLst xmlns:a="http://schemas.openxmlformats.org/drawingml/2006/main">
              <a:ext uri="{FF2B5EF4-FFF2-40B4-BE49-F238E27FC236}">
                <a16:creationId xmlns:a16="http://schemas.microsoft.com/office/drawing/2014/main" id="{DC36E18C-E461-4194-A669-C2F671613B6E}"/>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64ECFA09-3055-4F6A-94C8-299779D2CE95}"/>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11</a:t>
            </a:r>
          </a:p>
        </p:txBody>
      </p:sp>
      <p:sp>
        <p:nvSpPr>
          <p:cNvPr id="9" name="">
            <a:extLst xmlns:a="http://schemas.openxmlformats.org/drawingml/2006/main">
              <a:ext uri="{FF2B5EF4-FFF2-40B4-BE49-F238E27FC236}">
                <a16:creationId xmlns:a16="http://schemas.microsoft.com/office/drawing/2014/main" id="{E300269B-5050-4897-A069-ABAE5DAD885F}"/>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AB3C674C-F170-465A-8975-B924F0AC77A7}"/>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智能体平台：统一纳管知识、数据、工具和模型的 AI 能力底座</a:t>
            </a:r>
          </a:p>
        </p:txBody>
      </p:sp>
      <p:sp>
        <p:nvSpPr>
          <p:cNvPr id="11" name="">
            <a:extLst xmlns:a="http://schemas.openxmlformats.org/drawingml/2006/main">
              <a:ext uri="{FF2B5EF4-FFF2-40B4-BE49-F238E27FC236}">
                <a16:creationId xmlns:a16="http://schemas.microsoft.com/office/drawing/2014/main" id="{7A4D54DF-2146-4063-A323-A31B10A709F4}"/>
              </a:ext>
            </a:extLst>
          </p:cNvPr>
          <p:cNvSpPr>
            <a:spLocks xmlns:a="http://schemas.openxmlformats.org/drawingml/2006/main" noGrp="1"/>
          </p:cNvSpPr>
          <p:nvPr/>
        </p:nvSpPr>
        <p:spPr>
          <a:xfrm xmlns:a="http://schemas.openxmlformats.org/drawingml/2006/main">
            <a:off x="685800" y="3067050"/>
            <a:ext cx="5219700" cy="878396"/>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965A01C2-680C-41E9-93FF-D208626DFA8C}"/>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产品定位：</a:t>
            </a:r>
          </a:p>
        </p:txBody>
      </p:sp>
      <p:sp>
        <p:nvSpPr>
          <p:cNvPr id="13" name="">
            <a:extLst xmlns:a="http://schemas.openxmlformats.org/drawingml/2006/main">
              <a:ext uri="{FF2B5EF4-FFF2-40B4-BE49-F238E27FC236}">
                <a16:creationId xmlns:a16="http://schemas.microsoft.com/office/drawing/2014/main" id="{FD3D4603-DEA5-40A7-81B0-9912494CE44F}"/>
              </a:ext>
            </a:extLst>
          </p:cNvPr>
          <p:cNvSpPr>
            <a:spLocks xmlns:a="http://schemas.openxmlformats.org/drawingml/2006/main" noGrp="1"/>
          </p:cNvSpPr>
          <p:nvPr/>
        </p:nvSpPr>
        <p:spPr>
          <a:xfrm xmlns:a="http://schemas.openxmlformats.org/drawingml/2006/main">
            <a:off x="838200" y="3448050"/>
            <a:ext cx="4914900" cy="402146"/>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MindJunc 智能体平台是一款以大模型知识库为核心的智能体应用平台，支持多源知识库管理、RAG 增强检索、MCP 工具集成、数据库连接、应用组装和精细化权限管控。</a:t>
            </a:r>
          </a:p>
        </p:txBody>
      </p:sp>
      <p:sp>
        <p:nvSpPr>
          <p:cNvPr id="14" name="">
            <a:extLst xmlns:a="http://schemas.openxmlformats.org/drawingml/2006/main">
              <a:ext uri="{FF2B5EF4-FFF2-40B4-BE49-F238E27FC236}">
                <a16:creationId xmlns:a16="http://schemas.microsoft.com/office/drawing/2014/main" id="{D4872481-0F41-41C6-98A4-A13F183EA13E}"/>
              </a:ext>
            </a:extLst>
          </p:cNvPr>
          <p:cNvSpPr>
            <a:spLocks xmlns:a="http://schemas.openxmlformats.org/drawingml/2006/main" noGrp="1"/>
          </p:cNvSpPr>
          <p:nvPr/>
        </p:nvSpPr>
        <p:spPr>
          <a:xfrm xmlns:a="http://schemas.openxmlformats.org/drawingml/2006/main">
            <a:off x="685800" y="4059746"/>
            <a:ext cx="5219700" cy="871919"/>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76A2B69F-2B74-47DC-A58D-9FDF52ED86D6}"/>
              </a:ext>
            </a:extLst>
          </p:cNvPr>
          <p:cNvSpPr>
            <a:spLocks xmlns:a="http://schemas.openxmlformats.org/drawingml/2006/main" noGrp="1"/>
          </p:cNvSpPr>
          <p:nvPr/>
        </p:nvSpPr>
        <p:spPr>
          <a:xfrm xmlns:a="http://schemas.openxmlformats.org/drawingml/2006/main">
            <a:off x="838200" y="4193096"/>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核心能力：</a:t>
            </a:r>
          </a:p>
        </p:txBody>
      </p:sp>
      <p:sp>
        <p:nvSpPr>
          <p:cNvPr id="16" name="">
            <a:extLst xmlns:a="http://schemas.openxmlformats.org/drawingml/2006/main">
              <a:ext uri="{FF2B5EF4-FFF2-40B4-BE49-F238E27FC236}">
                <a16:creationId xmlns:a16="http://schemas.microsoft.com/office/drawing/2014/main" id="{7C167311-7B41-428D-AA1F-A738DC9CBE6A}"/>
              </a:ext>
            </a:extLst>
          </p:cNvPr>
          <p:cNvSpPr>
            <a:spLocks xmlns:a="http://schemas.openxmlformats.org/drawingml/2006/main" noGrp="1"/>
          </p:cNvSpPr>
          <p:nvPr/>
        </p:nvSpPr>
        <p:spPr>
          <a:xfrm xmlns:a="http://schemas.openxmlformats.org/drawingml/2006/main">
            <a:off x="838200" y="4440746"/>
            <a:ext cx="4914900" cy="395669"/>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知识与资源纳管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支持创建多类型知识库，上传 Docx、PDF、TXT、Excel、CSV 等资料，配置切片策略、向量化处理、召回测试、知识条目管理和引用溯源。</a:t>
            </a:r>
          </a:p>
        </p:txBody>
      </p:sp>
      <p:sp>
        <p:nvSpPr>
          <p:cNvPr id="17" name="">
            <a:extLst xmlns:a="http://schemas.openxmlformats.org/drawingml/2006/main">
              <a:ext uri="{FF2B5EF4-FFF2-40B4-BE49-F238E27FC236}">
                <a16:creationId xmlns:a16="http://schemas.microsoft.com/office/drawing/2014/main" id="{640862D8-CA5F-4CC0-8850-E9C9FA72FD6D}"/>
              </a:ext>
            </a:extLst>
          </p:cNvPr>
          <p:cNvSpPr>
            <a:spLocks xmlns:a="http://schemas.openxmlformats.org/drawingml/2006/main" noGrp="1"/>
          </p:cNvSpPr>
          <p:nvPr/>
        </p:nvSpPr>
        <p:spPr>
          <a:xfrm xmlns:a="http://schemas.openxmlformats.org/drawingml/2006/main">
            <a:off x="685800" y="5045964"/>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2BD1B8CC-CF21-4CD3-8E18-835E498972DF}"/>
              </a:ext>
            </a:extLst>
          </p:cNvPr>
          <p:cNvSpPr>
            <a:spLocks xmlns:a="http://schemas.openxmlformats.org/drawingml/2006/main" noGrp="1"/>
          </p:cNvSpPr>
          <p:nvPr/>
        </p:nvSpPr>
        <p:spPr>
          <a:xfrm xmlns:a="http://schemas.openxmlformats.org/drawingml/2006/main">
            <a:off x="838200" y="5179314"/>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模型与算法资源管理</a:t>
            </a:r>
          </a:p>
        </p:txBody>
      </p:sp>
      <p:sp>
        <p:nvSpPr>
          <p:cNvPr id="19" name="">
            <a:extLst xmlns:a="http://schemas.openxmlformats.org/drawingml/2006/main">
              <a:ext uri="{FF2B5EF4-FFF2-40B4-BE49-F238E27FC236}">
                <a16:creationId xmlns:a16="http://schemas.microsoft.com/office/drawing/2014/main" id="{9A39B589-9486-4D4E-A10E-1D4FC72E545C}"/>
              </a:ext>
            </a:extLst>
          </p:cNvPr>
          <p:cNvSpPr>
            <a:spLocks xmlns:a="http://schemas.openxmlformats.org/drawingml/2006/main" noGrp="1"/>
          </p:cNvSpPr>
          <p:nvPr/>
        </p:nvSpPr>
        <p:spPr>
          <a:xfrm xmlns:a="http://schemas.openxmlformats.org/drawingml/2006/main">
            <a:off x="838200" y="5426964"/>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支持大语言模型、Embedding 模型、Rerank 模型等多模型配置，支持不同模型在问答、检索、排序、结构化抽取和任务执行中的组合调用。</a:t>
            </a:r>
          </a:p>
        </p:txBody>
      </p:sp>
      <p:sp>
        <p:nvSpPr>
          <p:cNvPr id="20" name="">
            <a:extLst xmlns:a="http://schemas.openxmlformats.org/drawingml/2006/main">
              <a:ext uri="{FF2B5EF4-FFF2-40B4-BE49-F238E27FC236}">
                <a16:creationId xmlns:a16="http://schemas.microsoft.com/office/drawing/2014/main" id="{60331969-5D85-4954-A414-09C4D494C797}"/>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1" name="">
            <a:extLst xmlns:a="http://schemas.openxmlformats.org/drawingml/2006/main">
              <a:ext uri="{FF2B5EF4-FFF2-40B4-BE49-F238E27FC236}">
                <a16:creationId xmlns:a16="http://schemas.microsoft.com/office/drawing/2014/main" id="{E737F70A-D685-42A2-8902-CE37FF12C917}"/>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数据与工具连接</a:t>
            </a:r>
          </a:p>
        </p:txBody>
      </p:sp>
      <p:sp>
        <p:nvSpPr>
          <p:cNvPr id="22" name="">
            <a:extLst xmlns:a="http://schemas.openxmlformats.org/drawingml/2006/main">
              <a:ext uri="{FF2B5EF4-FFF2-40B4-BE49-F238E27FC236}">
                <a16:creationId xmlns:a16="http://schemas.microsoft.com/office/drawing/2014/main" id="{6732F317-39EB-460F-99EC-34C97FAF8E21}"/>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支持数据库连接、MCP 服务、API 工具和第三方能力接入，使智能体能够从“回答问题”进一步走向“调用工具执行任务”。</a:t>
            </a:r>
          </a:p>
        </p:txBody>
      </p:sp>
      <p:sp>
        <p:nvSpPr>
          <p:cNvPr id="23" name="">
            <a:extLst xmlns:a="http://schemas.openxmlformats.org/drawingml/2006/main">
              <a:ext uri="{FF2B5EF4-FFF2-40B4-BE49-F238E27FC236}">
                <a16:creationId xmlns:a16="http://schemas.microsoft.com/office/drawing/2014/main" id="{045EB309-13BE-4F7D-A61A-A36E005D699A}"/>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4" name="">
            <a:extLst xmlns:a="http://schemas.openxmlformats.org/drawingml/2006/main">
              <a:ext uri="{FF2B5EF4-FFF2-40B4-BE49-F238E27FC236}">
                <a16:creationId xmlns:a16="http://schemas.microsoft.com/office/drawing/2014/main" id="{44A601FF-22FE-41A2-A2CB-91C20FCEF49E}"/>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应用组装能力</a:t>
            </a:r>
          </a:p>
        </p:txBody>
      </p:sp>
      <p:sp>
        <p:nvSpPr>
          <p:cNvPr id="25" name="">
            <a:extLst xmlns:a="http://schemas.openxmlformats.org/drawingml/2006/main">
              <a:ext uri="{FF2B5EF4-FFF2-40B4-BE49-F238E27FC236}">
                <a16:creationId xmlns:a16="http://schemas.microsoft.com/office/drawing/2014/main" id="{E40DBE85-9301-43B1-AB8D-B3E3EB6B3B45}"/>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基于知识库、数据库、MCP 工具和模型能力，组装知识问答、知识搜索、内容生成、智能问数、文档处理等智能应用。</a:t>
            </a:r>
          </a:p>
        </p:txBody>
      </p:sp>
      <p:sp>
        <p:nvSpPr>
          <p:cNvPr id="26" name="">
            <a:extLst xmlns:a="http://schemas.openxmlformats.org/drawingml/2006/main">
              <a:ext uri="{FF2B5EF4-FFF2-40B4-BE49-F238E27FC236}">
                <a16:creationId xmlns:a16="http://schemas.microsoft.com/office/drawing/2014/main" id="{CAB997DB-A9AD-4F86-9C9C-D6D7DE00A3E7}"/>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7" name="">
            <a:extLst xmlns:a="http://schemas.openxmlformats.org/drawingml/2006/main">
              <a:ext uri="{FF2B5EF4-FFF2-40B4-BE49-F238E27FC236}">
                <a16:creationId xmlns:a16="http://schemas.microsoft.com/office/drawing/2014/main" id="{28A3320E-C0E9-4DC3-8932-970C4F051499}"/>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权限与安全控制</a:t>
            </a:r>
          </a:p>
        </p:txBody>
      </p:sp>
      <p:sp>
        <p:nvSpPr>
          <p:cNvPr id="28" name="">
            <a:extLst xmlns:a="http://schemas.openxmlformats.org/drawingml/2006/main">
              <a:ext uri="{FF2B5EF4-FFF2-40B4-BE49-F238E27FC236}">
                <a16:creationId xmlns:a16="http://schemas.microsoft.com/office/drawing/2014/main" id="{D9F2BA5C-8ADC-408A-9E8A-70EF8F60F995}"/>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支持部门、用户、知识库、应用和数据资源级权限控制，可面向不同组织、不同用户组配置差异化访问范围。</a:t>
            </a:r>
          </a:p>
        </p:txBody>
      </p:sp>
      <p:sp>
        <p:nvSpPr>
          <p:cNvPr id="29" name="">
            <a:extLst xmlns:a="http://schemas.openxmlformats.org/drawingml/2006/main">
              <a:ext uri="{FF2B5EF4-FFF2-40B4-BE49-F238E27FC236}">
                <a16:creationId xmlns:a16="http://schemas.microsoft.com/office/drawing/2014/main" id="{34365E79-306E-4E79-BBD8-B7AE8EAD8BD3}"/>
              </a:ext>
            </a:extLst>
          </p:cNvPr>
          <p:cNvSpPr>
            <a:spLocks xmlns:a="http://schemas.openxmlformats.org/drawingml/2006/main" noGrp="1"/>
          </p:cNvSpPr>
          <p:nvPr/>
        </p:nvSpPr>
        <p:spPr>
          <a:xfrm xmlns:a="http://schemas.openxmlformats.org/drawingml/2006/main">
            <a:off x="62865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30" name="">
            <a:extLst xmlns:a="http://schemas.openxmlformats.org/drawingml/2006/main">
              <a:ext uri="{FF2B5EF4-FFF2-40B4-BE49-F238E27FC236}">
                <a16:creationId xmlns:a16="http://schemas.microsoft.com/office/drawing/2014/main" id="{6FA9A6D7-30DF-4545-920F-BC6B82B266A9}"/>
              </a:ext>
            </a:extLst>
          </p:cNvPr>
          <p:cNvSpPr>
            <a:spLocks xmlns:a="http://schemas.openxmlformats.org/drawingml/2006/main" noGrp="1"/>
          </p:cNvSpPr>
          <p:nvPr/>
        </p:nvSpPr>
        <p:spPr>
          <a:xfrm xmlns:a="http://schemas.openxmlformats.org/drawingml/2006/main">
            <a:off x="64389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一句话表达：</a:t>
            </a:r>
          </a:p>
        </p:txBody>
      </p:sp>
      <p:sp>
        <p:nvSpPr>
          <p:cNvPr id="31" name="">
            <a:extLst xmlns:a="http://schemas.openxmlformats.org/drawingml/2006/main">
              <a:ext uri="{FF2B5EF4-FFF2-40B4-BE49-F238E27FC236}">
                <a16:creationId xmlns:a16="http://schemas.microsoft.com/office/drawing/2014/main" id="{19ECEB18-01FA-48AA-8C29-14AE27541070}"/>
              </a:ext>
            </a:extLst>
          </p:cNvPr>
          <p:cNvSpPr>
            <a:spLocks xmlns:a="http://schemas.openxmlformats.org/drawingml/2006/main" noGrp="1"/>
          </p:cNvSpPr>
          <p:nvPr/>
        </p:nvSpPr>
        <p:spPr>
          <a:xfrm xmlns:a="http://schemas.openxmlformats.org/drawingml/2006/main">
            <a:off x="64389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智能体平台不是最终审计作业平台，而是把知识、数据、工具、模型和应用统一纳管，形成后续各类智能体和智能应用的能力底座。</a:t>
            </a:r>
          </a:p>
        </p:txBody>
      </p:sp>
    </p:spTree>
    <p:extLst>
      <p:ext uri="{BB962C8B-B14F-4D97-AF65-F5344CB8AC3E}">
        <p14:creationId xmlns:p14="http://schemas.microsoft.com/office/powerpoint/2010/main" val="163710635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BF1C00D-0FA3-4981-BDF9-67CD661ED7F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5525E62-8B33-489C-9C8E-0D59F02F3B28}"/>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7D1622D-538D-4308-9F92-43C533D3637A}"/>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293A558-837A-4DEA-BA3B-7FBB3781364A}"/>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基础智能应用能力</a:t>
            </a:r>
          </a:p>
        </p:txBody>
      </p:sp>
      <p:sp>
        <p:nvSpPr>
          <p:cNvPr id="5" name="">
            <a:extLst xmlns:a="http://schemas.openxmlformats.org/drawingml/2006/main">
              <a:ext uri="{FF2B5EF4-FFF2-40B4-BE49-F238E27FC236}">
                <a16:creationId xmlns:a16="http://schemas.microsoft.com/office/drawing/2014/main" id="{4D8AA80B-CD8D-4001-B153-5458A415EA54}"/>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BD7FD43E-C9A1-4557-9330-F8847DF66382}"/>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说明智能体平台已经具备可直接面向审计人员的基础应用能力，但这些能力仍然服从“有依据、可执行、可追溯”的原则。</a:t>
            </a:r>
          </a:p>
        </p:txBody>
      </p:sp>
      <p:sp>
        <p:nvSpPr>
          <p:cNvPr id="7" name="">
            <a:extLst xmlns:a="http://schemas.openxmlformats.org/drawingml/2006/main">
              <a:ext uri="{FF2B5EF4-FFF2-40B4-BE49-F238E27FC236}">
                <a16:creationId xmlns:a16="http://schemas.microsoft.com/office/drawing/2014/main" id="{0AC49045-256F-43BA-861B-D94ECA9DEAD7}"/>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75F45B8B-DD57-4688-9705-F3FDDC793ADC}"/>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12</a:t>
            </a:r>
          </a:p>
        </p:txBody>
      </p:sp>
      <p:sp>
        <p:nvSpPr>
          <p:cNvPr id="9" name="">
            <a:extLst xmlns:a="http://schemas.openxmlformats.org/drawingml/2006/main">
              <a:ext uri="{FF2B5EF4-FFF2-40B4-BE49-F238E27FC236}">
                <a16:creationId xmlns:a16="http://schemas.microsoft.com/office/drawing/2014/main" id="{2D1FDBDF-4B1F-4558-A4F0-BD7AF0A9C603}"/>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5F797190-48A7-4FB6-A438-3CD19792F0C2}"/>
              </a:ext>
            </a:extLst>
          </p:cNvPr>
          <p:cNvSpPr>
            <a:spLocks xmlns:a="http://schemas.openxmlformats.org/drawingml/2006/main" noGrp="1"/>
          </p:cNvSpPr>
          <p:nvPr/>
        </p:nvSpPr>
        <p:spPr>
          <a:xfrm xmlns:a="http://schemas.openxmlformats.org/drawingml/2006/main">
            <a:off x="8382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知识库问答</a:t>
            </a:r>
          </a:p>
        </p:txBody>
      </p:sp>
      <p:sp>
        <p:nvSpPr>
          <p:cNvPr id="11" name="">
            <a:extLst xmlns:a="http://schemas.openxmlformats.org/drawingml/2006/main">
              <a:ext uri="{FF2B5EF4-FFF2-40B4-BE49-F238E27FC236}">
                <a16:creationId xmlns:a16="http://schemas.microsoft.com/office/drawing/2014/main" id="{373F3E2A-9E6D-4210-922D-ADDF7D9B25C7}"/>
              </a:ext>
            </a:extLst>
          </p:cNvPr>
          <p:cNvSpPr>
            <a:spLocks xmlns:a="http://schemas.openxmlformats.org/drawingml/2006/main" noGrp="1"/>
          </p:cNvSpPr>
          <p:nvPr/>
        </p:nvSpPr>
        <p:spPr>
          <a:xfrm xmlns:a="http://schemas.openxmlformats.org/drawingml/2006/main">
            <a:off x="8382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将制度文件、审计案例、业务材料、项目资料构建为知识库问答应用，支撑审计知识问答、资料检索、依据查找和内容总结。回答可关联原文片段，降低无依据生成风险。</a:t>
            </a:r>
          </a:p>
        </p:txBody>
      </p:sp>
      <p:sp>
        <p:nvSpPr>
          <p:cNvPr id="12" name="">
            <a:extLst xmlns:a="http://schemas.openxmlformats.org/drawingml/2006/main">
              <a:ext uri="{FF2B5EF4-FFF2-40B4-BE49-F238E27FC236}">
                <a16:creationId xmlns:a16="http://schemas.microsoft.com/office/drawing/2014/main" id="{6FBBBCE6-27BF-432F-B47E-63DFE294D148}"/>
              </a:ext>
            </a:extLst>
          </p:cNvPr>
          <p:cNvSpPr>
            <a:spLocks xmlns:a="http://schemas.openxmlformats.org/drawingml/2006/main" noGrp="1"/>
          </p:cNvSpPr>
          <p:nvPr/>
        </p:nvSpPr>
        <p:spPr>
          <a:xfrm xmlns:a="http://schemas.openxmlformats.org/drawingml/2006/main">
            <a:off x="685800" y="3067050"/>
            <a:ext cx="5219700" cy="923735"/>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3" name="">
            <a:extLst xmlns:a="http://schemas.openxmlformats.org/drawingml/2006/main">
              <a:ext uri="{FF2B5EF4-FFF2-40B4-BE49-F238E27FC236}">
                <a16:creationId xmlns:a16="http://schemas.microsoft.com/office/drawing/2014/main" id="{95DA67E8-19C5-4EE9-B345-AC8B2AA56706}"/>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智能问数</a:t>
            </a:r>
          </a:p>
        </p:txBody>
      </p:sp>
      <p:sp>
        <p:nvSpPr>
          <p:cNvPr id="14" name="">
            <a:extLst xmlns:a="http://schemas.openxmlformats.org/drawingml/2006/main">
              <a:ext uri="{FF2B5EF4-FFF2-40B4-BE49-F238E27FC236}">
                <a16:creationId xmlns:a16="http://schemas.microsoft.com/office/drawing/2014/main" id="{D5FAA64C-0FAF-4C1A-82DD-82E1074CCD18}"/>
              </a:ext>
            </a:extLst>
          </p:cNvPr>
          <p:cNvSpPr>
            <a:spLocks xmlns:a="http://schemas.openxmlformats.org/drawingml/2006/main" noGrp="1"/>
          </p:cNvSpPr>
          <p:nvPr/>
        </p:nvSpPr>
        <p:spPr>
          <a:xfrm xmlns:a="http://schemas.openxmlformats.org/drawingml/2006/main">
            <a:off x="838200" y="3448050"/>
            <a:ext cx="4914900" cy="44748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支持自然语言提问、库表识别、SQL 自动生成、查询执行、结果总结和可视化展示，把结构化数据查询从“写 SQL”转化为“提问题”。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同时保留 SQL 语句和查询结果，便于审计人员复核数据口径。</a:t>
            </a:r>
          </a:p>
        </p:txBody>
      </p:sp>
      <p:sp>
        <p:nvSpPr>
          <p:cNvPr id="15" name="">
            <a:extLst xmlns:a="http://schemas.openxmlformats.org/drawingml/2006/main">
              <a:ext uri="{FF2B5EF4-FFF2-40B4-BE49-F238E27FC236}">
                <a16:creationId xmlns:a16="http://schemas.microsoft.com/office/drawing/2014/main" id="{535CAAD6-5A10-42C0-8D85-3827FCE070EF}"/>
              </a:ext>
            </a:extLst>
          </p:cNvPr>
          <p:cNvSpPr>
            <a:spLocks xmlns:a="http://schemas.openxmlformats.org/drawingml/2006/main" noGrp="1"/>
          </p:cNvSpPr>
          <p:nvPr/>
        </p:nvSpPr>
        <p:spPr>
          <a:xfrm xmlns:a="http://schemas.openxmlformats.org/drawingml/2006/main">
            <a:off x="685800" y="4105085"/>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6" name="">
            <a:extLst xmlns:a="http://schemas.openxmlformats.org/drawingml/2006/main">
              <a:ext uri="{FF2B5EF4-FFF2-40B4-BE49-F238E27FC236}">
                <a16:creationId xmlns:a16="http://schemas.microsoft.com/office/drawing/2014/main" id="{A7B411CB-112F-422E-9EBD-D8C7696A0541}"/>
              </a:ext>
            </a:extLst>
          </p:cNvPr>
          <p:cNvSpPr>
            <a:spLocks xmlns:a="http://schemas.openxmlformats.org/drawingml/2006/main" noGrp="1"/>
          </p:cNvSpPr>
          <p:nvPr/>
        </p:nvSpPr>
        <p:spPr>
          <a:xfrm xmlns:a="http://schemas.openxmlformats.org/drawingml/2006/main">
            <a:off x="838200" y="4238435"/>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内容生成与文档处理</a:t>
            </a:r>
          </a:p>
        </p:txBody>
      </p:sp>
      <p:sp>
        <p:nvSpPr>
          <p:cNvPr id="17" name="">
            <a:extLst xmlns:a="http://schemas.openxmlformats.org/drawingml/2006/main">
              <a:ext uri="{FF2B5EF4-FFF2-40B4-BE49-F238E27FC236}">
                <a16:creationId xmlns:a16="http://schemas.microsoft.com/office/drawing/2014/main" id="{A8FC1FF9-2DB4-48D9-A5DF-54A899DB784F}"/>
              </a:ext>
            </a:extLst>
          </p:cNvPr>
          <p:cNvSpPr>
            <a:spLocks xmlns:a="http://schemas.openxmlformats.org/drawingml/2006/main" noGrp="1"/>
          </p:cNvSpPr>
          <p:nvPr/>
        </p:nvSpPr>
        <p:spPr>
          <a:xfrm xmlns:a="http://schemas.openxmlformats.org/drawingml/2006/main">
            <a:off x="838200" y="4486085"/>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支持将数据库、知识库和模型能力组合为内容生成、资料问答、文档比对、要素抽取和报告初稿生成类应用。</a:t>
            </a:r>
          </a:p>
        </p:txBody>
      </p:sp>
      <p:sp>
        <p:nvSpPr>
          <p:cNvPr id="18" name="">
            <a:extLst xmlns:a="http://schemas.openxmlformats.org/drawingml/2006/main">
              <a:ext uri="{FF2B5EF4-FFF2-40B4-BE49-F238E27FC236}">
                <a16:creationId xmlns:a16="http://schemas.microsoft.com/office/drawing/2014/main" id="{67A9E8FA-81C9-41DA-BB8C-0FE11BE877E8}"/>
              </a:ext>
            </a:extLst>
          </p:cNvPr>
          <p:cNvSpPr>
            <a:spLocks xmlns:a="http://schemas.openxmlformats.org/drawingml/2006/main" noGrp="1"/>
          </p:cNvSpPr>
          <p:nvPr/>
        </p:nvSpPr>
        <p:spPr>
          <a:xfrm xmlns:a="http://schemas.openxmlformats.org/drawingml/2006/main">
            <a:off x="685800" y="5076635"/>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C49FF58B-F461-4E19-8F51-F685DF1805E1}"/>
              </a:ext>
            </a:extLst>
          </p:cNvPr>
          <p:cNvSpPr>
            <a:spLocks xmlns:a="http://schemas.openxmlformats.org/drawingml/2006/main" noGrp="1"/>
          </p:cNvSpPr>
          <p:nvPr/>
        </p:nvSpPr>
        <p:spPr>
          <a:xfrm xmlns:a="http://schemas.openxmlformats.org/drawingml/2006/main">
            <a:off x="838200" y="5209985"/>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工具调用与资源连接</a:t>
            </a:r>
          </a:p>
        </p:txBody>
      </p:sp>
      <p:sp>
        <p:nvSpPr>
          <p:cNvPr id="20" name="">
            <a:extLst xmlns:a="http://schemas.openxmlformats.org/drawingml/2006/main">
              <a:ext uri="{FF2B5EF4-FFF2-40B4-BE49-F238E27FC236}">
                <a16:creationId xmlns:a16="http://schemas.microsoft.com/office/drawing/2014/main" id="{84B22DA2-DCD8-4F3F-9EE7-169EA9235B22}"/>
              </a:ext>
            </a:extLst>
          </p:cNvPr>
          <p:cNvSpPr>
            <a:spLocks xmlns:a="http://schemas.openxmlformats.org/drawingml/2006/main" noGrp="1"/>
          </p:cNvSpPr>
          <p:nvPr/>
        </p:nvSpPr>
        <p:spPr>
          <a:xfrm xmlns:a="http://schemas.openxmlformats.org/drawingml/2006/main">
            <a:off x="838200" y="5457635"/>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支持数据库连接、MCP 工具接入、API 调用和权限控制，为上层应用和后续专有智能体提供统一资源支撑。</a:t>
            </a:r>
          </a:p>
        </p:txBody>
      </p:sp>
      <p:sp>
        <p:nvSpPr>
          <p:cNvPr id="21" name="">
            <a:extLst xmlns:a="http://schemas.openxmlformats.org/drawingml/2006/main">
              <a:ext uri="{FF2B5EF4-FFF2-40B4-BE49-F238E27FC236}">
                <a16:creationId xmlns:a16="http://schemas.microsoft.com/office/drawing/2014/main" id="{9359D8D0-171D-4CE5-B80D-7A13562F20E0}"/>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D80F7F5D-E37A-4CE9-A513-0B67245F6BC5}"/>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结果依据与过程留痕</a:t>
            </a:r>
          </a:p>
        </p:txBody>
      </p:sp>
      <p:sp>
        <p:nvSpPr>
          <p:cNvPr id="23" name="">
            <a:extLst xmlns:a="http://schemas.openxmlformats.org/drawingml/2006/main">
              <a:ext uri="{FF2B5EF4-FFF2-40B4-BE49-F238E27FC236}">
                <a16:creationId xmlns:a16="http://schemas.microsoft.com/office/drawing/2014/main" id="{4F731233-6CBE-4D83-853A-A3156202700F}"/>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智能应用的关键输出可以关联知识来源、查询语句、数据结果和任务过程，支撑后续复核。</a:t>
            </a:r>
          </a:p>
        </p:txBody>
      </p:sp>
      <p:sp>
        <p:nvSpPr>
          <p:cNvPr id="24" name="">
            <a:extLst xmlns:a="http://schemas.openxmlformats.org/drawingml/2006/main">
              <a:ext uri="{FF2B5EF4-FFF2-40B4-BE49-F238E27FC236}">
                <a16:creationId xmlns:a16="http://schemas.microsoft.com/office/drawing/2014/main" id="{11A5A36E-B88A-4E75-983C-C2029CD30E78}"/>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54A1D34C-A02E-44F8-9EBA-4FF7AF54ED55}"/>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案例带入：</a:t>
            </a:r>
          </a:p>
        </p:txBody>
      </p:sp>
      <p:sp>
        <p:nvSpPr>
          <p:cNvPr id="26" name="">
            <a:extLst xmlns:a="http://schemas.openxmlformats.org/drawingml/2006/main">
              <a:ext uri="{FF2B5EF4-FFF2-40B4-BE49-F238E27FC236}">
                <a16:creationId xmlns:a16="http://schemas.microsoft.com/office/drawing/2014/main" id="{B2E8F36E-3AF2-4637-AB8D-8F93980507F8}"/>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智能问数应用已经具备较完整的产品形态，支持数据库配置、知识构建、问答验证、SQL 执行和结果展示，可直接作为面向审计人员的基础智能应用进行展示。</a:t>
            </a:r>
          </a:p>
        </p:txBody>
      </p:sp>
      <p:sp>
        <p:nvSpPr>
          <p:cNvPr id="27" name="">
            <a:extLst xmlns:a="http://schemas.openxmlformats.org/drawingml/2006/main">
              <a:ext uri="{FF2B5EF4-FFF2-40B4-BE49-F238E27FC236}">
                <a16:creationId xmlns:a16="http://schemas.microsoft.com/office/drawing/2014/main" id="{D5362D7C-4E47-48A8-9B45-C6F8B9A05BAC}"/>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8" name="">
            <a:extLst xmlns:a="http://schemas.openxmlformats.org/drawingml/2006/main">
              <a:ext uri="{FF2B5EF4-FFF2-40B4-BE49-F238E27FC236}">
                <a16:creationId xmlns:a16="http://schemas.microsoft.com/office/drawing/2014/main" id="{D5017572-FDA2-4709-A548-F3BC4965B010}"/>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一句话表达：</a:t>
            </a:r>
          </a:p>
        </p:txBody>
      </p:sp>
      <p:sp>
        <p:nvSpPr>
          <p:cNvPr id="29" name="">
            <a:extLst xmlns:a="http://schemas.openxmlformats.org/drawingml/2006/main">
              <a:ext uri="{FF2B5EF4-FFF2-40B4-BE49-F238E27FC236}">
                <a16:creationId xmlns:a16="http://schemas.microsoft.com/office/drawing/2014/main" id="{9D84D908-9ACF-4F05-84B9-651AF6996398}"/>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智能体平台不仅提供底层资源纳管能力，也形成了可直接面向审计人员使用的一组基础智能应用能力。</a:t>
            </a:r>
          </a:p>
        </p:txBody>
      </p:sp>
    </p:spTree>
    <p:extLst>
      <p:ext uri="{BB962C8B-B14F-4D97-AF65-F5344CB8AC3E}">
        <p14:creationId xmlns:p14="http://schemas.microsoft.com/office/powerpoint/2010/main" val="21424346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DDF8EB-2D1E-42AC-9E66-8694A9B880E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C8E168F-D617-4D10-B39A-DCEF9A420DED}"/>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951E278-0DEE-44A8-B42B-D0F7952592A6}"/>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FF8A3D"/>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6226661-DC94-4B1F-9620-79FC5B5B9815}"/>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票据溯源与供应链追查</a:t>
            </a:r>
          </a:p>
        </p:txBody>
      </p:sp>
      <p:sp>
        <p:nvSpPr>
          <p:cNvPr id="5" name="">
            <a:extLst xmlns:a="http://schemas.openxmlformats.org/drawingml/2006/main">
              <a:ext uri="{FF2B5EF4-FFF2-40B4-BE49-F238E27FC236}">
                <a16:creationId xmlns:a16="http://schemas.microsoft.com/office/drawing/2014/main" id="{57676508-415E-43B9-8612-09D0D1311B02}"/>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4FE44F25-C688-4D2F-B4F6-EFE2D36B7FB7}"/>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用一个相对具体的场景展示智能体的任务执行能力：围绕一个审计目标自动组织查询、关联、追溯和分析。</a:t>
            </a:r>
          </a:p>
        </p:txBody>
      </p:sp>
      <p:sp>
        <p:nvSpPr>
          <p:cNvPr id="7" name="">
            <a:extLst xmlns:a="http://schemas.openxmlformats.org/drawingml/2006/main">
              <a:ext uri="{FF2B5EF4-FFF2-40B4-BE49-F238E27FC236}">
                <a16:creationId xmlns:a16="http://schemas.microsoft.com/office/drawing/2014/main" id="{652F7416-B71C-479F-B5A0-F6567D6F848B}"/>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AA16CB89-DDBF-4F5B-BFE7-ABF53259ED34}"/>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13</a:t>
            </a:r>
          </a:p>
        </p:txBody>
      </p:sp>
      <p:sp>
        <p:nvSpPr>
          <p:cNvPr id="9" name="">
            <a:extLst xmlns:a="http://schemas.openxmlformats.org/drawingml/2006/main">
              <a:ext uri="{FF2B5EF4-FFF2-40B4-BE49-F238E27FC236}">
                <a16:creationId xmlns:a16="http://schemas.microsoft.com/office/drawing/2014/main" id="{F70C64F7-818D-4889-B619-C3FB6F30C285}"/>
              </a:ext>
            </a:extLst>
          </p:cNvPr>
          <p:cNvSpPr>
            <a:spLocks xmlns:a="http://schemas.openxmlformats.org/drawingml/2006/main" noGrp="1"/>
          </p:cNvSpPr>
          <p:nvPr/>
        </p:nvSpPr>
        <p:spPr>
          <a:xfrm xmlns:a="http://schemas.openxmlformats.org/drawingml/2006/main">
            <a:off x="7905750" y="2076450"/>
            <a:ext cx="3543300" cy="3714750"/>
          </a:xfrm>
          <a:prstGeom xmlns:a="http://schemas.openxmlformats.org/drawingml/2006/main" prst="rect">
            <a:avLst/>
          </a:prstGeom>
          <a:solidFill xmlns:a="http://schemas.openxmlformats.org/drawingml/2006/main">
            <a:srgbClr val="0D1B2A"/>
          </a:solidFill>
          <a:ln xmlns:a="http://schemas.openxmlformats.org/drawingml/2006/main" w="0">
            <a:solidFill>
              <a:srgbClr val="0D1B2A"/>
            </a:solidFill>
            <a:prstDash val="solid"/>
          </a:ln>
        </p:spPr>
      </p:sp>
      <p:sp>
        <p:nvSpPr>
          <p:cNvPr id="10" name="">
            <a:extLst xmlns:a="http://schemas.openxmlformats.org/drawingml/2006/main">
              <a:ext uri="{FF2B5EF4-FFF2-40B4-BE49-F238E27FC236}">
                <a16:creationId xmlns:a16="http://schemas.microsoft.com/office/drawing/2014/main" id="{5FECD3E7-3091-4CDF-ABEA-1E65F1C58657}"/>
              </a:ext>
            </a:extLst>
          </p:cNvPr>
          <p:cNvSpPr>
            <a:spLocks xmlns:a="http://schemas.openxmlformats.org/drawingml/2006/main" noGrp="1"/>
          </p:cNvSpPr>
          <p:nvPr/>
        </p:nvSpPr>
        <p:spPr>
          <a:xfrm xmlns:a="http://schemas.openxmlformats.org/drawingml/2006/main">
            <a:off x="8172450" y="2266950"/>
            <a:ext cx="3009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p>
        </p:txBody>
      </p:sp>
      <p:sp>
        <p:nvSpPr>
          <p:cNvPr id="11" name="">
            <a:extLst xmlns:a="http://schemas.openxmlformats.org/drawingml/2006/main">
              <a:ext uri="{FF2B5EF4-FFF2-40B4-BE49-F238E27FC236}">
                <a16:creationId xmlns:a16="http://schemas.microsoft.com/office/drawing/2014/main" id="{6C57A422-2613-4F87-8BA8-612D69D0387B}"/>
              </a:ext>
            </a:extLst>
          </p:cNvPr>
          <p:cNvSpPr>
            <a:spLocks xmlns:a="http://schemas.openxmlformats.org/drawingml/2006/main" noGrp="1"/>
          </p:cNvSpPr>
          <p:nvPr/>
        </p:nvSpPr>
        <p:spPr>
          <a:xfrm xmlns:a="http://schemas.openxmlformats.org/drawingml/2006/main">
            <a:off x="8172450" y="2762250"/>
            <a:ext cx="2743200" cy="628650"/>
          </a:xfrm>
          <a:prstGeom xmlns:a="http://schemas.openxmlformats.org/drawingml/2006/main" prst="rect">
            <a:avLst/>
          </a:prstGeom>
          <a:ln xmlns:a="http://schemas.openxmlformats.org/drawingml/2006/main" w="9525">
            <a:prstDash val="solid"/>
          </a:ln>
        </p:spPr>
      </p:sp>
      <p:sp>
        <p:nvSpPr>
          <p:cNvPr id="12" name="">
            <a:extLst xmlns:a="http://schemas.openxmlformats.org/drawingml/2006/main">
              <a:ext uri="{FF2B5EF4-FFF2-40B4-BE49-F238E27FC236}">
                <a16:creationId xmlns:a16="http://schemas.microsoft.com/office/drawing/2014/main" id="{8B84B2ED-B5C6-46AB-B25C-99515E52238C}"/>
              </a:ext>
            </a:extLst>
          </p:cNvPr>
          <p:cNvSpPr>
            <a:spLocks xmlns:a="http://schemas.openxmlformats.org/drawingml/2006/main" noGrp="1"/>
          </p:cNvSpPr>
          <p:nvPr/>
        </p:nvSpPr>
        <p:spPr>
          <a:xfrm xmlns:a="http://schemas.openxmlformats.org/drawingml/2006/main">
            <a:off x="8362950" y="29337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案例验证</a:t>
            </a:r>
          </a:p>
        </p:txBody>
      </p:sp>
      <p:sp>
        <p:nvSpPr>
          <p:cNvPr id="13" name="">
            <a:extLst xmlns:a="http://schemas.openxmlformats.org/drawingml/2006/main">
              <a:ext uri="{FF2B5EF4-FFF2-40B4-BE49-F238E27FC236}">
                <a16:creationId xmlns:a16="http://schemas.microsoft.com/office/drawing/2014/main" id="{A924ACF3-288F-493F-A499-AD09BA8CE634}"/>
              </a:ext>
            </a:extLst>
          </p:cNvPr>
          <p:cNvSpPr>
            <a:spLocks xmlns:a="http://schemas.openxmlformats.org/drawingml/2006/main" noGrp="1"/>
          </p:cNvSpPr>
          <p:nvPr/>
        </p:nvSpPr>
        <p:spPr>
          <a:xfrm xmlns:a="http://schemas.openxmlformats.org/drawingml/2006/main">
            <a:off x="8172450" y="3543300"/>
            <a:ext cx="2743200" cy="628650"/>
          </a:xfrm>
          <a:prstGeom xmlns:a="http://schemas.openxmlformats.org/drawingml/2006/main" prst="rect">
            <a:avLst/>
          </a:prstGeom>
          <a:ln xmlns:a="http://schemas.openxmlformats.org/drawingml/2006/main" w="9525">
            <a:prstDash val="solid"/>
          </a:ln>
        </p:spPr>
      </p:sp>
      <p:sp>
        <p:nvSpPr>
          <p:cNvPr id="14" name="">
            <a:extLst xmlns:a="http://schemas.openxmlformats.org/drawingml/2006/main">
              <a:ext uri="{FF2B5EF4-FFF2-40B4-BE49-F238E27FC236}">
                <a16:creationId xmlns:a16="http://schemas.microsoft.com/office/drawing/2014/main" id="{B0B97676-EDB3-4A5E-B1C5-C8F67D811CBB}"/>
              </a:ext>
            </a:extLst>
          </p:cNvPr>
          <p:cNvSpPr>
            <a:spLocks xmlns:a="http://schemas.openxmlformats.org/drawingml/2006/main" noGrp="1"/>
          </p:cNvSpPr>
          <p:nvPr/>
        </p:nvSpPr>
        <p:spPr>
          <a:xfrm xmlns:a="http://schemas.openxmlformats.org/drawingml/2006/main">
            <a:off x="8362950" y="371475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作业闭环</a:t>
            </a:r>
          </a:p>
        </p:txBody>
      </p:sp>
      <p:sp>
        <p:nvSpPr>
          <p:cNvPr id="15" name="">
            <a:extLst xmlns:a="http://schemas.openxmlformats.org/drawingml/2006/main">
              <a:ext uri="{FF2B5EF4-FFF2-40B4-BE49-F238E27FC236}">
                <a16:creationId xmlns:a16="http://schemas.microsoft.com/office/drawing/2014/main" id="{1E10865B-1ECD-48B2-BB09-64DA384C817B}"/>
              </a:ext>
            </a:extLst>
          </p:cNvPr>
          <p:cNvSpPr>
            <a:spLocks xmlns:a="http://schemas.openxmlformats.org/drawingml/2006/main" noGrp="1"/>
          </p:cNvSpPr>
          <p:nvPr/>
        </p:nvSpPr>
        <p:spPr>
          <a:xfrm xmlns:a="http://schemas.openxmlformats.org/drawingml/2006/main">
            <a:off x="8172450" y="4324350"/>
            <a:ext cx="2743200" cy="628650"/>
          </a:xfrm>
          <a:prstGeom xmlns:a="http://schemas.openxmlformats.org/drawingml/2006/main" prst="rect">
            <a:avLst/>
          </a:prstGeom>
          <a:ln xmlns:a="http://schemas.openxmlformats.org/drawingml/2006/main" w="9525">
            <a:prstDash val="solid"/>
          </a:ln>
        </p:spPr>
      </p:sp>
      <p:sp>
        <p:nvSpPr>
          <p:cNvPr id="16" name="">
            <a:extLst xmlns:a="http://schemas.openxmlformats.org/drawingml/2006/main">
              <a:ext uri="{FF2B5EF4-FFF2-40B4-BE49-F238E27FC236}">
                <a16:creationId xmlns:a16="http://schemas.microsoft.com/office/drawing/2014/main" id="{DBB55333-0674-40CC-A20C-C801E7A88334}"/>
              </a:ext>
            </a:extLst>
          </p:cNvPr>
          <p:cNvSpPr>
            <a:spLocks xmlns:a="http://schemas.openxmlformats.org/drawingml/2006/main" noGrp="1"/>
          </p:cNvSpPr>
          <p:nvPr/>
        </p:nvSpPr>
        <p:spPr>
          <a:xfrm xmlns:a="http://schemas.openxmlformats.org/drawingml/2006/main">
            <a:off x="8362950" y="44958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可复核</a:t>
            </a:r>
          </a:p>
        </p:txBody>
      </p:sp>
      <p:sp>
        <p:nvSpPr>
          <p:cNvPr id="17" name="">
            <a:extLst xmlns:a="http://schemas.openxmlformats.org/drawingml/2006/main">
              <a:ext uri="{FF2B5EF4-FFF2-40B4-BE49-F238E27FC236}">
                <a16:creationId xmlns:a16="http://schemas.microsoft.com/office/drawing/2014/main" id="{38BFD69C-CEE8-4B86-8F80-CC04DA4F645C}"/>
              </a:ext>
            </a:extLst>
          </p:cNvPr>
          <p:cNvSpPr>
            <a:spLocks xmlns:a="http://schemas.openxmlformats.org/drawingml/2006/main" noGrp="1"/>
          </p:cNvSpPr>
          <p:nvPr/>
        </p:nvSpPr>
        <p:spPr>
          <a:xfrm xmlns:a="http://schemas.openxmlformats.org/drawingml/2006/main">
            <a:off x="8172450" y="5295900"/>
            <a:ext cx="2971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p>
        </p:txBody>
      </p:sp>
      <p:sp>
        <p:nvSpPr>
          <p:cNvPr id="18" name="">
            <a:extLst xmlns:a="http://schemas.openxmlformats.org/drawingml/2006/main">
              <a:ext uri="{FF2B5EF4-FFF2-40B4-BE49-F238E27FC236}">
                <a16:creationId xmlns:a16="http://schemas.microsoft.com/office/drawing/2014/main" id="{2E5DB7CA-2AE5-47DC-B511-C8009AFC06B6}"/>
              </a:ext>
            </a:extLst>
          </p:cNvPr>
          <p:cNvSpPr>
            <a:spLocks xmlns:a="http://schemas.openxmlformats.org/drawingml/2006/main" noGrp="1"/>
          </p:cNvSpPr>
          <p:nvPr/>
        </p:nvSpPr>
        <p:spPr>
          <a:xfrm xmlns:a="http://schemas.openxmlformats.org/drawingml/2006/main">
            <a:off x="685800" y="2095500"/>
            <a:ext cx="6858000" cy="930212"/>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6E5FAB85-672D-4C97-98EF-8C6A260EBB29}"/>
              </a:ext>
            </a:extLst>
          </p:cNvPr>
          <p:cNvSpPr>
            <a:spLocks xmlns:a="http://schemas.openxmlformats.org/drawingml/2006/main" noGrp="1"/>
          </p:cNvSpPr>
          <p:nvPr/>
        </p:nvSpPr>
        <p:spPr>
          <a:xfrm xmlns:a="http://schemas.openxmlformats.org/drawingml/2006/main">
            <a:off x="838200" y="222885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传统问题</a:t>
            </a:r>
          </a:p>
        </p:txBody>
      </p:sp>
      <p:sp>
        <p:nvSpPr>
          <p:cNvPr id="20" name="">
            <a:extLst xmlns:a="http://schemas.openxmlformats.org/drawingml/2006/main">
              <a:ext uri="{FF2B5EF4-FFF2-40B4-BE49-F238E27FC236}">
                <a16:creationId xmlns:a16="http://schemas.microsoft.com/office/drawing/2014/main" id="{24272D2B-54C4-440A-9367-F0DA5DACB64C}"/>
              </a:ext>
            </a:extLst>
          </p:cNvPr>
          <p:cNvSpPr>
            <a:spLocks xmlns:a="http://schemas.openxmlformats.org/drawingml/2006/main" noGrp="1"/>
          </p:cNvSpPr>
          <p:nvPr/>
        </p:nvSpPr>
        <p:spPr>
          <a:xfrm xmlns:a="http://schemas.openxmlformats.org/drawingml/2006/main">
            <a:off x="838200" y="2476500"/>
            <a:ext cx="6553200" cy="453961"/>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发票链路涉及多个主体、多个层级和多张票据。</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人工追溯需要反复查询、比对、整理和画链路。</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容易遗漏关键节点，难以快速识别异常加价和异常流转路径。</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单次分析结果难以沉淀为可复用任务能力。</a:t>
            </a:r>
          </a:p>
        </p:txBody>
      </p:sp>
      <p:sp>
        <p:nvSpPr>
          <p:cNvPr id="21" name="">
            <a:extLst xmlns:a="http://schemas.openxmlformats.org/drawingml/2006/main">
              <a:ext uri="{FF2B5EF4-FFF2-40B4-BE49-F238E27FC236}">
                <a16:creationId xmlns:a16="http://schemas.microsoft.com/office/drawing/2014/main" id="{828BA674-FB95-411B-8B62-86B2FEF75D96}"/>
              </a:ext>
            </a:extLst>
          </p:cNvPr>
          <p:cNvSpPr>
            <a:spLocks xmlns:a="http://schemas.openxmlformats.org/drawingml/2006/main" noGrp="1"/>
          </p:cNvSpPr>
          <p:nvPr/>
        </p:nvSpPr>
        <p:spPr>
          <a:xfrm xmlns:a="http://schemas.openxmlformats.org/drawingml/2006/main">
            <a:off x="685800" y="3140011"/>
            <a:ext cx="6858000" cy="991743"/>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5E596A16-0C4B-410B-A16B-FF8B04A5DAF8}"/>
              </a:ext>
            </a:extLst>
          </p:cNvPr>
          <p:cNvSpPr>
            <a:spLocks xmlns:a="http://schemas.openxmlformats.org/drawingml/2006/main" noGrp="1"/>
          </p:cNvSpPr>
          <p:nvPr/>
        </p:nvSpPr>
        <p:spPr>
          <a:xfrm xmlns:a="http://schemas.openxmlformats.org/drawingml/2006/main">
            <a:off x="838200" y="3273361"/>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AI 做法</a:t>
            </a:r>
          </a:p>
        </p:txBody>
      </p:sp>
      <p:sp>
        <p:nvSpPr>
          <p:cNvPr id="23" name="">
            <a:extLst xmlns:a="http://schemas.openxmlformats.org/drawingml/2006/main">
              <a:ext uri="{FF2B5EF4-FFF2-40B4-BE49-F238E27FC236}">
                <a16:creationId xmlns:a16="http://schemas.microsoft.com/office/drawing/2014/main" id="{7A48E008-5904-4FAB-AFAC-D9307D4E61D0}"/>
              </a:ext>
            </a:extLst>
          </p:cNvPr>
          <p:cNvSpPr>
            <a:spLocks xmlns:a="http://schemas.openxmlformats.org/drawingml/2006/main" noGrp="1"/>
          </p:cNvSpPr>
          <p:nvPr/>
        </p:nvSpPr>
        <p:spPr>
          <a:xfrm xmlns:a="http://schemas.openxmlformats.org/drawingml/2006/main">
            <a:off x="838200" y="3521011"/>
            <a:ext cx="6553200" cy="51549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识别发票、货物、供应商、经销商、生产商、金额、时间等关键对象。</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通过数据库查询、文本抽取和关系匹配，自动组织销售链路。</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对链路层级、价格变化、主体关系和异常节点进行分析。</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输出链路结构、价格变化表、疑点说明和可复核依据。</a:t>
            </a:r>
          </a:p>
        </p:txBody>
      </p:sp>
      <p:sp>
        <p:nvSpPr>
          <p:cNvPr id="24" name="">
            <a:extLst xmlns:a="http://schemas.openxmlformats.org/drawingml/2006/main">
              <a:ext uri="{FF2B5EF4-FFF2-40B4-BE49-F238E27FC236}">
                <a16:creationId xmlns:a16="http://schemas.microsoft.com/office/drawing/2014/main" id="{B8D9E0AD-9DE5-48BE-A883-9F79D707F70C}"/>
              </a:ext>
            </a:extLst>
          </p:cNvPr>
          <p:cNvSpPr>
            <a:spLocks xmlns:a="http://schemas.openxmlformats.org/drawingml/2006/main" noGrp="1"/>
          </p:cNvSpPr>
          <p:nvPr/>
        </p:nvSpPr>
        <p:spPr>
          <a:xfrm xmlns:a="http://schemas.openxmlformats.org/drawingml/2006/main">
            <a:off x="685800" y="4246055"/>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947521CD-B32E-4376-B9A8-3A81D556FE7E}"/>
              </a:ext>
            </a:extLst>
          </p:cNvPr>
          <p:cNvSpPr>
            <a:spLocks xmlns:a="http://schemas.openxmlformats.org/drawingml/2006/main" noGrp="1"/>
          </p:cNvSpPr>
          <p:nvPr/>
        </p:nvSpPr>
        <p:spPr>
          <a:xfrm xmlns:a="http://schemas.openxmlformats.org/drawingml/2006/main">
            <a:off x="838200" y="4379405"/>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应用成效</a:t>
            </a:r>
          </a:p>
        </p:txBody>
      </p:sp>
      <p:sp>
        <p:nvSpPr>
          <p:cNvPr id="26" name="">
            <a:extLst xmlns:a="http://schemas.openxmlformats.org/drawingml/2006/main">
              <a:ext uri="{FF2B5EF4-FFF2-40B4-BE49-F238E27FC236}">
                <a16:creationId xmlns:a16="http://schemas.microsoft.com/office/drawing/2014/main" id="{B2458445-366D-4BC2-B546-87271F3582CC}"/>
              </a:ext>
            </a:extLst>
          </p:cNvPr>
          <p:cNvSpPr>
            <a:spLocks xmlns:a="http://schemas.openxmlformats.org/drawingml/2006/main" noGrp="1"/>
          </p:cNvSpPr>
          <p:nvPr/>
        </p:nvSpPr>
        <p:spPr>
          <a:xfrm xmlns:a="http://schemas.openxmlformats.org/drawingml/2006/main">
            <a:off x="838200" y="4627055"/>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系统可梳理得到完整销售链路，并分析链路上的销售加价情况，辅助开展合规性评估、异常路径识别和风险线索判断。</a:t>
            </a:r>
          </a:p>
        </p:txBody>
      </p:sp>
      <p:sp>
        <p:nvSpPr>
          <p:cNvPr id="27" name="">
            <a:extLst xmlns:a="http://schemas.openxmlformats.org/drawingml/2006/main">
              <a:ext uri="{FF2B5EF4-FFF2-40B4-BE49-F238E27FC236}">
                <a16:creationId xmlns:a16="http://schemas.microsoft.com/office/drawing/2014/main" id="{6B524037-E6CF-454B-919F-E8055C3E1345}"/>
              </a:ext>
            </a:extLst>
          </p:cNvPr>
          <p:cNvSpPr>
            <a:spLocks xmlns:a="http://schemas.openxmlformats.org/drawingml/2006/main" noGrp="1"/>
          </p:cNvSpPr>
          <p:nvPr/>
        </p:nvSpPr>
        <p:spPr>
          <a:xfrm xmlns:a="http://schemas.openxmlformats.org/drawingml/2006/main">
            <a:off x="685800" y="5217605"/>
            <a:ext cx="6858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8" name="">
            <a:extLst xmlns:a="http://schemas.openxmlformats.org/drawingml/2006/main">
              <a:ext uri="{FF2B5EF4-FFF2-40B4-BE49-F238E27FC236}">
                <a16:creationId xmlns:a16="http://schemas.microsoft.com/office/drawing/2014/main" id="{B5859F09-FA16-41E3-8674-7066CACDABD3}"/>
              </a:ext>
            </a:extLst>
          </p:cNvPr>
          <p:cNvSpPr>
            <a:spLocks xmlns:a="http://schemas.openxmlformats.org/drawingml/2006/main" noGrp="1"/>
          </p:cNvSpPr>
          <p:nvPr/>
        </p:nvSpPr>
        <p:spPr>
          <a:xfrm xmlns:a="http://schemas.openxmlformats.org/drawingml/2006/main">
            <a:off x="838200" y="5350955"/>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一句话表达：</a:t>
            </a:r>
          </a:p>
        </p:txBody>
      </p:sp>
      <p:sp>
        <p:nvSpPr>
          <p:cNvPr id="29" name="">
            <a:extLst xmlns:a="http://schemas.openxmlformats.org/drawingml/2006/main">
              <a:ext uri="{FF2B5EF4-FFF2-40B4-BE49-F238E27FC236}">
                <a16:creationId xmlns:a16="http://schemas.microsoft.com/office/drawing/2014/main" id="{D86C15AB-DCFE-4923-A87D-6984425A87E2}"/>
              </a:ext>
            </a:extLst>
          </p:cNvPr>
          <p:cNvSpPr>
            <a:spLocks xmlns:a="http://schemas.openxmlformats.org/drawingml/2006/main" noGrp="1"/>
          </p:cNvSpPr>
          <p:nvPr/>
        </p:nvSpPr>
        <p:spPr>
          <a:xfrm xmlns:a="http://schemas.openxmlformats.org/drawingml/2006/main">
            <a:off x="838200" y="5598605"/>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这类独立审查任务型智能体，可以直接围绕特定审计目标组织查询、关联、追溯和分析动作。</a:t>
            </a:r>
          </a:p>
        </p:txBody>
      </p:sp>
    </p:spTree>
    <p:extLst>
      <p:ext uri="{BB962C8B-B14F-4D97-AF65-F5344CB8AC3E}">
        <p14:creationId xmlns:p14="http://schemas.microsoft.com/office/powerpoint/2010/main" val="123657054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55BAFDF-B104-454B-9C7A-9233408C89D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33E9537-45CF-4A17-B259-156BD93A85D1}"/>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E0260EF-E5BC-4808-A7F5-4F8DEE5EF280}"/>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86E98CE-65AF-4717-9CB5-4A04DD6DE525}"/>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向后赋能的数据治理与图谱智能体</a:t>
            </a:r>
          </a:p>
        </p:txBody>
      </p:sp>
      <p:sp>
        <p:nvSpPr>
          <p:cNvPr id="5" name="">
            <a:extLst xmlns:a="http://schemas.openxmlformats.org/drawingml/2006/main">
              <a:ext uri="{FF2B5EF4-FFF2-40B4-BE49-F238E27FC236}">
                <a16:creationId xmlns:a16="http://schemas.microsoft.com/office/drawing/2014/main" id="{0476C48D-1F24-4679-969B-54AD19E853F9}"/>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1366CB9F-C3A0-4D29-B941-7D985FF74BBB}"/>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把智能体平台和后续数据治理、图谱平台打通，证明你们不是做孤立 AI 应用，而是已经沉淀了面向审计数据处理和关系推理的专有智能体。</a:t>
            </a:r>
          </a:p>
        </p:txBody>
      </p:sp>
      <p:sp>
        <p:nvSpPr>
          <p:cNvPr id="7" name="">
            <a:extLst xmlns:a="http://schemas.openxmlformats.org/drawingml/2006/main">
              <a:ext uri="{FF2B5EF4-FFF2-40B4-BE49-F238E27FC236}">
                <a16:creationId xmlns:a16="http://schemas.microsoft.com/office/drawing/2014/main" id="{529CFF31-6571-4A89-B097-3B4CA4DEB0F8}"/>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566A3FAF-1B97-4C33-9F19-7C67E1085502}"/>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14</a:t>
            </a:r>
          </a:p>
        </p:txBody>
      </p:sp>
      <p:sp>
        <p:nvSpPr>
          <p:cNvPr id="9" name="">
            <a:extLst xmlns:a="http://schemas.openxmlformats.org/drawingml/2006/main">
              <a:ext uri="{FF2B5EF4-FFF2-40B4-BE49-F238E27FC236}">
                <a16:creationId xmlns:a16="http://schemas.microsoft.com/office/drawing/2014/main" id="{64991AA8-B6B5-4788-84B6-DBF23F7696CA}"/>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2F5C1F4F-6211-4A3E-8DCE-CADDA718B1C2}"/>
              </a:ext>
            </a:extLst>
          </p:cNvPr>
          <p:cNvSpPr>
            <a:spLocks xmlns:a="http://schemas.openxmlformats.org/drawingml/2006/main" noGrp="1"/>
          </p:cNvSpPr>
          <p:nvPr/>
        </p:nvSpPr>
        <p:spPr>
          <a:xfrm xmlns:a="http://schemas.openxmlformats.org/drawingml/2006/main">
            <a:off x="8382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面向数据治理平台</a:t>
            </a:r>
          </a:p>
        </p:txBody>
      </p:sp>
      <p:sp>
        <p:nvSpPr>
          <p:cNvPr id="11" name="">
            <a:extLst xmlns:a="http://schemas.openxmlformats.org/drawingml/2006/main">
              <a:ext uri="{FF2B5EF4-FFF2-40B4-BE49-F238E27FC236}">
                <a16:creationId xmlns:a16="http://schemas.microsoft.com/office/drawing/2014/main" id="{5195C87F-B175-4025-B059-224D5BCBF616}"/>
              </a:ext>
            </a:extLst>
          </p:cNvPr>
          <p:cNvSpPr>
            <a:spLocks xmlns:a="http://schemas.openxmlformats.org/drawingml/2006/main" noGrp="1"/>
          </p:cNvSpPr>
          <p:nvPr/>
        </p:nvSpPr>
        <p:spPr>
          <a:xfrm xmlns:a="http://schemas.openxmlformats.org/drawingml/2006/main">
            <a:off x="8382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数据漫游实体搜集智能体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自动探查库表和字段，识别身份证号、手机号、银行卡号、统一社会信用代码等重点实体，形成实体分布视图和后续取证线索。</a:t>
            </a:r>
          </a:p>
        </p:txBody>
      </p:sp>
      <p:sp>
        <p:nvSpPr>
          <p:cNvPr id="12" name="">
            <a:extLst xmlns:a="http://schemas.openxmlformats.org/drawingml/2006/main">
              <a:ext uri="{FF2B5EF4-FFF2-40B4-BE49-F238E27FC236}">
                <a16:creationId xmlns:a16="http://schemas.microsoft.com/office/drawing/2014/main" id="{70E36173-6C0D-41B4-B067-BA0F68CB22A9}"/>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3" name="">
            <a:extLst xmlns:a="http://schemas.openxmlformats.org/drawingml/2006/main">
              <a:ext uri="{FF2B5EF4-FFF2-40B4-BE49-F238E27FC236}">
                <a16:creationId xmlns:a16="http://schemas.microsoft.com/office/drawing/2014/main" id="{E49F528D-FEF7-4C79-BD52-AB996E3B91F1}"/>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数据贯通智能体</a:t>
            </a:r>
          </a:p>
        </p:txBody>
      </p:sp>
      <p:sp>
        <p:nvSpPr>
          <p:cNvPr id="14" name="">
            <a:extLst xmlns:a="http://schemas.openxmlformats.org/drawingml/2006/main">
              <a:ext uri="{FF2B5EF4-FFF2-40B4-BE49-F238E27FC236}">
                <a16:creationId xmlns:a16="http://schemas.microsoft.com/office/drawing/2014/main" id="{88A31A03-F74B-4BD8-BABC-F33487641FFD}"/>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围绕人员、企业、单位、项目、资金等对象，辅助发现跨表、跨库、跨系统之间的潜在关联关系，生成可复核的数据关联依据。</a:t>
            </a:r>
          </a:p>
        </p:txBody>
      </p:sp>
      <p:sp>
        <p:nvSpPr>
          <p:cNvPr id="15" name="">
            <a:extLst xmlns:a="http://schemas.openxmlformats.org/drawingml/2006/main">
              <a:ext uri="{FF2B5EF4-FFF2-40B4-BE49-F238E27FC236}">
                <a16:creationId xmlns:a16="http://schemas.microsoft.com/office/drawing/2014/main" id="{7E94CEE1-2C02-4E45-B4AD-EF08A3832447}"/>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6" name="">
            <a:extLst xmlns:a="http://schemas.openxmlformats.org/drawingml/2006/main">
              <a:ext uri="{FF2B5EF4-FFF2-40B4-BE49-F238E27FC236}">
                <a16:creationId xmlns:a16="http://schemas.microsoft.com/office/drawing/2014/main" id="{941AA3BF-9A77-4444-B3F7-EB8D9706B461}"/>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历史变更结构化智能体</a:t>
            </a:r>
          </a:p>
        </p:txBody>
      </p:sp>
      <p:sp>
        <p:nvSpPr>
          <p:cNvPr id="17" name="">
            <a:extLst xmlns:a="http://schemas.openxmlformats.org/drawingml/2006/main">
              <a:ext uri="{FF2B5EF4-FFF2-40B4-BE49-F238E27FC236}">
                <a16:creationId xmlns:a16="http://schemas.microsoft.com/office/drawing/2014/main" id="{F3C0DB7C-861D-42E8-993F-5C6C77A51949}"/>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面向工商变更、股权变更、高管变更、法定代表人变更等非结构化文本，自动抽取时间、主体、变更事项、变更前后内容和关键数值。</a:t>
            </a:r>
          </a:p>
        </p:txBody>
      </p:sp>
      <p:sp>
        <p:nvSpPr>
          <p:cNvPr id="18" name="">
            <a:extLst xmlns:a="http://schemas.openxmlformats.org/drawingml/2006/main">
              <a:ext uri="{FF2B5EF4-FFF2-40B4-BE49-F238E27FC236}">
                <a16:creationId xmlns:a16="http://schemas.microsoft.com/office/drawing/2014/main" id="{1C10DAFC-60EE-4385-AEA4-049033CD64F1}"/>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54608104-8F76-4924-80CC-CAF1D69A3019}"/>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面向数据图谱平台</a:t>
            </a:r>
          </a:p>
        </p:txBody>
      </p:sp>
      <p:sp>
        <p:nvSpPr>
          <p:cNvPr id="20" name="">
            <a:extLst xmlns:a="http://schemas.openxmlformats.org/drawingml/2006/main">
              <a:ext uri="{FF2B5EF4-FFF2-40B4-BE49-F238E27FC236}">
                <a16:creationId xmlns:a16="http://schemas.microsoft.com/office/drawing/2014/main" id="{7220C02F-C20D-4DC5-9FB1-DC4A4046D58E}"/>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隐含关系挖掘智能体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通过自然语言关系定义、图谱查询模板和大模型推理，辅助发现图谱中未显式存在但具有审计价值的潜在关系。</a:t>
            </a:r>
          </a:p>
        </p:txBody>
      </p:sp>
      <p:sp>
        <p:nvSpPr>
          <p:cNvPr id="21" name="">
            <a:extLst xmlns:a="http://schemas.openxmlformats.org/drawingml/2006/main">
              <a:ext uri="{FF2B5EF4-FFF2-40B4-BE49-F238E27FC236}">
                <a16:creationId xmlns:a16="http://schemas.microsoft.com/office/drawing/2014/main" id="{275AFE0F-EADA-46C4-B30C-AD1F607DC82D}"/>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0F3BD567-8D05-452F-A327-D3CDB0CC1209}"/>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关系推理与线索发现智能体</a:t>
            </a:r>
          </a:p>
        </p:txBody>
      </p:sp>
      <p:sp>
        <p:nvSpPr>
          <p:cNvPr id="23" name="">
            <a:extLst xmlns:a="http://schemas.openxmlformats.org/drawingml/2006/main">
              <a:ext uri="{FF2B5EF4-FFF2-40B4-BE49-F238E27FC236}">
                <a16:creationId xmlns:a16="http://schemas.microsoft.com/office/drawing/2014/main" id="{C59540D0-BDFB-4888-9CC8-E0A5A7A11BAA}"/>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围绕关联交易、利益输送、资金回路、供应链异常等典型审计问题，执行多跳查询、路径分析和线索生成。</a:t>
            </a:r>
          </a:p>
        </p:txBody>
      </p:sp>
      <p:sp>
        <p:nvSpPr>
          <p:cNvPr id="24" name="">
            <a:extLst xmlns:a="http://schemas.openxmlformats.org/drawingml/2006/main">
              <a:ext uri="{FF2B5EF4-FFF2-40B4-BE49-F238E27FC236}">
                <a16:creationId xmlns:a16="http://schemas.microsoft.com/office/drawing/2014/main" id="{C56871FD-5EBF-46B5-B5ED-7372C09D1EDC}"/>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94A61169-65A0-47C8-98DC-2B3D60E5173F}"/>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一句话表达：</a:t>
            </a:r>
          </a:p>
        </p:txBody>
      </p:sp>
      <p:sp>
        <p:nvSpPr>
          <p:cNvPr id="26" name="">
            <a:extLst xmlns:a="http://schemas.openxmlformats.org/drawingml/2006/main">
              <a:ext uri="{FF2B5EF4-FFF2-40B4-BE49-F238E27FC236}">
                <a16:creationId xmlns:a16="http://schemas.microsoft.com/office/drawing/2014/main" id="{68BCADA7-D5A0-47FC-841D-A570B4548CE3}"/>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智能体平台在能力底座之上，向后为数据治理平台和数据图谱平台提供专有智能体支撑。</a:t>
            </a:r>
          </a:p>
        </p:txBody>
      </p:sp>
    </p:spTree>
    <p:extLst>
      <p:ext uri="{BB962C8B-B14F-4D97-AF65-F5344CB8AC3E}">
        <p14:creationId xmlns:p14="http://schemas.microsoft.com/office/powerpoint/2010/main" val="143751751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3D4E05-0606-4041-9983-BA5B06E0B90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49BD7C2-1228-4E31-8E19-8672BFB769E6}"/>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0A64E4C-EF7A-4C6C-A3FD-29C09CB96D10}"/>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F8F6175-1170-4BF9-9C82-2EAF59C70288}"/>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本章收束：智能体平台向后赋能</a:t>
            </a:r>
          </a:p>
        </p:txBody>
      </p:sp>
      <p:sp>
        <p:nvSpPr>
          <p:cNvPr id="5" name="">
            <a:extLst xmlns:a="http://schemas.openxmlformats.org/drawingml/2006/main">
              <a:ext uri="{FF2B5EF4-FFF2-40B4-BE49-F238E27FC236}">
                <a16:creationId xmlns:a16="http://schemas.microsoft.com/office/drawing/2014/main" id="{E05D289C-B0FC-4BA1-AFB9-F41C07EF6F26}"/>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98E5A67D-D149-4C87-A053-BF1F71EFA7D6}"/>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总结智能体平台的三层价值，并自然过渡到数据治理平台。</a:t>
            </a:r>
          </a:p>
        </p:txBody>
      </p:sp>
      <p:sp>
        <p:nvSpPr>
          <p:cNvPr id="7" name="">
            <a:extLst xmlns:a="http://schemas.openxmlformats.org/drawingml/2006/main">
              <a:ext uri="{FF2B5EF4-FFF2-40B4-BE49-F238E27FC236}">
                <a16:creationId xmlns:a16="http://schemas.microsoft.com/office/drawing/2014/main" id="{775B30E8-DC0E-4726-9C01-ADE7D5E98D9D}"/>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F4597DD8-70DA-490D-AF54-3507D83B1D90}"/>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15</a:t>
            </a:r>
          </a:p>
        </p:txBody>
      </p:sp>
      <p:sp>
        <p:nvSpPr>
          <p:cNvPr id="9" name="">
            <a:extLst xmlns:a="http://schemas.openxmlformats.org/drawingml/2006/main">
              <a:ext uri="{FF2B5EF4-FFF2-40B4-BE49-F238E27FC236}">
                <a16:creationId xmlns:a16="http://schemas.microsoft.com/office/drawing/2014/main" id="{D389F7DD-960E-4177-830E-5E97B1A5961D}"/>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E2A9F4B0-7424-4354-B638-BF183AB7DC70}"/>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智能体平台通过三类能力，构成后续产品体系的 AI 原生底座。</a:t>
            </a:r>
          </a:p>
        </p:txBody>
      </p:sp>
      <p:sp>
        <p:nvSpPr>
          <p:cNvPr id="11" name="">
            <a:extLst xmlns:a="http://schemas.openxmlformats.org/drawingml/2006/main">
              <a:ext uri="{FF2B5EF4-FFF2-40B4-BE49-F238E27FC236}">
                <a16:creationId xmlns:a16="http://schemas.microsoft.com/office/drawing/2014/main" id="{AF8221EA-D11A-4622-9A44-2E7F19BE5798}"/>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A4EFC98B-24B3-47C6-985F-F48603CB8382}"/>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第一类：资源纳管能力</a:t>
            </a:r>
          </a:p>
        </p:txBody>
      </p:sp>
      <p:sp>
        <p:nvSpPr>
          <p:cNvPr id="13" name="">
            <a:extLst xmlns:a="http://schemas.openxmlformats.org/drawingml/2006/main">
              <a:ext uri="{FF2B5EF4-FFF2-40B4-BE49-F238E27FC236}">
                <a16:creationId xmlns:a16="http://schemas.microsoft.com/office/drawing/2014/main" id="{2B137434-6878-4D17-8A11-84A836AEEF59}"/>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统一管理模型、知识库、数据库、文档资料、MCP 工具、API 工具和权限体系，为 AI 能力进入审计系统提供工程化底座。</a:t>
            </a:r>
          </a:p>
        </p:txBody>
      </p:sp>
      <p:sp>
        <p:nvSpPr>
          <p:cNvPr id="14" name="">
            <a:extLst xmlns:a="http://schemas.openxmlformats.org/drawingml/2006/main">
              <a:ext uri="{FF2B5EF4-FFF2-40B4-BE49-F238E27FC236}">
                <a16:creationId xmlns:a16="http://schemas.microsoft.com/office/drawing/2014/main" id="{1CFB3F49-B7E5-46EC-8B8A-D172F7857EAA}"/>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E11AEEBA-2ECC-47D9-AF46-D6B52981FB31}"/>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第二类：基础智能应用能力</a:t>
            </a:r>
          </a:p>
        </p:txBody>
      </p:sp>
      <p:sp>
        <p:nvSpPr>
          <p:cNvPr id="16" name="">
            <a:extLst xmlns:a="http://schemas.openxmlformats.org/drawingml/2006/main">
              <a:ext uri="{FF2B5EF4-FFF2-40B4-BE49-F238E27FC236}">
                <a16:creationId xmlns:a16="http://schemas.microsoft.com/office/drawing/2014/main" id="{88596010-0130-4D69-AC2D-75C83BEAAEC6}"/>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直接面向审计人员，支撑知识问答、智能问数、文档处理、内容生成和依据查找等基础应用场景。</a:t>
            </a:r>
          </a:p>
        </p:txBody>
      </p:sp>
      <p:sp>
        <p:nvSpPr>
          <p:cNvPr id="17" name="">
            <a:extLst xmlns:a="http://schemas.openxmlformats.org/drawingml/2006/main">
              <a:ext uri="{FF2B5EF4-FFF2-40B4-BE49-F238E27FC236}">
                <a16:creationId xmlns:a16="http://schemas.microsoft.com/office/drawing/2014/main" id="{B579764E-670A-4EEA-8E1A-82B72CE70F94}"/>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5CD6F102-8567-426B-9985-076748C4EDCA}"/>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第三类：向后赋能的专有智能体</a:t>
            </a:r>
          </a:p>
        </p:txBody>
      </p:sp>
      <p:sp>
        <p:nvSpPr>
          <p:cNvPr id="19" name="">
            <a:extLst xmlns:a="http://schemas.openxmlformats.org/drawingml/2006/main">
              <a:ext uri="{FF2B5EF4-FFF2-40B4-BE49-F238E27FC236}">
                <a16:creationId xmlns:a16="http://schemas.microsoft.com/office/drawing/2014/main" id="{581C2971-ACE0-455B-9BD8-A2E45CBF4F37}"/>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支撑数据探查、数据漫游、数据贯通、历史变更结构化、隐含关系挖掘和线索发现等能力，并由数据治理平台和数据图谱平台进一步产品化承接。</a:t>
            </a:r>
          </a:p>
        </p:txBody>
      </p:sp>
      <p:sp>
        <p:nvSpPr>
          <p:cNvPr id="20" name="">
            <a:extLst xmlns:a="http://schemas.openxmlformats.org/drawingml/2006/main">
              <a:ext uri="{FF2B5EF4-FFF2-40B4-BE49-F238E27FC236}">
                <a16:creationId xmlns:a16="http://schemas.microsoft.com/office/drawing/2014/main" id="{61337BEB-D6B4-4AAD-8532-B513172ADF7C}"/>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1" name="">
            <a:extLst xmlns:a="http://schemas.openxmlformats.org/drawingml/2006/main">
              <a:ext uri="{FF2B5EF4-FFF2-40B4-BE49-F238E27FC236}">
                <a16:creationId xmlns:a16="http://schemas.microsoft.com/office/drawing/2014/main" id="{C5969036-07B5-4E0F-9EE2-D1631E1EE2C4}"/>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形成的能力链：</a:t>
            </a:r>
          </a:p>
        </p:txBody>
      </p:sp>
      <p:sp>
        <p:nvSpPr>
          <p:cNvPr id="22" name="">
            <a:extLst xmlns:a="http://schemas.openxmlformats.org/drawingml/2006/main">
              <a:ext uri="{FF2B5EF4-FFF2-40B4-BE49-F238E27FC236}">
                <a16:creationId xmlns:a16="http://schemas.microsoft.com/office/drawing/2014/main" id="{1FA747CA-44D5-46D6-B79B-85741018128A}"/>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知识 / 数据 / 工具 / 模型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智能体编排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数据治理智能体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图谱推理智能体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综合分析任务执行</a:t>
            </a:r>
          </a:p>
        </p:txBody>
      </p:sp>
      <p:sp>
        <p:nvSpPr>
          <p:cNvPr id="23" name="">
            <a:extLst xmlns:a="http://schemas.openxmlformats.org/drawingml/2006/main">
              <a:ext uri="{FF2B5EF4-FFF2-40B4-BE49-F238E27FC236}">
                <a16:creationId xmlns:a16="http://schemas.microsoft.com/office/drawing/2014/main" id="{C89017B7-423F-4E3D-9A35-001355A39194}"/>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4" name="">
            <a:extLst xmlns:a="http://schemas.openxmlformats.org/drawingml/2006/main">
              <a:ext uri="{FF2B5EF4-FFF2-40B4-BE49-F238E27FC236}">
                <a16:creationId xmlns:a16="http://schemas.microsoft.com/office/drawing/2014/main" id="{2F8BFB0E-8766-4F66-A427-CB8015E5FBE9}"/>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一句话表达：</a:t>
            </a:r>
          </a:p>
        </p:txBody>
      </p:sp>
      <p:sp>
        <p:nvSpPr>
          <p:cNvPr id="25" name="">
            <a:extLst xmlns:a="http://schemas.openxmlformats.org/drawingml/2006/main">
              <a:ext uri="{FF2B5EF4-FFF2-40B4-BE49-F238E27FC236}">
                <a16:creationId xmlns:a16="http://schemas.microsoft.com/office/drawing/2014/main" id="{8002637C-E615-4FD7-9613-09338AC368CE}"/>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智能体平台不是最终作业闭环，而是向前连接知识、数据和工具资源，向后赋能数据治理平台和数据图谱平台，形成后续产品能力的基础引擎。</a:t>
            </a:r>
          </a:p>
        </p:txBody>
      </p:sp>
    </p:spTree>
    <p:extLst>
      <p:ext uri="{BB962C8B-B14F-4D97-AF65-F5344CB8AC3E}">
        <p14:creationId xmlns:p14="http://schemas.microsoft.com/office/powerpoint/2010/main" val="195810452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411322-F450-4E78-98FC-4A421A3D59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3AB1ECD-E92D-41BF-93F5-0E80D2457F30}"/>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05CF415-7648-40EB-8233-23DC48657E95}"/>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C2378A5-F1BB-458B-8841-29FA7E7BF27C}"/>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产品架构与功能模块</a:t>
            </a:r>
          </a:p>
        </p:txBody>
      </p:sp>
      <p:sp>
        <p:nvSpPr>
          <p:cNvPr id="5" name="">
            <a:extLst xmlns:a="http://schemas.openxmlformats.org/drawingml/2006/main">
              <a:ext uri="{FF2B5EF4-FFF2-40B4-BE49-F238E27FC236}">
                <a16:creationId xmlns:a16="http://schemas.microsoft.com/office/drawing/2014/main" id="{65025072-31DE-4E0F-BA68-DCD94A228498}"/>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2D8C2AB5-F873-4DD6-B738-7D059BA2D196}"/>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把“数据治理平台”从传统数据中台话术中拉出来，明确为面向 AI 和审计作业的数据可用性治理平台。</a:t>
            </a:r>
          </a:p>
        </p:txBody>
      </p:sp>
      <p:sp>
        <p:nvSpPr>
          <p:cNvPr id="7" name="">
            <a:extLst xmlns:a="http://schemas.openxmlformats.org/drawingml/2006/main">
              <a:ext uri="{FF2B5EF4-FFF2-40B4-BE49-F238E27FC236}">
                <a16:creationId xmlns:a16="http://schemas.microsoft.com/office/drawing/2014/main" id="{72F6051B-84A1-47D1-BD9A-087CE99CA6C9}"/>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7C7E2094-2CD0-4209-9C52-A32942C22558}"/>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16</a:t>
            </a:r>
          </a:p>
        </p:txBody>
      </p:sp>
      <p:sp>
        <p:nvSpPr>
          <p:cNvPr id="9" name="">
            <a:extLst xmlns:a="http://schemas.openxmlformats.org/drawingml/2006/main">
              <a:ext uri="{FF2B5EF4-FFF2-40B4-BE49-F238E27FC236}">
                <a16:creationId xmlns:a16="http://schemas.microsoft.com/office/drawing/2014/main" id="{9653D6CA-24CA-4453-B24B-A73FBF8E5738}"/>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68888FB4-07CF-4F0E-8F38-7682E727DF7A}"/>
              </a:ext>
            </a:extLst>
          </p:cNvPr>
          <p:cNvSpPr>
            <a:spLocks xmlns:a="http://schemas.openxmlformats.org/drawingml/2006/main" noGrp="1"/>
          </p:cNvSpPr>
          <p:nvPr/>
        </p:nvSpPr>
        <p:spPr>
          <a:xfrm xmlns:a="http://schemas.openxmlformats.org/drawingml/2006/main">
            <a:off x="8382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数据治理平台：面向审计数据治理作业的产品架构</a:t>
            </a:r>
          </a:p>
        </p:txBody>
      </p:sp>
      <p:sp>
        <p:nvSpPr>
          <p:cNvPr id="11" name="">
            <a:extLst xmlns:a="http://schemas.openxmlformats.org/drawingml/2006/main">
              <a:ext uri="{FF2B5EF4-FFF2-40B4-BE49-F238E27FC236}">
                <a16:creationId xmlns:a16="http://schemas.microsoft.com/office/drawing/2014/main" id="{0E74239A-055E-4269-9F90-7AFBA49C7D16}"/>
              </a:ext>
            </a:extLst>
          </p:cNvPr>
          <p:cNvSpPr>
            <a:spLocks xmlns:a="http://schemas.openxmlformats.org/drawingml/2006/main" noGrp="1"/>
          </p:cNvSpPr>
          <p:nvPr/>
        </p:nvSpPr>
        <p:spPr>
          <a:xfrm xmlns:a="http://schemas.openxmlformats.org/drawingml/2006/main">
            <a:off x="8382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平台围绕审计数据治理作业，形成四类核心功能模块：</a:t>
            </a:r>
          </a:p>
        </p:txBody>
      </p:sp>
      <p:sp>
        <p:nvSpPr>
          <p:cNvPr id="12" name="">
            <a:extLst xmlns:a="http://schemas.openxmlformats.org/drawingml/2006/main">
              <a:ext uri="{FF2B5EF4-FFF2-40B4-BE49-F238E27FC236}">
                <a16:creationId xmlns:a16="http://schemas.microsoft.com/office/drawing/2014/main" id="{30152AE0-DF45-4CEA-AF75-389334BFB4A8}"/>
              </a:ext>
            </a:extLst>
          </p:cNvPr>
          <p:cNvSpPr>
            <a:spLocks xmlns:a="http://schemas.openxmlformats.org/drawingml/2006/main" noGrp="1"/>
          </p:cNvSpPr>
          <p:nvPr/>
        </p:nvSpPr>
        <p:spPr>
          <a:xfrm xmlns:a="http://schemas.openxmlformats.org/drawingml/2006/main">
            <a:off x="685800" y="3067050"/>
            <a:ext cx="5219700" cy="930212"/>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3" name="">
            <a:extLst xmlns:a="http://schemas.openxmlformats.org/drawingml/2006/main">
              <a:ext uri="{FF2B5EF4-FFF2-40B4-BE49-F238E27FC236}">
                <a16:creationId xmlns:a16="http://schemas.microsoft.com/office/drawing/2014/main" id="{48D74142-690E-4501-AF2E-BE2A60783988}"/>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数据资源管理</a:t>
            </a:r>
          </a:p>
        </p:txBody>
      </p:sp>
      <p:sp>
        <p:nvSpPr>
          <p:cNvPr id="14" name="">
            <a:extLst xmlns:a="http://schemas.openxmlformats.org/drawingml/2006/main">
              <a:ext uri="{FF2B5EF4-FFF2-40B4-BE49-F238E27FC236}">
                <a16:creationId xmlns:a16="http://schemas.microsoft.com/office/drawing/2014/main" id="{471A8E53-1E40-4CBB-BFB6-8C2356415F25}"/>
              </a:ext>
            </a:extLst>
          </p:cNvPr>
          <p:cNvSpPr>
            <a:spLocks xmlns:a="http://schemas.openxmlformats.org/drawingml/2006/main" noGrp="1"/>
          </p:cNvSpPr>
          <p:nvPr/>
        </p:nvSpPr>
        <p:spPr>
          <a:xfrm xmlns:a="http://schemas.openxmlformats.org/drawingml/2006/main">
            <a:off x="838200" y="3448050"/>
            <a:ext cx="4914900" cy="453961"/>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承接结构化数据的资源目录、数据探查、数据地图、标准管理、质量评估和清洗比对能力，为后续治理作业提供基础数据视图。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重点不是重新建一个数据中台，而是让已有数据资源能够被 AI、图谱和审计任务使用。</a:t>
            </a:r>
          </a:p>
        </p:txBody>
      </p:sp>
      <p:sp>
        <p:nvSpPr>
          <p:cNvPr id="15" name="">
            <a:extLst xmlns:a="http://schemas.openxmlformats.org/drawingml/2006/main">
              <a:ext uri="{FF2B5EF4-FFF2-40B4-BE49-F238E27FC236}">
                <a16:creationId xmlns:a16="http://schemas.microsoft.com/office/drawing/2014/main" id="{AEE4DEE9-50E8-4FF5-80D1-5E86A346DAB5}"/>
              </a:ext>
            </a:extLst>
          </p:cNvPr>
          <p:cNvSpPr>
            <a:spLocks xmlns:a="http://schemas.openxmlformats.org/drawingml/2006/main" noGrp="1"/>
          </p:cNvSpPr>
          <p:nvPr/>
        </p:nvSpPr>
        <p:spPr>
          <a:xfrm xmlns:a="http://schemas.openxmlformats.org/drawingml/2006/main">
            <a:off x="685800" y="4111561"/>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6" name="">
            <a:extLst xmlns:a="http://schemas.openxmlformats.org/drawingml/2006/main">
              <a:ext uri="{FF2B5EF4-FFF2-40B4-BE49-F238E27FC236}">
                <a16:creationId xmlns:a16="http://schemas.microsoft.com/office/drawing/2014/main" id="{A4B0D640-2A67-44B9-B3C9-2AA2B65A319C}"/>
              </a:ext>
            </a:extLst>
          </p:cNvPr>
          <p:cNvSpPr>
            <a:spLocks xmlns:a="http://schemas.openxmlformats.org/drawingml/2006/main" noGrp="1"/>
          </p:cNvSpPr>
          <p:nvPr/>
        </p:nvSpPr>
        <p:spPr>
          <a:xfrm xmlns:a="http://schemas.openxmlformats.org/drawingml/2006/main">
            <a:off x="838200" y="4244912"/>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治理任务调度</a:t>
            </a:r>
          </a:p>
        </p:txBody>
      </p:sp>
      <p:sp>
        <p:nvSpPr>
          <p:cNvPr id="17" name="">
            <a:extLst xmlns:a="http://schemas.openxmlformats.org/drawingml/2006/main">
              <a:ext uri="{FF2B5EF4-FFF2-40B4-BE49-F238E27FC236}">
                <a16:creationId xmlns:a16="http://schemas.microsoft.com/office/drawing/2014/main" id="{50C39585-F82F-475C-8628-8989C93A0B55}"/>
              </a:ext>
            </a:extLst>
          </p:cNvPr>
          <p:cNvSpPr>
            <a:spLocks xmlns:a="http://schemas.openxmlformats.org/drawingml/2006/main" noGrp="1"/>
          </p:cNvSpPr>
          <p:nvPr/>
        </p:nvSpPr>
        <p:spPr>
          <a:xfrm xmlns:a="http://schemas.openxmlformats.org/drawingml/2006/main">
            <a:off x="838200" y="4492562"/>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通过任务创建、队列执行、定时调度、过程监控、异常记录和结果管理，将数据漫游、文本结构化、实体识别、关系挖掘等能力组织成可执行、可复用、可追溯的治理作业。</a:t>
            </a:r>
          </a:p>
        </p:txBody>
      </p:sp>
      <p:sp>
        <p:nvSpPr>
          <p:cNvPr id="18" name="">
            <a:extLst xmlns:a="http://schemas.openxmlformats.org/drawingml/2006/main">
              <a:ext uri="{FF2B5EF4-FFF2-40B4-BE49-F238E27FC236}">
                <a16:creationId xmlns:a16="http://schemas.microsoft.com/office/drawing/2014/main" id="{C7376A7A-AC76-404D-AA12-4124C1575441}"/>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44AA1F71-7988-4E19-A91F-497D7AEED1B1}"/>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智能治理能力</a:t>
            </a:r>
          </a:p>
        </p:txBody>
      </p:sp>
      <p:sp>
        <p:nvSpPr>
          <p:cNvPr id="20" name="">
            <a:extLst xmlns:a="http://schemas.openxmlformats.org/drawingml/2006/main">
              <a:ext uri="{FF2B5EF4-FFF2-40B4-BE49-F238E27FC236}">
                <a16:creationId xmlns:a16="http://schemas.microsoft.com/office/drawing/2014/main" id="{CA7BCFB1-BA45-41B7-BFDC-0AAFCBCCC5D4}"/>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围绕数据漫游、文本结构化、重点实体识别、潜在关系发现、历史变更治理等复杂场景，调用智能体完成自动化处理。</a:t>
            </a:r>
          </a:p>
        </p:txBody>
      </p:sp>
      <p:sp>
        <p:nvSpPr>
          <p:cNvPr id="21" name="">
            <a:extLst xmlns:a="http://schemas.openxmlformats.org/drawingml/2006/main">
              <a:ext uri="{FF2B5EF4-FFF2-40B4-BE49-F238E27FC236}">
                <a16:creationId xmlns:a16="http://schemas.microsoft.com/office/drawing/2014/main" id="{A1433668-49C7-4426-ACCA-37208E11E67B}"/>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D7DFC0F4-2D94-4B98-B9D9-A6157F54DAE5}"/>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治理结果沉淀</a:t>
            </a:r>
          </a:p>
        </p:txBody>
      </p:sp>
      <p:sp>
        <p:nvSpPr>
          <p:cNvPr id="23" name="">
            <a:extLst xmlns:a="http://schemas.openxmlformats.org/drawingml/2006/main">
              <a:ext uri="{FF2B5EF4-FFF2-40B4-BE49-F238E27FC236}">
                <a16:creationId xmlns:a16="http://schemas.microsoft.com/office/drawing/2014/main" id="{C257C0F4-AEDB-464C-8E5F-45267F578A23}"/>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将治理结果回流结构化数据库，或输出至图数据库和综合分析平台，支撑后续图谱构建、线索挖掘、审计任务执行和成果复用。</a:t>
            </a:r>
          </a:p>
        </p:txBody>
      </p:sp>
      <p:sp>
        <p:nvSpPr>
          <p:cNvPr id="24" name="">
            <a:extLst xmlns:a="http://schemas.openxmlformats.org/drawingml/2006/main">
              <a:ext uri="{FF2B5EF4-FFF2-40B4-BE49-F238E27FC236}">
                <a16:creationId xmlns:a16="http://schemas.microsoft.com/office/drawing/2014/main" id="{94916E58-EEF7-4783-90B8-CC3ECCC5F6D4}"/>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4788551C-5833-4A93-B779-EE9A90B74921}"/>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一句话表达：</a:t>
            </a:r>
          </a:p>
        </p:txBody>
      </p:sp>
      <p:sp>
        <p:nvSpPr>
          <p:cNvPr id="26" name="">
            <a:extLst xmlns:a="http://schemas.openxmlformats.org/drawingml/2006/main">
              <a:ext uri="{FF2B5EF4-FFF2-40B4-BE49-F238E27FC236}">
                <a16:creationId xmlns:a16="http://schemas.microsoft.com/office/drawing/2014/main" id="{6447541F-47D9-416F-8B87-CA6AEB9A180F}"/>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数据治理平台不是单一能力页面，而是把数据资源、治理任务、智能处理和结果沉淀组织在一起的治理作业平台。</a:t>
            </a:r>
          </a:p>
        </p:txBody>
      </p:sp>
    </p:spTree>
    <p:extLst>
      <p:ext uri="{BB962C8B-B14F-4D97-AF65-F5344CB8AC3E}">
        <p14:creationId xmlns:p14="http://schemas.microsoft.com/office/powerpoint/2010/main" val="9306673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AB1F967-E65B-4A62-86B5-813919B6FD2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8E53AA3-4115-4F4F-874D-12C6A0F52A7F}"/>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4D7B0B6-1A26-4FCE-8697-34B026A7B4E8}"/>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F43A15A-56A2-469A-8E35-5FB82D68BDDB}"/>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重点解决的真实数据问题</a:t>
            </a:r>
          </a:p>
        </p:txBody>
      </p:sp>
      <p:sp>
        <p:nvSpPr>
          <p:cNvPr id="5" name="">
            <a:extLst xmlns:a="http://schemas.openxmlformats.org/drawingml/2006/main">
              <a:ext uri="{FF2B5EF4-FFF2-40B4-BE49-F238E27FC236}">
                <a16:creationId xmlns:a16="http://schemas.microsoft.com/office/drawing/2014/main" id="{033ED7EC-3C3B-414C-8F9B-308CBA8EB7B6}"/>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72637532-B98C-4AA4-96CD-A36138A74512}"/>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明确数据治理平台的技术挑战来自真实审计数据：百亿级数据、万张级库表、复杂文本资料和扫描件。</a:t>
            </a:r>
          </a:p>
        </p:txBody>
      </p:sp>
      <p:sp>
        <p:nvSpPr>
          <p:cNvPr id="7" name="">
            <a:extLst xmlns:a="http://schemas.openxmlformats.org/drawingml/2006/main">
              <a:ext uri="{FF2B5EF4-FFF2-40B4-BE49-F238E27FC236}">
                <a16:creationId xmlns:a16="http://schemas.microsoft.com/office/drawing/2014/main" id="{6D95CCEC-4A8E-42E1-B700-469C6D15E281}"/>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DD940F7B-1595-46DC-A018-543AD7D935FF}"/>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17</a:t>
            </a:r>
          </a:p>
        </p:txBody>
      </p:sp>
      <p:sp>
        <p:nvSpPr>
          <p:cNvPr id="9" name="">
            <a:extLst xmlns:a="http://schemas.openxmlformats.org/drawingml/2006/main">
              <a:ext uri="{FF2B5EF4-FFF2-40B4-BE49-F238E27FC236}">
                <a16:creationId xmlns:a16="http://schemas.microsoft.com/office/drawing/2014/main" id="{4A4A351D-179B-48DB-A3F2-3E99C5C7807A}"/>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F85586F7-9D93-4813-BA92-953EF6B45635}"/>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平台真正要解决的，不只是传统数据管理问题，而是审计数据在真实场景中的可用性问题。</a:t>
            </a:r>
          </a:p>
        </p:txBody>
      </p:sp>
      <p:sp>
        <p:nvSpPr>
          <p:cNvPr id="11" name="">
            <a:extLst xmlns:a="http://schemas.openxmlformats.org/drawingml/2006/main">
              <a:ext uri="{FF2B5EF4-FFF2-40B4-BE49-F238E27FC236}">
                <a16:creationId xmlns:a16="http://schemas.microsoft.com/office/drawing/2014/main" id="{8663C6DC-039D-4D5C-B817-5040BAC3F1F8}"/>
              </a:ext>
            </a:extLst>
          </p:cNvPr>
          <p:cNvSpPr>
            <a:spLocks xmlns:a="http://schemas.openxmlformats.org/drawingml/2006/main" noGrp="1"/>
          </p:cNvSpPr>
          <p:nvPr/>
        </p:nvSpPr>
        <p:spPr>
          <a:xfrm xmlns:a="http://schemas.openxmlformats.org/drawingml/2006/main">
            <a:off x="685800" y="3067050"/>
            <a:ext cx="5219700" cy="86868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021270F6-820E-4CD5-9BD6-D29368F435D8}"/>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结构化数据的问题</a:t>
            </a:r>
          </a:p>
        </p:txBody>
      </p:sp>
      <p:sp>
        <p:nvSpPr>
          <p:cNvPr id="13" name="">
            <a:extLst xmlns:a="http://schemas.openxmlformats.org/drawingml/2006/main">
              <a:ext uri="{FF2B5EF4-FFF2-40B4-BE49-F238E27FC236}">
                <a16:creationId xmlns:a16="http://schemas.microsoft.com/office/drawing/2014/main" id="{84D6F088-A736-44DC-AC7F-5C06ACDE0DA0}"/>
              </a:ext>
            </a:extLst>
          </p:cNvPr>
          <p:cNvSpPr>
            <a:spLocks xmlns:a="http://schemas.openxmlformats.org/drawingml/2006/main" noGrp="1"/>
          </p:cNvSpPr>
          <p:nvPr/>
        </p:nvSpPr>
        <p:spPr>
          <a:xfrm xmlns:a="http://schemas.openxmlformats.org/drawingml/2006/main">
            <a:off x="838200" y="3448050"/>
            <a:ext cx="4914900" cy="39243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数据量大，但语义弱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面对百亿级数据、万张级库表，数据虽然已经入库，但字段命名不统一、表说明不完整、业务语义不清，审计人员很难快速判断哪些数据与审计目标相关。</a:t>
            </a:r>
          </a:p>
        </p:txBody>
      </p:sp>
      <p:sp>
        <p:nvSpPr>
          <p:cNvPr id="14" name="">
            <a:extLst xmlns:a="http://schemas.openxmlformats.org/drawingml/2006/main">
              <a:ext uri="{FF2B5EF4-FFF2-40B4-BE49-F238E27FC236}">
                <a16:creationId xmlns:a16="http://schemas.microsoft.com/office/drawing/2014/main" id="{3206E9BD-03A7-431F-985C-6F8ACC330387}"/>
              </a:ext>
            </a:extLst>
          </p:cNvPr>
          <p:cNvSpPr>
            <a:spLocks xmlns:a="http://schemas.openxmlformats.org/drawingml/2006/main" noGrp="1"/>
          </p:cNvSpPr>
          <p:nvPr/>
        </p:nvSpPr>
        <p:spPr>
          <a:xfrm xmlns:a="http://schemas.openxmlformats.org/drawingml/2006/main">
            <a:off x="685800" y="405003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C4657F4E-F81E-4B19-88C1-B3409148176C}"/>
              </a:ext>
            </a:extLst>
          </p:cNvPr>
          <p:cNvSpPr>
            <a:spLocks xmlns:a="http://schemas.openxmlformats.org/drawingml/2006/main" noGrp="1"/>
          </p:cNvSpPr>
          <p:nvPr/>
        </p:nvSpPr>
        <p:spPr>
          <a:xfrm xmlns:a="http://schemas.openxmlformats.org/drawingml/2006/main">
            <a:off x="838200" y="418338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数据分散，但关系隐蔽</a:t>
            </a:r>
          </a:p>
        </p:txBody>
      </p:sp>
      <p:sp>
        <p:nvSpPr>
          <p:cNvPr id="16" name="">
            <a:extLst xmlns:a="http://schemas.openxmlformats.org/drawingml/2006/main">
              <a:ext uri="{FF2B5EF4-FFF2-40B4-BE49-F238E27FC236}">
                <a16:creationId xmlns:a16="http://schemas.microsoft.com/office/drawing/2014/main" id="{C3BA34FB-2014-4FFE-9716-A590154E39AA}"/>
              </a:ext>
            </a:extLst>
          </p:cNvPr>
          <p:cNvSpPr>
            <a:spLocks xmlns:a="http://schemas.openxmlformats.org/drawingml/2006/main" noGrp="1"/>
          </p:cNvSpPr>
          <p:nvPr/>
        </p:nvSpPr>
        <p:spPr>
          <a:xfrm xmlns:a="http://schemas.openxmlformats.org/drawingml/2006/main">
            <a:off x="838200" y="443103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人员、企业、单位、项目、资金、票据等信息分散在不同系统和不同表中，缺少统一实体视图和跨表关系识别能力。</a:t>
            </a:r>
          </a:p>
        </p:txBody>
      </p:sp>
      <p:sp>
        <p:nvSpPr>
          <p:cNvPr id="17" name="">
            <a:extLst xmlns:a="http://schemas.openxmlformats.org/drawingml/2006/main">
              <a:ext uri="{FF2B5EF4-FFF2-40B4-BE49-F238E27FC236}">
                <a16:creationId xmlns:a16="http://schemas.microsoft.com/office/drawing/2014/main" id="{E4852FAA-34C6-44D1-96E7-73186A4F020F}"/>
              </a:ext>
            </a:extLst>
          </p:cNvPr>
          <p:cNvSpPr>
            <a:spLocks xmlns:a="http://schemas.openxmlformats.org/drawingml/2006/main" noGrp="1"/>
          </p:cNvSpPr>
          <p:nvPr/>
        </p:nvSpPr>
        <p:spPr>
          <a:xfrm xmlns:a="http://schemas.openxmlformats.org/drawingml/2006/main">
            <a:off x="685800" y="502158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C95A3707-11F5-4D59-92B9-ED24B3067F8C}"/>
              </a:ext>
            </a:extLst>
          </p:cNvPr>
          <p:cNvSpPr>
            <a:spLocks xmlns:a="http://schemas.openxmlformats.org/drawingml/2006/main" noGrp="1"/>
          </p:cNvSpPr>
          <p:nvPr/>
        </p:nvSpPr>
        <p:spPr>
          <a:xfrm xmlns:a="http://schemas.openxmlformats.org/drawingml/2006/main">
            <a:off x="838200" y="515493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人工找数成本高</a:t>
            </a:r>
          </a:p>
        </p:txBody>
      </p:sp>
      <p:sp>
        <p:nvSpPr>
          <p:cNvPr id="19" name="">
            <a:extLst xmlns:a="http://schemas.openxmlformats.org/drawingml/2006/main">
              <a:ext uri="{FF2B5EF4-FFF2-40B4-BE49-F238E27FC236}">
                <a16:creationId xmlns:a16="http://schemas.microsoft.com/office/drawing/2014/main" id="{969A4577-A9D8-4631-88E1-170C8B78D00A}"/>
              </a:ext>
            </a:extLst>
          </p:cNvPr>
          <p:cNvSpPr>
            <a:spLocks xmlns:a="http://schemas.openxmlformats.org/drawingml/2006/main" noGrp="1"/>
          </p:cNvSpPr>
          <p:nvPr/>
        </p:nvSpPr>
        <p:spPr>
          <a:xfrm xmlns:a="http://schemas.openxmlformats.org/drawingml/2006/main">
            <a:off x="838200" y="540258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传统方式依赖熟悉库表结构的技术人员或业务人员，审计人员需要反复沟通、试查、验证和改 SQL，效率和可复用性都不足。</a:t>
            </a:r>
          </a:p>
        </p:txBody>
      </p:sp>
      <p:sp>
        <p:nvSpPr>
          <p:cNvPr id="20" name="">
            <a:extLst xmlns:a="http://schemas.openxmlformats.org/drawingml/2006/main">
              <a:ext uri="{FF2B5EF4-FFF2-40B4-BE49-F238E27FC236}">
                <a16:creationId xmlns:a16="http://schemas.microsoft.com/office/drawing/2014/main" id="{643442C7-24FC-4CD4-B9B2-7AFBEA9EC15E}"/>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1" name="">
            <a:extLst xmlns:a="http://schemas.openxmlformats.org/drawingml/2006/main">
              <a:ext uri="{FF2B5EF4-FFF2-40B4-BE49-F238E27FC236}">
                <a16:creationId xmlns:a16="http://schemas.microsoft.com/office/drawing/2014/main" id="{6329AEF7-6A6A-4E37-91A6-53564B2CA2A5}"/>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非结构化数据的问题</a:t>
            </a:r>
          </a:p>
        </p:txBody>
      </p:sp>
      <p:sp>
        <p:nvSpPr>
          <p:cNvPr id="22" name="">
            <a:extLst xmlns:a="http://schemas.openxmlformats.org/drawingml/2006/main">
              <a:ext uri="{FF2B5EF4-FFF2-40B4-BE49-F238E27FC236}">
                <a16:creationId xmlns:a16="http://schemas.microsoft.com/office/drawing/2014/main" id="{1397AF42-AB2E-4006-94A0-7310CC158570}"/>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资料重要，但不可计算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工商变更、招股书、合同、制度文件、会议纪要、扫描件等资料虽然包含大量审计线索，但长期停留在“可阅读、不可计算”的状态。</a:t>
            </a:r>
          </a:p>
        </p:txBody>
      </p:sp>
      <p:sp>
        <p:nvSpPr>
          <p:cNvPr id="23" name="">
            <a:extLst xmlns:a="http://schemas.openxmlformats.org/drawingml/2006/main">
              <a:ext uri="{FF2B5EF4-FFF2-40B4-BE49-F238E27FC236}">
                <a16:creationId xmlns:a16="http://schemas.microsoft.com/office/drawing/2014/main" id="{2D8B19E2-A659-4C6D-8C63-AC6976AAC56A}"/>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4" name="">
            <a:extLst xmlns:a="http://schemas.openxmlformats.org/drawingml/2006/main">
              <a:ext uri="{FF2B5EF4-FFF2-40B4-BE49-F238E27FC236}">
                <a16:creationId xmlns:a16="http://schemas.microsoft.com/office/drawing/2014/main" id="{866B0CDB-D647-4FDD-9A30-161CB374DB94}"/>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格式复杂，人工抽取成本高</a:t>
            </a:r>
          </a:p>
        </p:txBody>
      </p:sp>
      <p:sp>
        <p:nvSpPr>
          <p:cNvPr id="25" name="">
            <a:extLst xmlns:a="http://schemas.openxmlformats.org/drawingml/2006/main">
              <a:ext uri="{FF2B5EF4-FFF2-40B4-BE49-F238E27FC236}">
                <a16:creationId xmlns:a16="http://schemas.microsoft.com/office/drawing/2014/main" id="{884DB6B3-1638-440B-91A4-6D69D2056A75}"/>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长文档、多表格、跨页内容、扫描图像、历史变更文本等资料，仅靠规则解析难以稳定处理。</a:t>
            </a:r>
          </a:p>
        </p:txBody>
      </p:sp>
      <p:sp>
        <p:nvSpPr>
          <p:cNvPr id="26" name="">
            <a:extLst xmlns:a="http://schemas.openxmlformats.org/drawingml/2006/main">
              <a:ext uri="{FF2B5EF4-FFF2-40B4-BE49-F238E27FC236}">
                <a16:creationId xmlns:a16="http://schemas.microsoft.com/office/drawing/2014/main" id="{8A3EFDF9-7409-4760-AF70-8936368950A8}"/>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7" name="">
            <a:extLst xmlns:a="http://schemas.openxmlformats.org/drawingml/2006/main">
              <a:ext uri="{FF2B5EF4-FFF2-40B4-BE49-F238E27FC236}">
                <a16:creationId xmlns:a16="http://schemas.microsoft.com/office/drawing/2014/main" id="{5BA71B58-F0D0-4329-A388-E692CAE36F49}"/>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难以进入后续链路</a:t>
            </a:r>
          </a:p>
        </p:txBody>
      </p:sp>
      <p:sp>
        <p:nvSpPr>
          <p:cNvPr id="28" name="">
            <a:extLst xmlns:a="http://schemas.openxmlformats.org/drawingml/2006/main">
              <a:ext uri="{FF2B5EF4-FFF2-40B4-BE49-F238E27FC236}">
                <a16:creationId xmlns:a16="http://schemas.microsoft.com/office/drawing/2014/main" id="{D14DC18D-D2E3-4401-8629-368C419B834F}"/>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如果不能结构化，就难以进入批量分析、图谱构建、穿透分析和全量审查流程。</a:t>
            </a:r>
          </a:p>
        </p:txBody>
      </p:sp>
      <p:sp>
        <p:nvSpPr>
          <p:cNvPr id="29" name="">
            <a:extLst xmlns:a="http://schemas.openxmlformats.org/drawingml/2006/main">
              <a:ext uri="{FF2B5EF4-FFF2-40B4-BE49-F238E27FC236}">
                <a16:creationId xmlns:a16="http://schemas.microsoft.com/office/drawing/2014/main" id="{F5EBED66-62F4-4596-BD6E-3DFB4A215F1F}"/>
              </a:ext>
            </a:extLst>
          </p:cNvPr>
          <p:cNvSpPr>
            <a:spLocks xmlns:a="http://schemas.openxmlformats.org/drawingml/2006/main" noGrp="1"/>
          </p:cNvSpPr>
          <p:nvPr/>
        </p:nvSpPr>
        <p:spPr>
          <a:xfrm xmlns:a="http://schemas.openxmlformats.org/drawingml/2006/main">
            <a:off x="6286500" y="5010150"/>
            <a:ext cx="5219700" cy="858965"/>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30" name="">
            <a:extLst xmlns:a="http://schemas.openxmlformats.org/drawingml/2006/main">
              <a:ext uri="{FF2B5EF4-FFF2-40B4-BE49-F238E27FC236}">
                <a16:creationId xmlns:a16="http://schemas.microsoft.com/office/drawing/2014/main" id="{D22F06D9-BEED-4552-8C03-5188798A774F}"/>
              </a:ext>
            </a:extLst>
          </p:cNvPr>
          <p:cNvSpPr>
            <a:spLocks xmlns:a="http://schemas.openxmlformats.org/drawingml/2006/main" noGrp="1"/>
          </p:cNvSpPr>
          <p:nvPr/>
        </p:nvSpPr>
        <p:spPr>
          <a:xfrm xmlns:a="http://schemas.openxmlformats.org/drawingml/2006/main">
            <a:off x="64389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治理平台的核心目标</a:t>
            </a:r>
          </a:p>
        </p:txBody>
      </p:sp>
      <p:sp>
        <p:nvSpPr>
          <p:cNvPr id="31" name="">
            <a:extLst xmlns:a="http://schemas.openxmlformats.org/drawingml/2006/main">
              <a:ext uri="{FF2B5EF4-FFF2-40B4-BE49-F238E27FC236}">
                <a16:creationId xmlns:a16="http://schemas.microsoft.com/office/drawing/2014/main" id="{D8E3A9DE-E9AD-4325-95F4-C420FA8F98CE}"/>
              </a:ext>
            </a:extLst>
          </p:cNvPr>
          <p:cNvSpPr>
            <a:spLocks xmlns:a="http://schemas.openxmlformats.org/drawingml/2006/main" noGrp="1"/>
          </p:cNvSpPr>
          <p:nvPr/>
        </p:nvSpPr>
        <p:spPr>
          <a:xfrm xmlns:a="http://schemas.openxmlformats.org/drawingml/2006/main">
            <a:off x="6438900" y="5391150"/>
            <a:ext cx="4914900" cy="3827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让结构化数据更容易被理解和调用。</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让非结构化资料真正转化为可查询、可分析、可复用的数据资产。</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让治理结果能够持续输出给图谱平台和综合分析平台。</a:t>
            </a:r>
          </a:p>
        </p:txBody>
      </p:sp>
    </p:spTree>
    <p:extLst>
      <p:ext uri="{BB962C8B-B14F-4D97-AF65-F5344CB8AC3E}">
        <p14:creationId xmlns:p14="http://schemas.microsoft.com/office/powerpoint/2010/main" val="181811822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2EA446-3310-466D-9C8C-6B67D0AA95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A8065AB-ECF1-426E-BEDE-A7A9B911A38C}"/>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602454F-12F2-4D3F-B593-7AF312F99180}"/>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993A2E8-CF67-40B1-9BE0-80E1AE12EF47}"/>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任务调度与作业机制</a:t>
            </a:r>
          </a:p>
        </p:txBody>
      </p:sp>
      <p:sp>
        <p:nvSpPr>
          <p:cNvPr id="5" name="">
            <a:extLst xmlns:a="http://schemas.openxmlformats.org/drawingml/2006/main">
              <a:ext uri="{FF2B5EF4-FFF2-40B4-BE49-F238E27FC236}">
                <a16:creationId xmlns:a16="http://schemas.microsoft.com/office/drawing/2014/main" id="{7B07E74B-08DC-485C-9837-04B7880C8785}"/>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600E262C-64B8-4598-BBEA-70EBA8EF1D47}"/>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突出工程化能力：把智能处理变成可配置、可监控、可重跑、可追溯的治理任务，而不是一次性脚本。</a:t>
            </a:r>
          </a:p>
        </p:txBody>
      </p:sp>
      <p:sp>
        <p:nvSpPr>
          <p:cNvPr id="7" name="">
            <a:extLst xmlns:a="http://schemas.openxmlformats.org/drawingml/2006/main">
              <a:ext uri="{FF2B5EF4-FFF2-40B4-BE49-F238E27FC236}">
                <a16:creationId xmlns:a16="http://schemas.microsoft.com/office/drawing/2014/main" id="{AB9F6E52-0FEC-481A-BC16-0A7A23F42669}"/>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DDF34D44-1835-4EE3-90B5-11145CA1F318}"/>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18</a:t>
            </a:r>
          </a:p>
        </p:txBody>
      </p:sp>
      <p:sp>
        <p:nvSpPr>
          <p:cNvPr id="9" name="">
            <a:extLst xmlns:a="http://schemas.openxmlformats.org/drawingml/2006/main">
              <a:ext uri="{FF2B5EF4-FFF2-40B4-BE49-F238E27FC236}">
                <a16:creationId xmlns:a16="http://schemas.microsoft.com/office/drawing/2014/main" id="{638004D8-43B2-4639-B16E-53E820DC9C71}"/>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AE516798-A765-4D11-985C-9E48B8EDB53E}"/>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数据治理任务调度：用任务化方式驱动智能体批量执行</a:t>
            </a:r>
          </a:p>
        </p:txBody>
      </p:sp>
      <p:sp>
        <p:nvSpPr>
          <p:cNvPr id="11" name="">
            <a:extLst xmlns:a="http://schemas.openxmlformats.org/drawingml/2006/main">
              <a:ext uri="{FF2B5EF4-FFF2-40B4-BE49-F238E27FC236}">
                <a16:creationId xmlns:a16="http://schemas.microsoft.com/office/drawing/2014/main" id="{9641A57C-9502-421B-A215-B2E874DA9504}"/>
              </a:ext>
            </a:extLst>
          </p:cNvPr>
          <p:cNvSpPr>
            <a:spLocks xmlns:a="http://schemas.openxmlformats.org/drawingml/2006/main" noGrp="1"/>
          </p:cNvSpPr>
          <p:nvPr/>
        </p:nvSpPr>
        <p:spPr>
          <a:xfrm xmlns:a="http://schemas.openxmlformats.org/drawingml/2006/main">
            <a:off x="685800" y="3067050"/>
            <a:ext cx="5219700" cy="901065"/>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CDFBDFCB-E1FF-4F1D-B551-6B65696CF2FE}"/>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核心定位：</a:t>
            </a:r>
          </a:p>
        </p:txBody>
      </p:sp>
      <p:sp>
        <p:nvSpPr>
          <p:cNvPr id="13" name="">
            <a:extLst xmlns:a="http://schemas.openxmlformats.org/drawingml/2006/main">
              <a:ext uri="{FF2B5EF4-FFF2-40B4-BE49-F238E27FC236}">
                <a16:creationId xmlns:a16="http://schemas.microsoft.com/office/drawing/2014/main" id="{C10BD174-1C99-4FFC-86D4-FF289E245817}"/>
              </a:ext>
            </a:extLst>
          </p:cNvPr>
          <p:cNvSpPr>
            <a:spLocks xmlns:a="http://schemas.openxmlformats.org/drawingml/2006/main" noGrp="1"/>
          </p:cNvSpPr>
          <p:nvPr/>
        </p:nvSpPr>
        <p:spPr>
          <a:xfrm xmlns:a="http://schemas.openxmlformats.org/drawingml/2006/main">
            <a:off x="838200" y="3448050"/>
            <a:ext cx="4914900" cy="42481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数据治理平台不是传统数据中台，而是面向审计数据治理作业的任务调度入口。平台通过任务管理机制，将数据探查、数据漫游、结构化抽取、关系挖掘等能力组织为可配置、可监控、可追溯的治理任务。</a:t>
            </a:r>
          </a:p>
        </p:txBody>
      </p:sp>
      <p:sp>
        <p:nvSpPr>
          <p:cNvPr id="14" name="">
            <a:extLst xmlns:a="http://schemas.openxmlformats.org/drawingml/2006/main">
              <a:ext uri="{FF2B5EF4-FFF2-40B4-BE49-F238E27FC236}">
                <a16:creationId xmlns:a16="http://schemas.microsoft.com/office/drawing/2014/main" id="{76D9DE4D-4EE6-49B1-9D5F-982E304D06CF}"/>
              </a:ext>
            </a:extLst>
          </p:cNvPr>
          <p:cNvSpPr>
            <a:spLocks xmlns:a="http://schemas.openxmlformats.org/drawingml/2006/main" noGrp="1"/>
          </p:cNvSpPr>
          <p:nvPr/>
        </p:nvSpPr>
        <p:spPr>
          <a:xfrm xmlns:a="http://schemas.openxmlformats.org/drawingml/2006/main">
            <a:off x="685800" y="4082415"/>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1B33E92A-E1F1-44E2-9E9A-7307C3AA1546}"/>
              </a:ext>
            </a:extLst>
          </p:cNvPr>
          <p:cNvSpPr>
            <a:spLocks xmlns:a="http://schemas.openxmlformats.org/drawingml/2006/main" noGrp="1"/>
          </p:cNvSpPr>
          <p:nvPr/>
        </p:nvSpPr>
        <p:spPr>
          <a:xfrm xmlns:a="http://schemas.openxmlformats.org/drawingml/2006/main">
            <a:off x="838200" y="4215765"/>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任务创建</a:t>
            </a:r>
          </a:p>
        </p:txBody>
      </p:sp>
      <p:sp>
        <p:nvSpPr>
          <p:cNvPr id="16" name="">
            <a:extLst xmlns:a="http://schemas.openxmlformats.org/drawingml/2006/main">
              <a:ext uri="{FF2B5EF4-FFF2-40B4-BE49-F238E27FC236}">
                <a16:creationId xmlns:a16="http://schemas.microsoft.com/office/drawing/2014/main" id="{1C759DDB-69AE-4B9F-AAE3-ADC830F15906}"/>
              </a:ext>
            </a:extLst>
          </p:cNvPr>
          <p:cNvSpPr>
            <a:spLocks xmlns:a="http://schemas.openxmlformats.org/drawingml/2006/main" noGrp="1"/>
          </p:cNvSpPr>
          <p:nvPr/>
        </p:nvSpPr>
        <p:spPr>
          <a:xfrm xmlns:a="http://schemas.openxmlformats.org/drawingml/2006/main">
            <a:off x="838200" y="4463415"/>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用户选择数据源、目标库表、探查范围、实体类型、执行策略和输出目标，形成标准化治理任务。</a:t>
            </a:r>
          </a:p>
        </p:txBody>
      </p:sp>
      <p:sp>
        <p:nvSpPr>
          <p:cNvPr id="17" name="">
            <a:extLst xmlns:a="http://schemas.openxmlformats.org/drawingml/2006/main">
              <a:ext uri="{FF2B5EF4-FFF2-40B4-BE49-F238E27FC236}">
                <a16:creationId xmlns:a16="http://schemas.microsoft.com/office/drawing/2014/main" id="{0ECC79CA-07F4-4ED6-A4CA-770F7C85B0B0}"/>
              </a:ext>
            </a:extLst>
          </p:cNvPr>
          <p:cNvSpPr>
            <a:spLocks xmlns:a="http://schemas.openxmlformats.org/drawingml/2006/main" noGrp="1"/>
          </p:cNvSpPr>
          <p:nvPr/>
        </p:nvSpPr>
        <p:spPr>
          <a:xfrm xmlns:a="http://schemas.openxmlformats.org/drawingml/2006/main">
            <a:off x="685800" y="5053965"/>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543E7C2D-3C46-493C-AFD5-47AC5F89DE08}"/>
              </a:ext>
            </a:extLst>
          </p:cNvPr>
          <p:cNvSpPr>
            <a:spLocks xmlns:a="http://schemas.openxmlformats.org/drawingml/2006/main" noGrp="1"/>
          </p:cNvSpPr>
          <p:nvPr/>
        </p:nvSpPr>
        <p:spPr>
          <a:xfrm xmlns:a="http://schemas.openxmlformats.org/drawingml/2006/main">
            <a:off x="838200" y="5187315"/>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队列执行</a:t>
            </a:r>
          </a:p>
        </p:txBody>
      </p:sp>
      <p:sp>
        <p:nvSpPr>
          <p:cNvPr id="19" name="">
            <a:extLst xmlns:a="http://schemas.openxmlformats.org/drawingml/2006/main">
              <a:ext uri="{FF2B5EF4-FFF2-40B4-BE49-F238E27FC236}">
                <a16:creationId xmlns:a16="http://schemas.microsoft.com/office/drawing/2014/main" id="{84EC316F-E47E-482F-BA62-3FAA6B0A3B1A}"/>
              </a:ext>
            </a:extLst>
          </p:cNvPr>
          <p:cNvSpPr>
            <a:spLocks xmlns:a="http://schemas.openxmlformats.org/drawingml/2006/main" noGrp="1"/>
          </p:cNvSpPr>
          <p:nvPr/>
        </p:nvSpPr>
        <p:spPr>
          <a:xfrm xmlns:a="http://schemas.openxmlformats.org/drawingml/2006/main">
            <a:off x="838200" y="5434965"/>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平台将任务按队列进行批量执行，支持大规模库表、文档和实体数据的分批处理，避免单次处理压力过大。</a:t>
            </a:r>
          </a:p>
        </p:txBody>
      </p:sp>
      <p:sp>
        <p:nvSpPr>
          <p:cNvPr id="20" name="">
            <a:extLst xmlns:a="http://schemas.openxmlformats.org/drawingml/2006/main">
              <a:ext uri="{FF2B5EF4-FFF2-40B4-BE49-F238E27FC236}">
                <a16:creationId xmlns:a16="http://schemas.microsoft.com/office/drawing/2014/main" id="{78870976-CF0D-4D76-9027-13CEE6BD213D}"/>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1" name="">
            <a:extLst xmlns:a="http://schemas.openxmlformats.org/drawingml/2006/main">
              <a:ext uri="{FF2B5EF4-FFF2-40B4-BE49-F238E27FC236}">
                <a16:creationId xmlns:a16="http://schemas.microsoft.com/office/drawing/2014/main" id="{508A4A20-0CF2-471E-97CC-D2C258BB4190}"/>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定时调度</a:t>
            </a:r>
          </a:p>
        </p:txBody>
      </p:sp>
      <p:sp>
        <p:nvSpPr>
          <p:cNvPr id="22" name="">
            <a:extLst xmlns:a="http://schemas.openxmlformats.org/drawingml/2006/main">
              <a:ext uri="{FF2B5EF4-FFF2-40B4-BE49-F238E27FC236}">
                <a16:creationId xmlns:a16="http://schemas.microsoft.com/office/drawing/2014/main" id="{252564B4-014D-4189-8C40-C5715A56EDBE}"/>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支持按周期或指定时间触发治理任务，适配定期数据更新、增量数据探查、常态化数据巡检等场景。</a:t>
            </a:r>
          </a:p>
        </p:txBody>
      </p:sp>
      <p:sp>
        <p:nvSpPr>
          <p:cNvPr id="23" name="">
            <a:extLst xmlns:a="http://schemas.openxmlformats.org/drawingml/2006/main">
              <a:ext uri="{FF2B5EF4-FFF2-40B4-BE49-F238E27FC236}">
                <a16:creationId xmlns:a16="http://schemas.microsoft.com/office/drawing/2014/main" id="{802E4B05-50C7-4CFE-910B-6242B752FCBE}"/>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4" name="">
            <a:extLst xmlns:a="http://schemas.openxmlformats.org/drawingml/2006/main">
              <a:ext uri="{FF2B5EF4-FFF2-40B4-BE49-F238E27FC236}">
                <a16:creationId xmlns:a16="http://schemas.microsoft.com/office/drawing/2014/main" id="{5FDE65F1-B480-44C9-891B-3BB6205992C4}"/>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过程监控</a:t>
            </a:r>
          </a:p>
        </p:txBody>
      </p:sp>
      <p:sp>
        <p:nvSpPr>
          <p:cNvPr id="25" name="">
            <a:extLst xmlns:a="http://schemas.openxmlformats.org/drawingml/2006/main">
              <a:ext uri="{FF2B5EF4-FFF2-40B4-BE49-F238E27FC236}">
                <a16:creationId xmlns:a16="http://schemas.microsoft.com/office/drawing/2014/main" id="{F3D4C8B9-7336-433F-AAFF-60B7E5D49CD0}"/>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展示任务状态、执行进度、处理批次、异常记录、结果数量和质量校验情况，便于审计人员、数据人员和运维人员掌握执行过程。</a:t>
            </a:r>
          </a:p>
        </p:txBody>
      </p:sp>
      <p:sp>
        <p:nvSpPr>
          <p:cNvPr id="26" name="">
            <a:extLst xmlns:a="http://schemas.openxmlformats.org/drawingml/2006/main">
              <a:ext uri="{FF2B5EF4-FFF2-40B4-BE49-F238E27FC236}">
                <a16:creationId xmlns:a16="http://schemas.microsoft.com/office/drawing/2014/main" id="{B81DB5AA-38E2-4552-9785-44CA4F492A15}"/>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7" name="">
            <a:extLst xmlns:a="http://schemas.openxmlformats.org/drawingml/2006/main">
              <a:ext uri="{FF2B5EF4-FFF2-40B4-BE49-F238E27FC236}">
                <a16:creationId xmlns:a16="http://schemas.microsoft.com/office/drawing/2014/main" id="{1D264759-BA88-496D-BE72-A557B4AA856D}"/>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结果校验</a:t>
            </a:r>
          </a:p>
        </p:txBody>
      </p:sp>
      <p:sp>
        <p:nvSpPr>
          <p:cNvPr id="28" name="">
            <a:extLst xmlns:a="http://schemas.openxmlformats.org/drawingml/2006/main">
              <a:ext uri="{FF2B5EF4-FFF2-40B4-BE49-F238E27FC236}">
                <a16:creationId xmlns:a16="http://schemas.microsoft.com/office/drawing/2014/main" id="{44CB3032-5D02-4E7D-8055-EA3C5613B881}"/>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对抽取结果、实体识别结果、关系发现结果和结构化输出进行抽样复核、质量检查和异常标注。</a:t>
            </a:r>
          </a:p>
        </p:txBody>
      </p:sp>
      <p:sp>
        <p:nvSpPr>
          <p:cNvPr id="29" name="">
            <a:extLst xmlns:a="http://schemas.openxmlformats.org/drawingml/2006/main">
              <a:ext uri="{FF2B5EF4-FFF2-40B4-BE49-F238E27FC236}">
                <a16:creationId xmlns:a16="http://schemas.microsoft.com/office/drawing/2014/main" id="{9A451E02-63C4-4F57-A43A-357728273871}"/>
              </a:ext>
            </a:extLst>
          </p:cNvPr>
          <p:cNvSpPr>
            <a:spLocks xmlns:a="http://schemas.openxmlformats.org/drawingml/2006/main" noGrp="1"/>
          </p:cNvSpPr>
          <p:nvPr/>
        </p:nvSpPr>
        <p:spPr>
          <a:xfrm xmlns:a="http://schemas.openxmlformats.org/drawingml/2006/main">
            <a:off x="62865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30" name="">
            <a:extLst xmlns:a="http://schemas.openxmlformats.org/drawingml/2006/main">
              <a:ext uri="{FF2B5EF4-FFF2-40B4-BE49-F238E27FC236}">
                <a16:creationId xmlns:a16="http://schemas.microsoft.com/office/drawing/2014/main" id="{F4B0162D-AD20-4CC1-AC34-38BC36F0D647}"/>
              </a:ext>
            </a:extLst>
          </p:cNvPr>
          <p:cNvSpPr>
            <a:spLocks xmlns:a="http://schemas.openxmlformats.org/drawingml/2006/main" noGrp="1"/>
          </p:cNvSpPr>
          <p:nvPr/>
        </p:nvSpPr>
        <p:spPr>
          <a:xfrm xmlns:a="http://schemas.openxmlformats.org/drawingml/2006/main">
            <a:off x="64389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结果沉淀</a:t>
            </a:r>
          </a:p>
        </p:txBody>
      </p:sp>
      <p:sp>
        <p:nvSpPr>
          <p:cNvPr id="31" name="">
            <a:extLst xmlns:a="http://schemas.openxmlformats.org/drawingml/2006/main">
              <a:ext uri="{FF2B5EF4-FFF2-40B4-BE49-F238E27FC236}">
                <a16:creationId xmlns:a16="http://schemas.microsoft.com/office/drawing/2014/main" id="{571B3868-DF2A-45A7-851A-7F9F15E9F806}"/>
              </a:ext>
            </a:extLst>
          </p:cNvPr>
          <p:cNvSpPr>
            <a:spLocks xmlns:a="http://schemas.openxmlformats.org/drawingml/2006/main" noGrp="1"/>
          </p:cNvSpPr>
          <p:nvPr/>
        </p:nvSpPr>
        <p:spPr>
          <a:xfrm xmlns:a="http://schemas.openxmlformats.org/drawingml/2006/main">
            <a:off x="64389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任务结果可进入结构化数据库、图数据库或后续审计分析流程，支撑数据复用、图谱构建、线索挖掘和综合分析。</a:t>
            </a:r>
          </a:p>
        </p:txBody>
      </p:sp>
    </p:spTree>
    <p:extLst>
      <p:ext uri="{BB962C8B-B14F-4D97-AF65-F5344CB8AC3E}">
        <p14:creationId xmlns:p14="http://schemas.microsoft.com/office/powerpoint/2010/main" val="143329368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2D55D7-3C5E-4792-A194-6C44901E72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641A363-25FF-40CD-BDD2-E990E0ADE496}"/>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A6AA28E-1789-44B8-A28F-A52B9012A0E6}"/>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871EA27-ED6E-4190-BFE0-F8B47BF5056A}"/>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核心能力：数据漫游与文本结构化</a:t>
            </a:r>
          </a:p>
        </p:txBody>
      </p:sp>
      <p:sp>
        <p:nvSpPr>
          <p:cNvPr id="5" name="">
            <a:extLst xmlns:a="http://schemas.openxmlformats.org/drawingml/2006/main">
              <a:ext uri="{FF2B5EF4-FFF2-40B4-BE49-F238E27FC236}">
                <a16:creationId xmlns:a16="http://schemas.microsoft.com/office/drawing/2014/main" id="{52543542-CF6E-42D4-BEE4-636FDF5A322C}"/>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752D1F53-EFBE-48E4-AB0D-2EEDB4EB805F}"/>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用“两类核心能力”概括数据治理平台：找得到数据、读得懂资料。</a:t>
            </a:r>
          </a:p>
        </p:txBody>
      </p:sp>
      <p:sp>
        <p:nvSpPr>
          <p:cNvPr id="7" name="">
            <a:extLst xmlns:a="http://schemas.openxmlformats.org/drawingml/2006/main">
              <a:ext uri="{FF2B5EF4-FFF2-40B4-BE49-F238E27FC236}">
                <a16:creationId xmlns:a16="http://schemas.microsoft.com/office/drawing/2014/main" id="{19EE2ED9-EC41-4E09-8D00-8829244EE80D}"/>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7B896E2D-0473-4B1B-895F-7981D10DEAEA}"/>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19</a:t>
            </a:r>
          </a:p>
        </p:txBody>
      </p:sp>
      <p:sp>
        <p:nvSpPr>
          <p:cNvPr id="9" name="">
            <a:extLst xmlns:a="http://schemas.openxmlformats.org/drawingml/2006/main">
              <a:ext uri="{FF2B5EF4-FFF2-40B4-BE49-F238E27FC236}">
                <a16:creationId xmlns:a16="http://schemas.microsoft.com/office/drawing/2014/main" id="{AE77AD56-3E9A-4782-AC32-2218DBE9AAD1}"/>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1B748CD0-3DF9-4950-9EED-C0B3AF3E040F}"/>
              </a:ext>
            </a:extLst>
          </p:cNvPr>
          <p:cNvSpPr>
            <a:spLocks xmlns:a="http://schemas.openxmlformats.org/drawingml/2006/main" noGrp="1"/>
          </p:cNvSpPr>
          <p:nvPr/>
        </p:nvSpPr>
        <p:spPr>
          <a:xfrm xmlns:a="http://schemas.openxmlformats.org/drawingml/2006/main">
            <a:off x="8382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数据漫游与文本结构化：两类核心治理能力</a:t>
            </a:r>
          </a:p>
        </p:txBody>
      </p:sp>
      <p:sp>
        <p:nvSpPr>
          <p:cNvPr id="11" name="">
            <a:extLst xmlns:a="http://schemas.openxmlformats.org/drawingml/2006/main">
              <a:ext uri="{FF2B5EF4-FFF2-40B4-BE49-F238E27FC236}">
                <a16:creationId xmlns:a16="http://schemas.microsoft.com/office/drawing/2014/main" id="{13613C3E-DB22-443A-B58F-3D942BD55437}"/>
              </a:ext>
            </a:extLst>
          </p:cNvPr>
          <p:cNvSpPr>
            <a:spLocks xmlns:a="http://schemas.openxmlformats.org/drawingml/2006/main" noGrp="1"/>
          </p:cNvSpPr>
          <p:nvPr/>
        </p:nvSpPr>
        <p:spPr>
          <a:xfrm xmlns:a="http://schemas.openxmlformats.org/drawingml/2006/main">
            <a:off x="8382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数据漫游：从数据库中自动发现有价值的数据</a:t>
            </a:r>
          </a:p>
        </p:txBody>
      </p:sp>
      <p:sp>
        <p:nvSpPr>
          <p:cNvPr id="12" name="">
            <a:extLst xmlns:a="http://schemas.openxmlformats.org/drawingml/2006/main">
              <a:ext uri="{FF2B5EF4-FFF2-40B4-BE49-F238E27FC236}">
                <a16:creationId xmlns:a16="http://schemas.microsoft.com/office/drawing/2014/main" id="{4117E0B1-F5A0-4C5E-863F-076B21E47B1A}"/>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3" name="">
            <a:extLst xmlns:a="http://schemas.openxmlformats.org/drawingml/2006/main">
              <a:ext uri="{FF2B5EF4-FFF2-40B4-BE49-F238E27FC236}">
                <a16:creationId xmlns:a16="http://schemas.microsoft.com/office/drawing/2014/main" id="{25E1CD74-2257-426F-B0B8-C84A2A065000}"/>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全量库表探查</a:t>
            </a:r>
          </a:p>
        </p:txBody>
      </p:sp>
      <p:sp>
        <p:nvSpPr>
          <p:cNvPr id="14" name="">
            <a:extLst xmlns:a="http://schemas.openxmlformats.org/drawingml/2006/main">
              <a:ext uri="{FF2B5EF4-FFF2-40B4-BE49-F238E27FC236}">
                <a16:creationId xmlns:a16="http://schemas.microsoft.com/office/drawing/2014/main" id="{501BCE11-8F3C-4AF0-9FBE-7B7289022BE9}"/>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基于大模型和字段识别规则，对库表进行全量探查，形成数据库表资产视图。</a:t>
            </a:r>
          </a:p>
        </p:txBody>
      </p:sp>
      <p:sp>
        <p:nvSpPr>
          <p:cNvPr id="15" name="">
            <a:extLst xmlns:a="http://schemas.openxmlformats.org/drawingml/2006/main">
              <a:ext uri="{FF2B5EF4-FFF2-40B4-BE49-F238E27FC236}">
                <a16:creationId xmlns:a16="http://schemas.microsoft.com/office/drawing/2014/main" id="{48898AFD-E6DF-43B3-BBF8-7F0C86B0EA7F}"/>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6" name="">
            <a:extLst xmlns:a="http://schemas.openxmlformats.org/drawingml/2006/main">
              <a:ext uri="{FF2B5EF4-FFF2-40B4-BE49-F238E27FC236}">
                <a16:creationId xmlns:a16="http://schemas.microsoft.com/office/drawing/2014/main" id="{F1542869-A21C-430A-B505-D5A0C5D53AFD}"/>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字段语义理解</a:t>
            </a:r>
          </a:p>
        </p:txBody>
      </p:sp>
      <p:sp>
        <p:nvSpPr>
          <p:cNvPr id="17" name="">
            <a:extLst xmlns:a="http://schemas.openxmlformats.org/drawingml/2006/main">
              <a:ext uri="{FF2B5EF4-FFF2-40B4-BE49-F238E27FC236}">
                <a16:creationId xmlns:a16="http://schemas.microsoft.com/office/drawing/2014/main" id="{E12E8E32-DEF5-4C81-B657-32E0C19316E1}"/>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自动推断字段含义、字段类型、业务主题和潜在用途，降低人工读表成本。</a:t>
            </a:r>
          </a:p>
        </p:txBody>
      </p:sp>
      <p:sp>
        <p:nvSpPr>
          <p:cNvPr id="18" name="">
            <a:extLst xmlns:a="http://schemas.openxmlformats.org/drawingml/2006/main">
              <a:ext uri="{FF2B5EF4-FFF2-40B4-BE49-F238E27FC236}">
                <a16:creationId xmlns:a16="http://schemas.microsoft.com/office/drawing/2014/main" id="{1F0F6887-9AA0-44C1-973F-0E5DCC6EB987}"/>
              </a:ext>
            </a:extLst>
          </p:cNvPr>
          <p:cNvSpPr>
            <a:spLocks xmlns:a="http://schemas.openxmlformats.org/drawingml/2006/main" noGrp="1"/>
          </p:cNvSpPr>
          <p:nvPr/>
        </p:nvSpPr>
        <p:spPr>
          <a:xfrm xmlns:a="http://schemas.openxmlformats.org/drawingml/2006/main">
            <a:off x="6858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C0029931-80E9-4DAE-B784-D3848FC5BD0E}"/>
              </a:ext>
            </a:extLst>
          </p:cNvPr>
          <p:cNvSpPr>
            <a:spLocks xmlns:a="http://schemas.openxmlformats.org/drawingml/2006/main" noGrp="1"/>
          </p:cNvSpPr>
          <p:nvPr/>
        </p:nvSpPr>
        <p:spPr>
          <a:xfrm xmlns:a="http://schemas.openxmlformats.org/drawingml/2006/main">
            <a:off x="8382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重点实体识别</a:t>
            </a:r>
          </a:p>
        </p:txBody>
      </p:sp>
      <p:sp>
        <p:nvSpPr>
          <p:cNvPr id="20" name="">
            <a:extLst xmlns:a="http://schemas.openxmlformats.org/drawingml/2006/main">
              <a:ext uri="{FF2B5EF4-FFF2-40B4-BE49-F238E27FC236}">
                <a16:creationId xmlns:a16="http://schemas.microsoft.com/office/drawing/2014/main" id="{B57791FE-8D5C-4C16-A922-E771CE5C330E}"/>
              </a:ext>
            </a:extLst>
          </p:cNvPr>
          <p:cNvSpPr>
            <a:spLocks xmlns:a="http://schemas.openxmlformats.org/drawingml/2006/main" noGrp="1"/>
          </p:cNvSpPr>
          <p:nvPr/>
        </p:nvSpPr>
        <p:spPr>
          <a:xfrm xmlns:a="http://schemas.openxmlformats.org/drawingml/2006/main">
            <a:off x="8382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自动识别身份证号、银行卡号、手机号、统一社会信用代码、企业名称、人员姓名等重点实体字段。</a:t>
            </a:r>
          </a:p>
        </p:txBody>
      </p:sp>
      <p:sp>
        <p:nvSpPr>
          <p:cNvPr id="21" name="">
            <a:extLst xmlns:a="http://schemas.openxmlformats.org/drawingml/2006/main">
              <a:ext uri="{FF2B5EF4-FFF2-40B4-BE49-F238E27FC236}">
                <a16:creationId xmlns:a16="http://schemas.microsoft.com/office/drawing/2014/main" id="{CAD1D674-EACF-4ABD-814E-C4730A98298A}"/>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28D4CA0C-D888-4960-8274-42A7573086EE}"/>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多表关系发现</a:t>
            </a:r>
          </a:p>
        </p:txBody>
      </p:sp>
      <p:sp>
        <p:nvSpPr>
          <p:cNvPr id="23" name="">
            <a:extLst xmlns:a="http://schemas.openxmlformats.org/drawingml/2006/main">
              <a:ext uri="{FF2B5EF4-FFF2-40B4-BE49-F238E27FC236}">
                <a16:creationId xmlns:a16="http://schemas.microsoft.com/office/drawing/2014/main" id="{024EDF38-DE05-4B15-AE44-1F96F5DBF941}"/>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辅助发现人员、企业、单位、项目等对象在多张表之间的潜在关联关系。</a:t>
            </a:r>
          </a:p>
        </p:txBody>
      </p:sp>
      <p:sp>
        <p:nvSpPr>
          <p:cNvPr id="24" name="">
            <a:extLst xmlns:a="http://schemas.openxmlformats.org/drawingml/2006/main">
              <a:ext uri="{FF2B5EF4-FFF2-40B4-BE49-F238E27FC236}">
                <a16:creationId xmlns:a16="http://schemas.microsoft.com/office/drawing/2014/main" id="{062F76E8-F3C1-4E64-AEAA-E543E3B770FE}"/>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7E7497EA-7148-4821-972C-D5DCB7A1A9AC}"/>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取证 SQL 生成</a:t>
            </a:r>
          </a:p>
        </p:txBody>
      </p:sp>
      <p:sp>
        <p:nvSpPr>
          <p:cNvPr id="26" name="">
            <a:extLst xmlns:a="http://schemas.openxmlformats.org/drawingml/2006/main">
              <a:ext uri="{FF2B5EF4-FFF2-40B4-BE49-F238E27FC236}">
                <a16:creationId xmlns:a16="http://schemas.microsoft.com/office/drawing/2014/main" id="{AE12A5E6-54CA-4DDB-971B-D27228368D78}"/>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围绕发现的实体和关系生成可执行 SQL，为审计取证和后续复核提供依据。</a:t>
            </a:r>
          </a:p>
        </p:txBody>
      </p:sp>
      <p:sp>
        <p:nvSpPr>
          <p:cNvPr id="27" name="">
            <a:extLst xmlns:a="http://schemas.openxmlformats.org/drawingml/2006/main">
              <a:ext uri="{FF2B5EF4-FFF2-40B4-BE49-F238E27FC236}">
                <a16:creationId xmlns:a16="http://schemas.microsoft.com/office/drawing/2014/main" id="{2C57528F-5D20-4959-AEC2-77182383D59E}"/>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8" name="">
            <a:extLst xmlns:a="http://schemas.openxmlformats.org/drawingml/2006/main">
              <a:ext uri="{FF2B5EF4-FFF2-40B4-BE49-F238E27FC236}">
                <a16:creationId xmlns:a16="http://schemas.microsoft.com/office/drawing/2014/main" id="{20944AA7-A161-4737-97A3-F96E25AB728B}"/>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文本结构化：把资料转化为可计算数据</a:t>
            </a:r>
          </a:p>
        </p:txBody>
      </p:sp>
      <p:sp>
        <p:nvSpPr>
          <p:cNvPr id="29" name="">
            <a:extLst xmlns:a="http://schemas.openxmlformats.org/drawingml/2006/main">
              <a:ext uri="{FF2B5EF4-FFF2-40B4-BE49-F238E27FC236}">
                <a16:creationId xmlns:a16="http://schemas.microsoft.com/office/drawing/2014/main" id="{409560E2-323D-4A23-B824-C2B01A50B1C0}"/>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复杂资料解析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面向股权变更、高管变更、法人代表变更、招股书、合同、制度文件、扫描件等非结构化资料，自动提取关键要素。</a:t>
            </a:r>
          </a:p>
        </p:txBody>
      </p:sp>
      <p:sp>
        <p:nvSpPr>
          <p:cNvPr id="30" name="">
            <a:extLst xmlns:a="http://schemas.openxmlformats.org/drawingml/2006/main">
              <a:ext uri="{FF2B5EF4-FFF2-40B4-BE49-F238E27FC236}">
                <a16:creationId xmlns:a16="http://schemas.microsoft.com/office/drawing/2014/main" id="{FEF6553F-A3BB-4DC7-9E45-D25E9465E67C}"/>
              </a:ext>
            </a:extLst>
          </p:cNvPr>
          <p:cNvSpPr>
            <a:spLocks xmlns:a="http://schemas.openxmlformats.org/drawingml/2006/main" noGrp="1"/>
          </p:cNvSpPr>
          <p:nvPr/>
        </p:nvSpPr>
        <p:spPr>
          <a:xfrm xmlns:a="http://schemas.openxmlformats.org/drawingml/2006/main">
            <a:off x="62865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31" name="">
            <a:extLst xmlns:a="http://schemas.openxmlformats.org/drawingml/2006/main">
              <a:ext uri="{FF2B5EF4-FFF2-40B4-BE49-F238E27FC236}">
                <a16:creationId xmlns:a16="http://schemas.microsoft.com/office/drawing/2014/main" id="{21A50200-1D1E-40DA-AA60-A8347EADF0F5}"/>
              </a:ext>
            </a:extLst>
          </p:cNvPr>
          <p:cNvSpPr>
            <a:spLocks xmlns:a="http://schemas.openxmlformats.org/drawingml/2006/main" noGrp="1"/>
          </p:cNvSpPr>
          <p:nvPr/>
        </p:nvSpPr>
        <p:spPr>
          <a:xfrm xmlns:a="http://schemas.openxmlformats.org/drawingml/2006/main">
            <a:off x="64389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结构化结果输出</a:t>
            </a:r>
          </a:p>
        </p:txBody>
      </p:sp>
      <p:sp>
        <p:nvSpPr>
          <p:cNvPr id="32" name="">
            <a:extLst xmlns:a="http://schemas.openxmlformats.org/drawingml/2006/main">
              <a:ext uri="{FF2B5EF4-FFF2-40B4-BE49-F238E27FC236}">
                <a16:creationId xmlns:a16="http://schemas.microsoft.com/office/drawing/2014/main" id="{0B21D016-D8D0-4590-80B6-B094F69FB3F6}"/>
              </a:ext>
            </a:extLst>
          </p:cNvPr>
          <p:cNvSpPr>
            <a:spLocks xmlns:a="http://schemas.openxmlformats.org/drawingml/2006/main" noGrp="1"/>
          </p:cNvSpPr>
          <p:nvPr/>
        </p:nvSpPr>
        <p:spPr>
          <a:xfrm xmlns:a="http://schemas.openxmlformats.org/drawingml/2006/main">
            <a:off x="64389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将原本只能人工阅读的资料转化为可查询、可分析、可复用的数据资产。</a:t>
            </a:r>
          </a:p>
        </p:txBody>
      </p:sp>
    </p:spTree>
    <p:extLst>
      <p:ext uri="{BB962C8B-B14F-4D97-AF65-F5344CB8AC3E}">
        <p14:creationId xmlns:p14="http://schemas.microsoft.com/office/powerpoint/2010/main" val="765589544"/>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AE24268-01F2-4134-9483-E07EFBA1DE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6406A7E-8595-4B80-88E0-A5D38BC99AE6}"/>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09F7EF8-E9B5-48D4-BEDF-6E85C892D7D1}"/>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FF8A3D"/>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AF7B516-1716-4227-B235-41DA9440A50E}"/>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工商变更治理与企业历史股权治理</a:t>
            </a:r>
          </a:p>
        </p:txBody>
      </p:sp>
      <p:sp>
        <p:nvSpPr>
          <p:cNvPr id="5" name="">
            <a:extLst xmlns:a="http://schemas.openxmlformats.org/drawingml/2006/main">
              <a:ext uri="{FF2B5EF4-FFF2-40B4-BE49-F238E27FC236}">
                <a16:creationId xmlns:a16="http://schemas.microsoft.com/office/drawing/2014/main" id="{20B77338-B5F7-426D-B8F1-E66C0862B7B8}"/>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13A92210-BB47-4106-854F-A2765F6F3FC6}"/>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用强数字证明非结构化资料结构化能力和批量处理能力。</a:t>
            </a:r>
          </a:p>
        </p:txBody>
      </p:sp>
      <p:sp>
        <p:nvSpPr>
          <p:cNvPr id="7" name="">
            <a:extLst xmlns:a="http://schemas.openxmlformats.org/drawingml/2006/main">
              <a:ext uri="{FF2B5EF4-FFF2-40B4-BE49-F238E27FC236}">
                <a16:creationId xmlns:a16="http://schemas.microsoft.com/office/drawing/2014/main" id="{9B779AA2-2BB5-4A8F-BC67-01B53C16607B}"/>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FEFDF58D-10AF-477E-BC38-212731318590}"/>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20</a:t>
            </a:r>
          </a:p>
        </p:txBody>
      </p:sp>
      <p:sp>
        <p:nvSpPr>
          <p:cNvPr id="9" name="">
            <a:extLst xmlns:a="http://schemas.openxmlformats.org/drawingml/2006/main">
              <a:ext uri="{FF2B5EF4-FFF2-40B4-BE49-F238E27FC236}">
                <a16:creationId xmlns:a16="http://schemas.microsoft.com/office/drawing/2014/main" id="{EC820307-DE50-4883-A536-AF9625069835}"/>
              </a:ext>
            </a:extLst>
          </p:cNvPr>
          <p:cNvSpPr>
            <a:spLocks xmlns:a="http://schemas.openxmlformats.org/drawingml/2006/main" noGrp="1"/>
          </p:cNvSpPr>
          <p:nvPr/>
        </p:nvSpPr>
        <p:spPr>
          <a:xfrm xmlns:a="http://schemas.openxmlformats.org/drawingml/2006/main">
            <a:off x="7905750" y="2076450"/>
            <a:ext cx="3543300" cy="3714750"/>
          </a:xfrm>
          <a:prstGeom xmlns:a="http://schemas.openxmlformats.org/drawingml/2006/main" prst="rect">
            <a:avLst/>
          </a:prstGeom>
          <a:solidFill xmlns:a="http://schemas.openxmlformats.org/drawingml/2006/main">
            <a:srgbClr val="0D1B2A"/>
          </a:solidFill>
          <a:ln xmlns:a="http://schemas.openxmlformats.org/drawingml/2006/main" w="0">
            <a:solidFill>
              <a:srgbClr val="0D1B2A"/>
            </a:solidFill>
            <a:prstDash val="solid"/>
          </a:ln>
        </p:spPr>
      </p:sp>
      <p:sp>
        <p:nvSpPr>
          <p:cNvPr id="10" name="">
            <a:extLst xmlns:a="http://schemas.openxmlformats.org/drawingml/2006/main">
              <a:ext uri="{FF2B5EF4-FFF2-40B4-BE49-F238E27FC236}">
                <a16:creationId xmlns:a16="http://schemas.microsoft.com/office/drawing/2014/main" id="{F212544B-3057-466B-817F-4330DC84D349}"/>
              </a:ext>
            </a:extLst>
          </p:cNvPr>
          <p:cNvSpPr>
            <a:spLocks xmlns:a="http://schemas.openxmlformats.org/drawingml/2006/main" noGrp="1"/>
          </p:cNvSpPr>
          <p:nvPr/>
        </p:nvSpPr>
        <p:spPr>
          <a:xfrm xmlns:a="http://schemas.openxmlformats.org/drawingml/2006/main">
            <a:off x="8172450" y="2266950"/>
            <a:ext cx="3009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p>
        </p:txBody>
      </p:sp>
      <p:sp>
        <p:nvSpPr>
          <p:cNvPr id="11" name="">
            <a:extLst xmlns:a="http://schemas.openxmlformats.org/drawingml/2006/main">
              <a:ext uri="{FF2B5EF4-FFF2-40B4-BE49-F238E27FC236}">
                <a16:creationId xmlns:a16="http://schemas.microsoft.com/office/drawing/2014/main" id="{D77BAE51-48AD-4BF4-A938-1591100DBA91}"/>
              </a:ext>
            </a:extLst>
          </p:cNvPr>
          <p:cNvSpPr>
            <a:spLocks xmlns:a="http://schemas.openxmlformats.org/drawingml/2006/main" noGrp="1"/>
          </p:cNvSpPr>
          <p:nvPr/>
        </p:nvSpPr>
        <p:spPr>
          <a:xfrm xmlns:a="http://schemas.openxmlformats.org/drawingml/2006/main">
            <a:off x="8172450" y="2762250"/>
            <a:ext cx="2743200" cy="628650"/>
          </a:xfrm>
          <a:prstGeom xmlns:a="http://schemas.openxmlformats.org/drawingml/2006/main" prst="rect">
            <a:avLst/>
          </a:prstGeom>
          <a:ln xmlns:a="http://schemas.openxmlformats.org/drawingml/2006/main" w="9525">
            <a:prstDash val="solid"/>
          </a:ln>
        </p:spPr>
      </p:sp>
      <p:sp>
        <p:nvSpPr>
          <p:cNvPr id="12" name="">
            <a:extLst xmlns:a="http://schemas.openxmlformats.org/drawingml/2006/main">
              <a:ext uri="{FF2B5EF4-FFF2-40B4-BE49-F238E27FC236}">
                <a16:creationId xmlns:a16="http://schemas.microsoft.com/office/drawing/2014/main" id="{F58E7740-759B-412A-9EAA-6F7C0788C7B8}"/>
              </a:ext>
            </a:extLst>
          </p:cNvPr>
          <p:cNvSpPr>
            <a:spLocks xmlns:a="http://schemas.openxmlformats.org/drawingml/2006/main" noGrp="1"/>
          </p:cNvSpPr>
          <p:nvPr/>
        </p:nvSpPr>
        <p:spPr>
          <a:xfrm xmlns:a="http://schemas.openxmlformats.org/drawingml/2006/main">
            <a:off x="8362950" y="29337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184 万家企业</a:t>
            </a:r>
          </a:p>
        </p:txBody>
      </p:sp>
      <p:sp>
        <p:nvSpPr>
          <p:cNvPr id="13" name="">
            <a:extLst xmlns:a="http://schemas.openxmlformats.org/drawingml/2006/main">
              <a:ext uri="{FF2B5EF4-FFF2-40B4-BE49-F238E27FC236}">
                <a16:creationId xmlns:a16="http://schemas.microsoft.com/office/drawing/2014/main" id="{0CC2FBAA-8BEA-4AE8-A244-4618315C4894}"/>
              </a:ext>
            </a:extLst>
          </p:cNvPr>
          <p:cNvSpPr>
            <a:spLocks xmlns:a="http://schemas.openxmlformats.org/drawingml/2006/main" noGrp="1"/>
          </p:cNvSpPr>
          <p:nvPr/>
        </p:nvSpPr>
        <p:spPr>
          <a:xfrm xmlns:a="http://schemas.openxmlformats.org/drawingml/2006/main">
            <a:off x="8172450" y="3543300"/>
            <a:ext cx="2743200" cy="628650"/>
          </a:xfrm>
          <a:prstGeom xmlns:a="http://schemas.openxmlformats.org/drawingml/2006/main" prst="rect">
            <a:avLst/>
          </a:prstGeom>
          <a:ln xmlns:a="http://schemas.openxmlformats.org/drawingml/2006/main" w="9525">
            <a:prstDash val="solid"/>
          </a:ln>
        </p:spPr>
      </p:sp>
      <p:sp>
        <p:nvSpPr>
          <p:cNvPr id="14" name="">
            <a:extLst xmlns:a="http://schemas.openxmlformats.org/drawingml/2006/main">
              <a:ext uri="{FF2B5EF4-FFF2-40B4-BE49-F238E27FC236}">
                <a16:creationId xmlns:a16="http://schemas.microsoft.com/office/drawing/2014/main" id="{EB79B552-0D1B-41C3-B880-69F3B73BCAE5}"/>
              </a:ext>
            </a:extLst>
          </p:cNvPr>
          <p:cNvSpPr>
            <a:spLocks xmlns:a="http://schemas.openxmlformats.org/drawingml/2006/main" noGrp="1"/>
          </p:cNvSpPr>
          <p:nvPr/>
        </p:nvSpPr>
        <p:spPr>
          <a:xfrm xmlns:a="http://schemas.openxmlformats.org/drawingml/2006/main">
            <a:off x="8362950" y="371475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30 小时</a:t>
            </a:r>
          </a:p>
        </p:txBody>
      </p:sp>
      <p:sp>
        <p:nvSpPr>
          <p:cNvPr id="15" name="">
            <a:extLst xmlns:a="http://schemas.openxmlformats.org/drawingml/2006/main">
              <a:ext uri="{FF2B5EF4-FFF2-40B4-BE49-F238E27FC236}">
                <a16:creationId xmlns:a16="http://schemas.microsoft.com/office/drawing/2014/main" id="{EA489652-4467-4484-96E8-A9DE791DB958}"/>
              </a:ext>
            </a:extLst>
          </p:cNvPr>
          <p:cNvSpPr>
            <a:spLocks xmlns:a="http://schemas.openxmlformats.org/drawingml/2006/main" noGrp="1"/>
          </p:cNvSpPr>
          <p:nvPr/>
        </p:nvSpPr>
        <p:spPr>
          <a:xfrm xmlns:a="http://schemas.openxmlformats.org/drawingml/2006/main">
            <a:off x="8172450" y="4324350"/>
            <a:ext cx="2743200" cy="628650"/>
          </a:xfrm>
          <a:prstGeom xmlns:a="http://schemas.openxmlformats.org/drawingml/2006/main" prst="rect">
            <a:avLst/>
          </a:prstGeom>
          <a:ln xmlns:a="http://schemas.openxmlformats.org/drawingml/2006/main" w="9525">
            <a:prstDash val="solid"/>
          </a:ln>
        </p:spPr>
      </p:sp>
      <p:sp>
        <p:nvSpPr>
          <p:cNvPr id="16" name="">
            <a:extLst xmlns:a="http://schemas.openxmlformats.org/drawingml/2006/main">
              <a:ext uri="{FF2B5EF4-FFF2-40B4-BE49-F238E27FC236}">
                <a16:creationId xmlns:a16="http://schemas.microsoft.com/office/drawing/2014/main" id="{2CF254F3-1B63-4718-A7A7-53B0BBF29798}"/>
              </a:ext>
            </a:extLst>
          </p:cNvPr>
          <p:cNvSpPr>
            <a:spLocks xmlns:a="http://schemas.openxmlformats.org/drawingml/2006/main" noGrp="1"/>
          </p:cNvSpPr>
          <p:nvPr/>
        </p:nvSpPr>
        <p:spPr>
          <a:xfrm xmlns:a="http://schemas.openxmlformats.org/drawingml/2006/main">
            <a:off x="8362950" y="44958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1300 万条</a:t>
            </a:r>
          </a:p>
        </p:txBody>
      </p:sp>
      <p:sp>
        <p:nvSpPr>
          <p:cNvPr id="17" name="">
            <a:extLst xmlns:a="http://schemas.openxmlformats.org/drawingml/2006/main">
              <a:ext uri="{FF2B5EF4-FFF2-40B4-BE49-F238E27FC236}">
                <a16:creationId xmlns:a16="http://schemas.microsoft.com/office/drawing/2014/main" id="{0F4CF437-E07B-48B4-BC09-671F57BFD15F}"/>
              </a:ext>
            </a:extLst>
          </p:cNvPr>
          <p:cNvSpPr>
            <a:spLocks xmlns:a="http://schemas.openxmlformats.org/drawingml/2006/main" noGrp="1"/>
          </p:cNvSpPr>
          <p:nvPr/>
        </p:nvSpPr>
        <p:spPr>
          <a:xfrm xmlns:a="http://schemas.openxmlformats.org/drawingml/2006/main">
            <a:off x="8172450" y="5295900"/>
            <a:ext cx="2971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p>
        </p:txBody>
      </p:sp>
      <p:sp>
        <p:nvSpPr>
          <p:cNvPr id="18" name="">
            <a:extLst xmlns:a="http://schemas.openxmlformats.org/drawingml/2006/main">
              <a:ext uri="{FF2B5EF4-FFF2-40B4-BE49-F238E27FC236}">
                <a16:creationId xmlns:a16="http://schemas.microsoft.com/office/drawing/2014/main" id="{CE0C67DF-22CD-4267-8417-83F9DC258B71}"/>
              </a:ext>
            </a:extLst>
          </p:cNvPr>
          <p:cNvSpPr>
            <a:spLocks xmlns:a="http://schemas.openxmlformats.org/drawingml/2006/main" noGrp="1"/>
          </p:cNvSpPr>
          <p:nvPr/>
        </p:nvSpPr>
        <p:spPr>
          <a:xfrm xmlns:a="http://schemas.openxmlformats.org/drawingml/2006/main">
            <a:off x="685800" y="20955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BBAB4CBF-1AA2-4564-8ED2-CCE6684D122A}"/>
              </a:ext>
            </a:extLst>
          </p:cNvPr>
          <p:cNvSpPr>
            <a:spLocks xmlns:a="http://schemas.openxmlformats.org/drawingml/2006/main" noGrp="1"/>
          </p:cNvSpPr>
          <p:nvPr/>
        </p:nvSpPr>
        <p:spPr>
          <a:xfrm xmlns:a="http://schemas.openxmlformats.org/drawingml/2006/main">
            <a:off x="838200" y="222885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传统问题</a:t>
            </a:r>
          </a:p>
        </p:txBody>
      </p:sp>
      <p:sp>
        <p:nvSpPr>
          <p:cNvPr id="20" name="">
            <a:extLst xmlns:a="http://schemas.openxmlformats.org/drawingml/2006/main">
              <a:ext uri="{FF2B5EF4-FFF2-40B4-BE49-F238E27FC236}">
                <a16:creationId xmlns:a16="http://schemas.microsoft.com/office/drawing/2014/main" id="{68C6160E-E5F3-433F-8085-6833FE67BF9B}"/>
              </a:ext>
            </a:extLst>
          </p:cNvPr>
          <p:cNvSpPr>
            <a:spLocks xmlns:a="http://schemas.openxmlformats.org/drawingml/2006/main" noGrp="1"/>
          </p:cNvSpPr>
          <p:nvPr/>
        </p:nvSpPr>
        <p:spPr>
          <a:xfrm xmlns:a="http://schemas.openxmlformats.org/drawingml/2006/main">
            <a:off x="838200" y="247650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资料能看到，但无法计算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工商变更文本中包含大量股东、出资额、持股比例、法定代表人、高管等信息，但文本格式不统一，难以直接进入数据库分析。</a:t>
            </a:r>
          </a:p>
        </p:txBody>
      </p:sp>
      <p:sp>
        <p:nvSpPr>
          <p:cNvPr id="21" name="">
            <a:extLst xmlns:a="http://schemas.openxmlformats.org/drawingml/2006/main">
              <a:ext uri="{FF2B5EF4-FFF2-40B4-BE49-F238E27FC236}">
                <a16:creationId xmlns:a16="http://schemas.microsoft.com/office/drawing/2014/main" id="{BFE97842-D7BB-4C36-9C8E-F7DAAB454ED1}"/>
              </a:ext>
            </a:extLst>
          </p:cNvPr>
          <p:cNvSpPr>
            <a:spLocks xmlns:a="http://schemas.openxmlformats.org/drawingml/2006/main" noGrp="1"/>
          </p:cNvSpPr>
          <p:nvPr/>
        </p:nvSpPr>
        <p:spPr>
          <a:xfrm xmlns:a="http://schemas.openxmlformats.org/drawingml/2006/main">
            <a:off x="685800" y="3067050"/>
            <a:ext cx="6858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09038A6D-77CE-46AE-B4A8-0A89E9263B73}"/>
              </a:ext>
            </a:extLst>
          </p:cNvPr>
          <p:cNvSpPr>
            <a:spLocks xmlns:a="http://schemas.openxmlformats.org/drawingml/2006/main" noGrp="1"/>
          </p:cNvSpPr>
          <p:nvPr/>
        </p:nvSpPr>
        <p:spPr>
          <a:xfrm xmlns:a="http://schemas.openxmlformats.org/drawingml/2006/main">
            <a:off x="838200" y="320040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历史链条难还原</a:t>
            </a:r>
          </a:p>
        </p:txBody>
      </p:sp>
      <p:sp>
        <p:nvSpPr>
          <p:cNvPr id="23" name="">
            <a:extLst xmlns:a="http://schemas.openxmlformats.org/drawingml/2006/main">
              <a:ext uri="{FF2B5EF4-FFF2-40B4-BE49-F238E27FC236}">
                <a16:creationId xmlns:a16="http://schemas.microsoft.com/office/drawing/2014/main" id="{5FDB5298-392F-4D9B-801B-0127C7113178}"/>
              </a:ext>
            </a:extLst>
          </p:cNvPr>
          <p:cNvSpPr>
            <a:spLocks xmlns:a="http://schemas.openxmlformats.org/drawingml/2006/main" noGrp="1"/>
          </p:cNvSpPr>
          <p:nvPr/>
        </p:nvSpPr>
        <p:spPr>
          <a:xfrm xmlns:a="http://schemas.openxmlformats.org/drawingml/2006/main">
            <a:off x="838200" y="344805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股权变化涉及多个时间点、多个股东和多轮变更，人工整理历史时间线成本高、遗漏风险大。</a:t>
            </a:r>
          </a:p>
        </p:txBody>
      </p:sp>
      <p:sp>
        <p:nvSpPr>
          <p:cNvPr id="24" name="">
            <a:extLst xmlns:a="http://schemas.openxmlformats.org/drawingml/2006/main">
              <a:ext uri="{FF2B5EF4-FFF2-40B4-BE49-F238E27FC236}">
                <a16:creationId xmlns:a16="http://schemas.microsoft.com/office/drawing/2014/main" id="{D50E2906-8225-4438-BBBE-7FBB5471BB88}"/>
              </a:ext>
            </a:extLst>
          </p:cNvPr>
          <p:cNvSpPr>
            <a:spLocks xmlns:a="http://schemas.openxmlformats.org/drawingml/2006/main" noGrp="1"/>
          </p:cNvSpPr>
          <p:nvPr/>
        </p:nvSpPr>
        <p:spPr>
          <a:xfrm xmlns:a="http://schemas.openxmlformats.org/drawingml/2006/main">
            <a:off x="685800" y="40386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24B08D68-344A-442B-A0C4-F6B796A69286}"/>
              </a:ext>
            </a:extLst>
          </p:cNvPr>
          <p:cNvSpPr>
            <a:spLocks xmlns:a="http://schemas.openxmlformats.org/drawingml/2006/main" noGrp="1"/>
          </p:cNvSpPr>
          <p:nvPr/>
        </p:nvSpPr>
        <p:spPr>
          <a:xfrm xmlns:a="http://schemas.openxmlformats.org/drawingml/2006/main">
            <a:off x="838200" y="417195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无法支撑全量审查</a:t>
            </a:r>
          </a:p>
        </p:txBody>
      </p:sp>
      <p:sp>
        <p:nvSpPr>
          <p:cNvPr id="26" name="">
            <a:extLst xmlns:a="http://schemas.openxmlformats.org/drawingml/2006/main">
              <a:ext uri="{FF2B5EF4-FFF2-40B4-BE49-F238E27FC236}">
                <a16:creationId xmlns:a16="http://schemas.microsoft.com/office/drawing/2014/main" id="{C60C039D-4A69-45F7-A769-3855B61EAEDA}"/>
              </a:ext>
            </a:extLst>
          </p:cNvPr>
          <p:cNvSpPr>
            <a:spLocks xmlns:a="http://schemas.openxmlformats.org/drawingml/2006/main" noGrp="1"/>
          </p:cNvSpPr>
          <p:nvPr/>
        </p:nvSpPr>
        <p:spPr>
          <a:xfrm xmlns:a="http://schemas.openxmlformats.org/drawingml/2006/main">
            <a:off x="838200" y="441960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传统方式很难对海量企业历史变更进行批量计算、股权穿透、关联识别和全量审查。</a:t>
            </a:r>
          </a:p>
        </p:txBody>
      </p:sp>
      <p:sp>
        <p:nvSpPr>
          <p:cNvPr id="27" name="">
            <a:extLst xmlns:a="http://schemas.openxmlformats.org/drawingml/2006/main">
              <a:ext uri="{FF2B5EF4-FFF2-40B4-BE49-F238E27FC236}">
                <a16:creationId xmlns:a16="http://schemas.microsoft.com/office/drawing/2014/main" id="{FE23FDCB-B3BF-491A-ADA8-72BEE3BA8B98}"/>
              </a:ext>
            </a:extLst>
          </p:cNvPr>
          <p:cNvSpPr>
            <a:spLocks xmlns:a="http://schemas.openxmlformats.org/drawingml/2006/main" noGrp="1"/>
          </p:cNvSpPr>
          <p:nvPr/>
        </p:nvSpPr>
        <p:spPr>
          <a:xfrm xmlns:a="http://schemas.openxmlformats.org/drawingml/2006/main">
            <a:off x="685800" y="5010150"/>
            <a:ext cx="6858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8" name="">
            <a:extLst xmlns:a="http://schemas.openxmlformats.org/drawingml/2006/main">
              <a:ext uri="{FF2B5EF4-FFF2-40B4-BE49-F238E27FC236}">
                <a16:creationId xmlns:a16="http://schemas.microsoft.com/office/drawing/2014/main" id="{089D150F-AD4B-4FAD-99D7-13C908EC95C9}"/>
              </a:ext>
            </a:extLst>
          </p:cNvPr>
          <p:cNvSpPr>
            <a:spLocks xmlns:a="http://schemas.openxmlformats.org/drawingml/2006/main" noGrp="1"/>
          </p:cNvSpPr>
          <p:nvPr/>
        </p:nvSpPr>
        <p:spPr>
          <a:xfrm xmlns:a="http://schemas.openxmlformats.org/drawingml/2006/main">
            <a:off x="838200" y="514350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AI 做法</a:t>
            </a:r>
          </a:p>
        </p:txBody>
      </p:sp>
      <p:sp>
        <p:nvSpPr>
          <p:cNvPr id="29" name="">
            <a:extLst xmlns:a="http://schemas.openxmlformats.org/drawingml/2006/main">
              <a:ext uri="{FF2B5EF4-FFF2-40B4-BE49-F238E27FC236}">
                <a16:creationId xmlns:a16="http://schemas.microsoft.com/office/drawing/2014/main" id="{CEA5DFBA-7818-4682-B1F9-AEF2CD1ABF61}"/>
              </a:ext>
            </a:extLst>
          </p:cNvPr>
          <p:cNvSpPr>
            <a:spLocks xmlns:a="http://schemas.openxmlformats.org/drawingml/2006/main" noGrp="1"/>
          </p:cNvSpPr>
          <p:nvPr/>
        </p:nvSpPr>
        <p:spPr>
          <a:xfrm xmlns:a="http://schemas.openxmlformats.org/drawingml/2006/main">
            <a:off x="838200" y="539115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通过数据治理平台自动解析历史工商变更和股权变更文本，提取：</a:t>
            </a:r>
          </a:p>
        </p:txBody>
      </p:sp>
      <p:sp>
        <p:nvSpPr>
          <p:cNvPr id="30" name="">
            <a:extLst xmlns:a="http://schemas.openxmlformats.org/drawingml/2006/main">
              <a:ext uri="{FF2B5EF4-FFF2-40B4-BE49-F238E27FC236}">
                <a16:creationId xmlns:a16="http://schemas.microsoft.com/office/drawing/2014/main" id="{1971D84E-40EA-4C81-B5AF-6194C5508A36}"/>
              </a:ext>
            </a:extLst>
          </p:cNvPr>
          <p:cNvSpPr>
            <a:spLocks xmlns:a="http://schemas.openxmlformats.org/drawingml/2006/main" noGrp="1"/>
          </p:cNvSpPr>
          <p:nvPr/>
        </p:nvSpPr>
        <p:spPr>
          <a:xfrm xmlns:a="http://schemas.openxmlformats.org/drawingml/2006/main">
            <a:off x="685800" y="59817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31" name="">
            <a:extLst xmlns:a="http://schemas.openxmlformats.org/drawingml/2006/main">
              <a:ext uri="{FF2B5EF4-FFF2-40B4-BE49-F238E27FC236}">
                <a16:creationId xmlns:a16="http://schemas.microsoft.com/office/drawing/2014/main" id="{B52A94FC-3BA5-4AF4-A161-C201A3C751F5}"/>
              </a:ext>
            </a:extLst>
          </p:cNvPr>
          <p:cNvSpPr>
            <a:spLocks xmlns:a="http://schemas.openxmlformats.org/drawingml/2006/main" noGrp="1"/>
          </p:cNvSpPr>
          <p:nvPr/>
        </p:nvSpPr>
        <p:spPr>
          <a:xfrm xmlns:a="http://schemas.openxmlformats.org/drawingml/2006/main">
            <a:off x="838200" y="6134100"/>
            <a:ext cx="65532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变更时间</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股东信息</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投资额</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持股比例</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法定代表人变化</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高管变化</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变更前后内容</a:t>
            </a:r>
          </a:p>
        </p:txBody>
      </p:sp>
    </p:spTree>
    <p:extLst>
      <p:ext uri="{BB962C8B-B14F-4D97-AF65-F5344CB8AC3E}">
        <p14:creationId xmlns:p14="http://schemas.microsoft.com/office/powerpoint/2010/main" val="662799038"/>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537692-F041-494F-8B80-53288A83FB3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28CFB65-44B1-4E36-B92B-2DAA93801ACA}"/>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7FDD0B6-690C-4516-9768-52D0D929B941}"/>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FF8A3D"/>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857698B-3EAC-4284-BABA-395DBAECC0C0}"/>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招股书提取</a:t>
            </a:r>
          </a:p>
        </p:txBody>
      </p:sp>
      <p:sp>
        <p:nvSpPr>
          <p:cNvPr id="5" name="">
            <a:extLst xmlns:a="http://schemas.openxmlformats.org/drawingml/2006/main">
              <a:ext uri="{FF2B5EF4-FFF2-40B4-BE49-F238E27FC236}">
                <a16:creationId xmlns:a16="http://schemas.microsoft.com/office/drawing/2014/main" id="{2212EA76-4AD9-4D6A-A3C2-43DB6EFB6350}"/>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71A1CAF3-A998-4C01-B158-9A8F46605779}"/>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展示长文档、复杂表格和专业资料的结构化处理能力。</a:t>
            </a:r>
          </a:p>
        </p:txBody>
      </p:sp>
      <p:sp>
        <p:nvSpPr>
          <p:cNvPr id="7" name="">
            <a:extLst xmlns:a="http://schemas.openxmlformats.org/drawingml/2006/main">
              <a:ext uri="{FF2B5EF4-FFF2-40B4-BE49-F238E27FC236}">
                <a16:creationId xmlns:a16="http://schemas.microsoft.com/office/drawing/2014/main" id="{909AA39A-4CD6-438A-8EDB-A2DB8A5A9430}"/>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E3F2A552-73E3-4581-919B-5148601CB383}"/>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21</a:t>
            </a:r>
          </a:p>
        </p:txBody>
      </p:sp>
      <p:sp>
        <p:nvSpPr>
          <p:cNvPr id="9" name="">
            <a:extLst xmlns:a="http://schemas.openxmlformats.org/drawingml/2006/main">
              <a:ext uri="{FF2B5EF4-FFF2-40B4-BE49-F238E27FC236}">
                <a16:creationId xmlns:a16="http://schemas.microsoft.com/office/drawing/2014/main" id="{B5BD4431-B5A4-4C47-B935-6EB696AA05A9}"/>
              </a:ext>
            </a:extLst>
          </p:cNvPr>
          <p:cNvSpPr>
            <a:spLocks xmlns:a="http://schemas.openxmlformats.org/drawingml/2006/main" noGrp="1"/>
          </p:cNvSpPr>
          <p:nvPr/>
        </p:nvSpPr>
        <p:spPr>
          <a:xfrm xmlns:a="http://schemas.openxmlformats.org/drawingml/2006/main">
            <a:off x="7905750" y="2076450"/>
            <a:ext cx="3543300" cy="3714750"/>
          </a:xfrm>
          <a:prstGeom xmlns:a="http://schemas.openxmlformats.org/drawingml/2006/main" prst="rect">
            <a:avLst/>
          </a:prstGeom>
          <a:solidFill xmlns:a="http://schemas.openxmlformats.org/drawingml/2006/main">
            <a:srgbClr val="0D1B2A"/>
          </a:solidFill>
          <a:ln xmlns:a="http://schemas.openxmlformats.org/drawingml/2006/main" w="0">
            <a:solidFill>
              <a:srgbClr val="0D1B2A"/>
            </a:solidFill>
            <a:prstDash val="solid"/>
          </a:ln>
        </p:spPr>
      </p:sp>
      <p:sp>
        <p:nvSpPr>
          <p:cNvPr id="10" name="">
            <a:extLst xmlns:a="http://schemas.openxmlformats.org/drawingml/2006/main">
              <a:ext uri="{FF2B5EF4-FFF2-40B4-BE49-F238E27FC236}">
                <a16:creationId xmlns:a16="http://schemas.microsoft.com/office/drawing/2014/main" id="{5AE1107B-C6D2-4914-958D-F1119DE5B41A}"/>
              </a:ext>
            </a:extLst>
          </p:cNvPr>
          <p:cNvSpPr>
            <a:spLocks xmlns:a="http://schemas.openxmlformats.org/drawingml/2006/main" noGrp="1"/>
          </p:cNvSpPr>
          <p:nvPr/>
        </p:nvSpPr>
        <p:spPr>
          <a:xfrm xmlns:a="http://schemas.openxmlformats.org/drawingml/2006/main">
            <a:off x="8172450" y="2266950"/>
            <a:ext cx="3009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p>
        </p:txBody>
      </p:sp>
      <p:sp>
        <p:nvSpPr>
          <p:cNvPr id="11" name="">
            <a:extLst xmlns:a="http://schemas.openxmlformats.org/drawingml/2006/main">
              <a:ext uri="{FF2B5EF4-FFF2-40B4-BE49-F238E27FC236}">
                <a16:creationId xmlns:a16="http://schemas.microsoft.com/office/drawing/2014/main" id="{341C4A8B-0EA9-4B73-86D7-F770DCFEB4A2}"/>
              </a:ext>
            </a:extLst>
          </p:cNvPr>
          <p:cNvSpPr>
            <a:spLocks xmlns:a="http://schemas.openxmlformats.org/drawingml/2006/main" noGrp="1"/>
          </p:cNvSpPr>
          <p:nvPr/>
        </p:nvSpPr>
        <p:spPr>
          <a:xfrm xmlns:a="http://schemas.openxmlformats.org/drawingml/2006/main">
            <a:off x="8172450" y="2762250"/>
            <a:ext cx="2743200" cy="628650"/>
          </a:xfrm>
          <a:prstGeom xmlns:a="http://schemas.openxmlformats.org/drawingml/2006/main" prst="rect">
            <a:avLst/>
          </a:prstGeom>
          <a:ln xmlns:a="http://schemas.openxmlformats.org/drawingml/2006/main" w="9525">
            <a:prstDash val="solid"/>
          </a:ln>
        </p:spPr>
      </p:sp>
      <p:sp>
        <p:nvSpPr>
          <p:cNvPr id="12" name="">
            <a:extLst xmlns:a="http://schemas.openxmlformats.org/drawingml/2006/main">
              <a:ext uri="{FF2B5EF4-FFF2-40B4-BE49-F238E27FC236}">
                <a16:creationId xmlns:a16="http://schemas.microsoft.com/office/drawing/2014/main" id="{6317CED3-C688-4DF7-8910-52D5B8D62782}"/>
              </a:ext>
            </a:extLst>
          </p:cNvPr>
          <p:cNvSpPr>
            <a:spLocks xmlns:a="http://schemas.openxmlformats.org/drawingml/2006/main" noGrp="1"/>
          </p:cNvSpPr>
          <p:nvPr/>
        </p:nvSpPr>
        <p:spPr>
          <a:xfrm xmlns:a="http://schemas.openxmlformats.org/drawingml/2006/main">
            <a:off x="8362950" y="29337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案例验证</a:t>
            </a:r>
          </a:p>
        </p:txBody>
      </p:sp>
      <p:sp>
        <p:nvSpPr>
          <p:cNvPr id="13" name="">
            <a:extLst xmlns:a="http://schemas.openxmlformats.org/drawingml/2006/main">
              <a:ext uri="{FF2B5EF4-FFF2-40B4-BE49-F238E27FC236}">
                <a16:creationId xmlns:a16="http://schemas.microsoft.com/office/drawing/2014/main" id="{12E15CBB-5568-4FCD-B8B4-BF6E8567F7D4}"/>
              </a:ext>
            </a:extLst>
          </p:cNvPr>
          <p:cNvSpPr>
            <a:spLocks xmlns:a="http://schemas.openxmlformats.org/drawingml/2006/main" noGrp="1"/>
          </p:cNvSpPr>
          <p:nvPr/>
        </p:nvSpPr>
        <p:spPr>
          <a:xfrm xmlns:a="http://schemas.openxmlformats.org/drawingml/2006/main">
            <a:off x="8172450" y="3543300"/>
            <a:ext cx="2743200" cy="628650"/>
          </a:xfrm>
          <a:prstGeom xmlns:a="http://schemas.openxmlformats.org/drawingml/2006/main" prst="rect">
            <a:avLst/>
          </a:prstGeom>
          <a:ln xmlns:a="http://schemas.openxmlformats.org/drawingml/2006/main" w="9525">
            <a:prstDash val="solid"/>
          </a:ln>
        </p:spPr>
      </p:sp>
      <p:sp>
        <p:nvSpPr>
          <p:cNvPr id="14" name="">
            <a:extLst xmlns:a="http://schemas.openxmlformats.org/drawingml/2006/main">
              <a:ext uri="{FF2B5EF4-FFF2-40B4-BE49-F238E27FC236}">
                <a16:creationId xmlns:a16="http://schemas.microsoft.com/office/drawing/2014/main" id="{82C8035A-0B68-45C5-993C-7DF890D7F043}"/>
              </a:ext>
            </a:extLst>
          </p:cNvPr>
          <p:cNvSpPr>
            <a:spLocks xmlns:a="http://schemas.openxmlformats.org/drawingml/2006/main" noGrp="1"/>
          </p:cNvSpPr>
          <p:nvPr/>
        </p:nvSpPr>
        <p:spPr>
          <a:xfrm xmlns:a="http://schemas.openxmlformats.org/drawingml/2006/main">
            <a:off x="8362950" y="371475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作业闭环</a:t>
            </a:r>
          </a:p>
        </p:txBody>
      </p:sp>
      <p:sp>
        <p:nvSpPr>
          <p:cNvPr id="15" name="">
            <a:extLst xmlns:a="http://schemas.openxmlformats.org/drawingml/2006/main">
              <a:ext uri="{FF2B5EF4-FFF2-40B4-BE49-F238E27FC236}">
                <a16:creationId xmlns:a16="http://schemas.microsoft.com/office/drawing/2014/main" id="{809D8293-C32D-4B02-9550-F9B23945B06E}"/>
              </a:ext>
            </a:extLst>
          </p:cNvPr>
          <p:cNvSpPr>
            <a:spLocks xmlns:a="http://schemas.openxmlformats.org/drawingml/2006/main" noGrp="1"/>
          </p:cNvSpPr>
          <p:nvPr/>
        </p:nvSpPr>
        <p:spPr>
          <a:xfrm xmlns:a="http://schemas.openxmlformats.org/drawingml/2006/main">
            <a:off x="8172450" y="4324350"/>
            <a:ext cx="2743200" cy="628650"/>
          </a:xfrm>
          <a:prstGeom xmlns:a="http://schemas.openxmlformats.org/drawingml/2006/main" prst="rect">
            <a:avLst/>
          </a:prstGeom>
          <a:ln xmlns:a="http://schemas.openxmlformats.org/drawingml/2006/main" w="9525">
            <a:prstDash val="solid"/>
          </a:ln>
        </p:spPr>
      </p:sp>
      <p:sp>
        <p:nvSpPr>
          <p:cNvPr id="16" name="">
            <a:extLst xmlns:a="http://schemas.openxmlformats.org/drawingml/2006/main">
              <a:ext uri="{FF2B5EF4-FFF2-40B4-BE49-F238E27FC236}">
                <a16:creationId xmlns:a16="http://schemas.microsoft.com/office/drawing/2014/main" id="{6E680993-70AD-4D22-9C0C-C5CE61FAC63B}"/>
              </a:ext>
            </a:extLst>
          </p:cNvPr>
          <p:cNvSpPr>
            <a:spLocks xmlns:a="http://schemas.openxmlformats.org/drawingml/2006/main" noGrp="1"/>
          </p:cNvSpPr>
          <p:nvPr/>
        </p:nvSpPr>
        <p:spPr>
          <a:xfrm xmlns:a="http://schemas.openxmlformats.org/drawingml/2006/main">
            <a:off x="8362950" y="44958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可复核</a:t>
            </a:r>
          </a:p>
        </p:txBody>
      </p:sp>
      <p:sp>
        <p:nvSpPr>
          <p:cNvPr id="17" name="">
            <a:extLst xmlns:a="http://schemas.openxmlformats.org/drawingml/2006/main">
              <a:ext uri="{FF2B5EF4-FFF2-40B4-BE49-F238E27FC236}">
                <a16:creationId xmlns:a16="http://schemas.microsoft.com/office/drawing/2014/main" id="{5D4B1E62-0A65-447E-9F1E-1DC255EC3855}"/>
              </a:ext>
            </a:extLst>
          </p:cNvPr>
          <p:cNvSpPr>
            <a:spLocks xmlns:a="http://schemas.openxmlformats.org/drawingml/2006/main" noGrp="1"/>
          </p:cNvSpPr>
          <p:nvPr/>
        </p:nvSpPr>
        <p:spPr>
          <a:xfrm xmlns:a="http://schemas.openxmlformats.org/drawingml/2006/main">
            <a:off x="8172450" y="5295900"/>
            <a:ext cx="2971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p>
        </p:txBody>
      </p:sp>
      <p:sp>
        <p:nvSpPr>
          <p:cNvPr id="18" name="">
            <a:extLst xmlns:a="http://schemas.openxmlformats.org/drawingml/2006/main">
              <a:ext uri="{FF2B5EF4-FFF2-40B4-BE49-F238E27FC236}">
                <a16:creationId xmlns:a16="http://schemas.microsoft.com/office/drawing/2014/main" id="{ECE68A82-586E-4AF7-BACC-98FA4C78AB06}"/>
              </a:ext>
            </a:extLst>
          </p:cNvPr>
          <p:cNvSpPr>
            <a:spLocks xmlns:a="http://schemas.openxmlformats.org/drawingml/2006/main" noGrp="1"/>
          </p:cNvSpPr>
          <p:nvPr/>
        </p:nvSpPr>
        <p:spPr>
          <a:xfrm xmlns:a="http://schemas.openxmlformats.org/drawingml/2006/main">
            <a:off x="685800" y="20955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BA5C20F5-D403-415D-9997-DF9C0EE58AB9}"/>
              </a:ext>
            </a:extLst>
          </p:cNvPr>
          <p:cNvSpPr>
            <a:spLocks xmlns:a="http://schemas.openxmlformats.org/drawingml/2006/main" noGrp="1"/>
          </p:cNvSpPr>
          <p:nvPr/>
        </p:nvSpPr>
        <p:spPr>
          <a:xfrm xmlns:a="http://schemas.openxmlformats.org/drawingml/2006/main">
            <a:off x="838200" y="222885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典型场景：招股书智能提取</a:t>
            </a:r>
          </a:p>
        </p:txBody>
      </p:sp>
      <p:sp>
        <p:nvSpPr>
          <p:cNvPr id="20" name="">
            <a:extLst xmlns:a="http://schemas.openxmlformats.org/drawingml/2006/main">
              <a:ext uri="{FF2B5EF4-FFF2-40B4-BE49-F238E27FC236}">
                <a16:creationId xmlns:a16="http://schemas.microsoft.com/office/drawing/2014/main" id="{522424E3-C494-46A0-9442-6E6CD36F72D2}"/>
              </a:ext>
            </a:extLst>
          </p:cNvPr>
          <p:cNvSpPr>
            <a:spLocks xmlns:a="http://schemas.openxmlformats.org/drawingml/2006/main" noGrp="1"/>
          </p:cNvSpPr>
          <p:nvPr/>
        </p:nvSpPr>
        <p:spPr>
          <a:xfrm xmlns:a="http://schemas.openxmlformats.org/drawingml/2006/main">
            <a:off x="838200" y="247650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面对数百页的招股书 PDF / Word，传统方式依赖人工翻阅、定位章节、摘录表格和整理股权结构，耗时长、易遗漏、难复用。</a:t>
            </a:r>
          </a:p>
        </p:txBody>
      </p:sp>
      <p:sp>
        <p:nvSpPr>
          <p:cNvPr id="21" name="">
            <a:extLst xmlns:a="http://schemas.openxmlformats.org/drawingml/2006/main">
              <a:ext uri="{FF2B5EF4-FFF2-40B4-BE49-F238E27FC236}">
                <a16:creationId xmlns:a16="http://schemas.microsoft.com/office/drawing/2014/main" id="{F662BC1C-12D1-4D76-84C3-A5B5713615BF}"/>
              </a:ext>
            </a:extLst>
          </p:cNvPr>
          <p:cNvSpPr>
            <a:spLocks xmlns:a="http://schemas.openxmlformats.org/drawingml/2006/main" noGrp="1"/>
          </p:cNvSpPr>
          <p:nvPr/>
        </p:nvSpPr>
        <p:spPr>
          <a:xfrm xmlns:a="http://schemas.openxmlformats.org/drawingml/2006/main">
            <a:off x="685800" y="3067050"/>
            <a:ext cx="6858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5D8E0C73-BD64-4FDF-AEA8-1EB0095BC2B4}"/>
              </a:ext>
            </a:extLst>
          </p:cNvPr>
          <p:cNvSpPr>
            <a:spLocks xmlns:a="http://schemas.openxmlformats.org/drawingml/2006/main" noGrp="1"/>
          </p:cNvSpPr>
          <p:nvPr/>
        </p:nvSpPr>
        <p:spPr>
          <a:xfrm xmlns:a="http://schemas.openxmlformats.org/drawingml/2006/main">
            <a:off x="838200" y="320040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技术难点</a:t>
            </a:r>
          </a:p>
        </p:txBody>
      </p:sp>
      <p:sp>
        <p:nvSpPr>
          <p:cNvPr id="23" name="">
            <a:extLst xmlns:a="http://schemas.openxmlformats.org/drawingml/2006/main">
              <a:ext uri="{FF2B5EF4-FFF2-40B4-BE49-F238E27FC236}">
                <a16:creationId xmlns:a16="http://schemas.microsoft.com/office/drawing/2014/main" id="{D046F039-B755-4182-9918-4890C0288BBA}"/>
              </a:ext>
            </a:extLst>
          </p:cNvPr>
          <p:cNvSpPr>
            <a:spLocks xmlns:a="http://schemas.openxmlformats.org/drawingml/2006/main" noGrp="1"/>
          </p:cNvSpPr>
          <p:nvPr/>
        </p:nvSpPr>
        <p:spPr>
          <a:xfrm xmlns:a="http://schemas.openxmlformats.org/drawingml/2006/main">
            <a:off x="838200" y="344805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文档篇幅长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招股书往往包含数百页内容，章节结构复杂，信息分散在正文、表格、附注和跨页内容中。</a:t>
            </a:r>
          </a:p>
        </p:txBody>
      </p:sp>
      <p:sp>
        <p:nvSpPr>
          <p:cNvPr id="24" name="">
            <a:extLst xmlns:a="http://schemas.openxmlformats.org/drawingml/2006/main">
              <a:ext uri="{FF2B5EF4-FFF2-40B4-BE49-F238E27FC236}">
                <a16:creationId xmlns:a16="http://schemas.microsoft.com/office/drawing/2014/main" id="{B57E39CC-C2DD-4078-9BF7-503C0B2195EF}"/>
              </a:ext>
            </a:extLst>
          </p:cNvPr>
          <p:cNvSpPr>
            <a:spLocks xmlns:a="http://schemas.openxmlformats.org/drawingml/2006/main" noGrp="1"/>
          </p:cNvSpPr>
          <p:nvPr/>
        </p:nvSpPr>
        <p:spPr>
          <a:xfrm xmlns:a="http://schemas.openxmlformats.org/drawingml/2006/main">
            <a:off x="685800" y="40386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F5964E69-52FB-408D-9F3C-E70B27F0B039}"/>
              </a:ext>
            </a:extLst>
          </p:cNvPr>
          <p:cNvSpPr>
            <a:spLocks xmlns:a="http://schemas.openxmlformats.org/drawingml/2006/main" noGrp="1"/>
          </p:cNvSpPr>
          <p:nvPr/>
        </p:nvSpPr>
        <p:spPr>
          <a:xfrm xmlns:a="http://schemas.openxmlformats.org/drawingml/2006/main">
            <a:off x="838200" y="417195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表格结构复杂</a:t>
            </a:r>
          </a:p>
        </p:txBody>
      </p:sp>
      <p:sp>
        <p:nvSpPr>
          <p:cNvPr id="26" name="">
            <a:extLst xmlns:a="http://schemas.openxmlformats.org/drawingml/2006/main">
              <a:ext uri="{FF2B5EF4-FFF2-40B4-BE49-F238E27FC236}">
                <a16:creationId xmlns:a16="http://schemas.microsoft.com/office/drawing/2014/main" id="{2231F8B4-5BE9-43F7-BD76-86F50D0F1236}"/>
              </a:ext>
            </a:extLst>
          </p:cNvPr>
          <p:cNvSpPr>
            <a:spLocks xmlns:a="http://schemas.openxmlformats.org/drawingml/2006/main" noGrp="1"/>
          </p:cNvSpPr>
          <p:nvPr/>
        </p:nvSpPr>
        <p:spPr>
          <a:xfrm xmlns:a="http://schemas.openxmlformats.org/drawingml/2006/main">
            <a:off x="838200" y="441960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股东信息、股权结构、历史沿革、董监高履历等内容常以复杂表格呈现，存在跨页、合并单元格和格式不统一等问题。</a:t>
            </a:r>
          </a:p>
        </p:txBody>
      </p:sp>
      <p:sp>
        <p:nvSpPr>
          <p:cNvPr id="27" name="">
            <a:extLst xmlns:a="http://schemas.openxmlformats.org/drawingml/2006/main">
              <a:ext uri="{FF2B5EF4-FFF2-40B4-BE49-F238E27FC236}">
                <a16:creationId xmlns:a16="http://schemas.microsoft.com/office/drawing/2014/main" id="{17D18693-11FB-4275-88D6-86FAF1956AB5}"/>
              </a:ext>
            </a:extLst>
          </p:cNvPr>
          <p:cNvSpPr>
            <a:spLocks xmlns:a="http://schemas.openxmlformats.org/drawingml/2006/main" noGrp="1"/>
          </p:cNvSpPr>
          <p:nvPr/>
        </p:nvSpPr>
        <p:spPr>
          <a:xfrm xmlns:a="http://schemas.openxmlformats.org/drawingml/2006/main">
            <a:off x="685800" y="5010150"/>
            <a:ext cx="6858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8" name="">
            <a:extLst xmlns:a="http://schemas.openxmlformats.org/drawingml/2006/main">
              <a:ext uri="{FF2B5EF4-FFF2-40B4-BE49-F238E27FC236}">
                <a16:creationId xmlns:a16="http://schemas.microsoft.com/office/drawing/2014/main" id="{7138442A-EBF8-4B53-87EE-0498A1E1E207}"/>
              </a:ext>
            </a:extLst>
          </p:cNvPr>
          <p:cNvSpPr>
            <a:spLocks xmlns:a="http://schemas.openxmlformats.org/drawingml/2006/main" noGrp="1"/>
          </p:cNvSpPr>
          <p:nvPr/>
        </p:nvSpPr>
        <p:spPr>
          <a:xfrm xmlns:a="http://schemas.openxmlformats.org/drawingml/2006/main">
            <a:off x="838200" y="514350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专业语义要求高</a:t>
            </a:r>
          </a:p>
        </p:txBody>
      </p:sp>
      <p:sp>
        <p:nvSpPr>
          <p:cNvPr id="29" name="">
            <a:extLst xmlns:a="http://schemas.openxmlformats.org/drawingml/2006/main">
              <a:ext uri="{FF2B5EF4-FFF2-40B4-BE49-F238E27FC236}">
                <a16:creationId xmlns:a16="http://schemas.microsoft.com/office/drawing/2014/main" id="{3630496C-1290-4B1E-9B69-79149990B2FF}"/>
              </a:ext>
            </a:extLst>
          </p:cNvPr>
          <p:cNvSpPr>
            <a:spLocks xmlns:a="http://schemas.openxmlformats.org/drawingml/2006/main" noGrp="1"/>
          </p:cNvSpPr>
          <p:nvPr/>
        </p:nvSpPr>
        <p:spPr>
          <a:xfrm xmlns:a="http://schemas.openxmlformats.org/drawingml/2006/main">
            <a:off x="838200" y="539115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需要区分发行人、控股股东、实际控制人、历史股东、关联方、董监高等不同主体和关系。</a:t>
            </a:r>
          </a:p>
        </p:txBody>
      </p:sp>
      <p:sp>
        <p:nvSpPr>
          <p:cNvPr id="30" name="">
            <a:extLst xmlns:a="http://schemas.openxmlformats.org/drawingml/2006/main">
              <a:ext uri="{FF2B5EF4-FFF2-40B4-BE49-F238E27FC236}">
                <a16:creationId xmlns:a16="http://schemas.microsoft.com/office/drawing/2014/main" id="{44C5A52C-22EB-47A5-9BF1-35A8AD1B822F}"/>
              </a:ext>
            </a:extLst>
          </p:cNvPr>
          <p:cNvSpPr>
            <a:spLocks xmlns:a="http://schemas.openxmlformats.org/drawingml/2006/main" noGrp="1"/>
          </p:cNvSpPr>
          <p:nvPr/>
        </p:nvSpPr>
        <p:spPr>
          <a:xfrm xmlns:a="http://schemas.openxmlformats.org/drawingml/2006/main">
            <a:off x="685800" y="5981700"/>
            <a:ext cx="6858000" cy="959358"/>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31" name="">
            <a:extLst xmlns:a="http://schemas.openxmlformats.org/drawingml/2006/main">
              <a:ext uri="{FF2B5EF4-FFF2-40B4-BE49-F238E27FC236}">
                <a16:creationId xmlns:a16="http://schemas.microsoft.com/office/drawing/2014/main" id="{2CB7E578-2B1B-4DC7-B702-3F3D60251397}"/>
              </a:ext>
            </a:extLst>
          </p:cNvPr>
          <p:cNvSpPr>
            <a:spLocks xmlns:a="http://schemas.openxmlformats.org/drawingml/2006/main" noGrp="1"/>
          </p:cNvSpPr>
          <p:nvPr/>
        </p:nvSpPr>
        <p:spPr>
          <a:xfrm xmlns:a="http://schemas.openxmlformats.org/drawingml/2006/main">
            <a:off x="838200" y="611505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AI 做法</a:t>
            </a:r>
          </a:p>
        </p:txBody>
      </p:sp>
      <p:sp>
        <p:nvSpPr>
          <p:cNvPr id="32" name="">
            <a:extLst xmlns:a="http://schemas.openxmlformats.org/drawingml/2006/main">
              <a:ext uri="{FF2B5EF4-FFF2-40B4-BE49-F238E27FC236}">
                <a16:creationId xmlns:a16="http://schemas.microsoft.com/office/drawing/2014/main" id="{FB19EC0B-733D-4927-9218-64AF7F581213}"/>
              </a:ext>
            </a:extLst>
          </p:cNvPr>
          <p:cNvSpPr>
            <a:spLocks xmlns:a="http://schemas.openxmlformats.org/drawingml/2006/main" noGrp="1"/>
          </p:cNvSpPr>
          <p:nvPr/>
        </p:nvSpPr>
        <p:spPr>
          <a:xfrm xmlns:a="http://schemas.openxmlformats.org/drawingml/2006/main">
            <a:off x="838200" y="6362700"/>
            <a:ext cx="6553200" cy="483108"/>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自动识别释义、发行人基本情况、股权结构、历史沿革等关键章节。</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自动解析正文和表格，提取股东名称、持股数量、持股比例、股东类型、履历信息等核心要素。</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自动生成结构化股权结构表、股东履历表和后续图谱构建输入。</a:t>
            </a:r>
          </a:p>
        </p:txBody>
      </p:sp>
    </p:spTree>
    <p:extLst>
      <p:ext uri="{BB962C8B-B14F-4D97-AF65-F5344CB8AC3E}">
        <p14:creationId xmlns:p14="http://schemas.microsoft.com/office/powerpoint/2010/main" val="577652304"/>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F8B108-BF69-4687-8013-5F0533F2512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127D2DA-BD4C-4034-BCED-FA174EF1D562}"/>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5431DA2-8E74-4C82-98A2-44807089358B}"/>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FF8A3D"/>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AE4787F-AD0D-4393-94C4-E8D79100C85B}"/>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实体漫游搜集</a:t>
            </a:r>
          </a:p>
        </p:txBody>
      </p:sp>
      <p:sp>
        <p:nvSpPr>
          <p:cNvPr id="5" name="">
            <a:extLst xmlns:a="http://schemas.openxmlformats.org/drawingml/2006/main">
              <a:ext uri="{FF2B5EF4-FFF2-40B4-BE49-F238E27FC236}">
                <a16:creationId xmlns:a16="http://schemas.microsoft.com/office/drawing/2014/main" id="{15EDC445-8A98-4943-AED2-7F670D1D9E69}"/>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2659DB4A-66AE-4FFE-94B2-6FD2AC121072}"/>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展示结构化数据库智能理解能力：AI 不仅能读文本，也能在数据库中自动发现实体分布和潜在关系。</a:t>
            </a:r>
          </a:p>
        </p:txBody>
      </p:sp>
      <p:sp>
        <p:nvSpPr>
          <p:cNvPr id="7" name="">
            <a:extLst xmlns:a="http://schemas.openxmlformats.org/drawingml/2006/main">
              <a:ext uri="{FF2B5EF4-FFF2-40B4-BE49-F238E27FC236}">
                <a16:creationId xmlns:a16="http://schemas.microsoft.com/office/drawing/2014/main" id="{AE13C077-3F6C-4B46-AB7F-D0F1F80772C0}"/>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2CBD1EEC-35CB-4FD7-AEF6-04BF944A2585}"/>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22</a:t>
            </a:r>
          </a:p>
        </p:txBody>
      </p:sp>
      <p:sp>
        <p:nvSpPr>
          <p:cNvPr id="9" name="">
            <a:extLst xmlns:a="http://schemas.openxmlformats.org/drawingml/2006/main">
              <a:ext uri="{FF2B5EF4-FFF2-40B4-BE49-F238E27FC236}">
                <a16:creationId xmlns:a16="http://schemas.microsoft.com/office/drawing/2014/main" id="{960AE494-62EA-4201-8D31-AA6453EB7EAD}"/>
              </a:ext>
            </a:extLst>
          </p:cNvPr>
          <p:cNvSpPr>
            <a:spLocks xmlns:a="http://schemas.openxmlformats.org/drawingml/2006/main" noGrp="1"/>
          </p:cNvSpPr>
          <p:nvPr/>
        </p:nvSpPr>
        <p:spPr>
          <a:xfrm xmlns:a="http://schemas.openxmlformats.org/drawingml/2006/main">
            <a:off x="7905750" y="2076450"/>
            <a:ext cx="3543300" cy="3714750"/>
          </a:xfrm>
          <a:prstGeom xmlns:a="http://schemas.openxmlformats.org/drawingml/2006/main" prst="rect">
            <a:avLst/>
          </a:prstGeom>
          <a:solidFill xmlns:a="http://schemas.openxmlformats.org/drawingml/2006/main">
            <a:srgbClr val="0D1B2A"/>
          </a:solidFill>
          <a:ln xmlns:a="http://schemas.openxmlformats.org/drawingml/2006/main" w="0">
            <a:solidFill>
              <a:srgbClr val="0D1B2A"/>
            </a:solidFill>
            <a:prstDash val="solid"/>
          </a:ln>
        </p:spPr>
      </p:sp>
      <p:sp>
        <p:nvSpPr>
          <p:cNvPr id="10" name="">
            <a:extLst xmlns:a="http://schemas.openxmlformats.org/drawingml/2006/main">
              <a:ext uri="{FF2B5EF4-FFF2-40B4-BE49-F238E27FC236}">
                <a16:creationId xmlns:a16="http://schemas.microsoft.com/office/drawing/2014/main" id="{A2CF05A0-16A0-4C45-98E3-4ED44CF33F0D}"/>
              </a:ext>
            </a:extLst>
          </p:cNvPr>
          <p:cNvSpPr>
            <a:spLocks xmlns:a="http://schemas.openxmlformats.org/drawingml/2006/main" noGrp="1"/>
          </p:cNvSpPr>
          <p:nvPr/>
        </p:nvSpPr>
        <p:spPr>
          <a:xfrm xmlns:a="http://schemas.openxmlformats.org/drawingml/2006/main">
            <a:off x="8172450" y="2266950"/>
            <a:ext cx="3009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p>
        </p:txBody>
      </p:sp>
      <p:sp>
        <p:nvSpPr>
          <p:cNvPr id="11" name="">
            <a:extLst xmlns:a="http://schemas.openxmlformats.org/drawingml/2006/main">
              <a:ext uri="{FF2B5EF4-FFF2-40B4-BE49-F238E27FC236}">
                <a16:creationId xmlns:a16="http://schemas.microsoft.com/office/drawing/2014/main" id="{7E550E1B-922C-43B3-9EAF-C2A162BF4D8F}"/>
              </a:ext>
            </a:extLst>
          </p:cNvPr>
          <p:cNvSpPr>
            <a:spLocks xmlns:a="http://schemas.openxmlformats.org/drawingml/2006/main" noGrp="1"/>
          </p:cNvSpPr>
          <p:nvPr/>
        </p:nvSpPr>
        <p:spPr>
          <a:xfrm xmlns:a="http://schemas.openxmlformats.org/drawingml/2006/main">
            <a:off x="8172450" y="2762250"/>
            <a:ext cx="2743200" cy="628650"/>
          </a:xfrm>
          <a:prstGeom xmlns:a="http://schemas.openxmlformats.org/drawingml/2006/main" prst="rect">
            <a:avLst/>
          </a:prstGeom>
          <a:ln xmlns:a="http://schemas.openxmlformats.org/drawingml/2006/main" w="9525">
            <a:prstDash val="solid"/>
          </a:ln>
        </p:spPr>
      </p:sp>
      <p:sp>
        <p:nvSpPr>
          <p:cNvPr id="12" name="">
            <a:extLst xmlns:a="http://schemas.openxmlformats.org/drawingml/2006/main">
              <a:ext uri="{FF2B5EF4-FFF2-40B4-BE49-F238E27FC236}">
                <a16:creationId xmlns:a16="http://schemas.microsoft.com/office/drawing/2014/main" id="{3E635576-D1D0-4B5A-9A06-A8C6D29D3FBF}"/>
              </a:ext>
            </a:extLst>
          </p:cNvPr>
          <p:cNvSpPr>
            <a:spLocks xmlns:a="http://schemas.openxmlformats.org/drawingml/2006/main" noGrp="1"/>
          </p:cNvSpPr>
          <p:nvPr/>
        </p:nvSpPr>
        <p:spPr>
          <a:xfrm xmlns:a="http://schemas.openxmlformats.org/drawingml/2006/main">
            <a:off x="8362950" y="29337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案例验证</a:t>
            </a:r>
          </a:p>
        </p:txBody>
      </p:sp>
      <p:sp>
        <p:nvSpPr>
          <p:cNvPr id="13" name="">
            <a:extLst xmlns:a="http://schemas.openxmlformats.org/drawingml/2006/main">
              <a:ext uri="{FF2B5EF4-FFF2-40B4-BE49-F238E27FC236}">
                <a16:creationId xmlns:a16="http://schemas.microsoft.com/office/drawing/2014/main" id="{E676BFC1-871C-483C-B19C-3941948636BC}"/>
              </a:ext>
            </a:extLst>
          </p:cNvPr>
          <p:cNvSpPr>
            <a:spLocks xmlns:a="http://schemas.openxmlformats.org/drawingml/2006/main" noGrp="1"/>
          </p:cNvSpPr>
          <p:nvPr/>
        </p:nvSpPr>
        <p:spPr>
          <a:xfrm xmlns:a="http://schemas.openxmlformats.org/drawingml/2006/main">
            <a:off x="8172450" y="3543300"/>
            <a:ext cx="2743200" cy="628650"/>
          </a:xfrm>
          <a:prstGeom xmlns:a="http://schemas.openxmlformats.org/drawingml/2006/main" prst="rect">
            <a:avLst/>
          </a:prstGeom>
          <a:ln xmlns:a="http://schemas.openxmlformats.org/drawingml/2006/main" w="9525">
            <a:prstDash val="solid"/>
          </a:ln>
        </p:spPr>
      </p:sp>
      <p:sp>
        <p:nvSpPr>
          <p:cNvPr id="14" name="">
            <a:extLst xmlns:a="http://schemas.openxmlformats.org/drawingml/2006/main">
              <a:ext uri="{FF2B5EF4-FFF2-40B4-BE49-F238E27FC236}">
                <a16:creationId xmlns:a16="http://schemas.microsoft.com/office/drawing/2014/main" id="{AC27581B-F03A-47F6-B848-C2C0657B285B}"/>
              </a:ext>
            </a:extLst>
          </p:cNvPr>
          <p:cNvSpPr>
            <a:spLocks xmlns:a="http://schemas.openxmlformats.org/drawingml/2006/main" noGrp="1"/>
          </p:cNvSpPr>
          <p:nvPr/>
        </p:nvSpPr>
        <p:spPr>
          <a:xfrm xmlns:a="http://schemas.openxmlformats.org/drawingml/2006/main">
            <a:off x="8362950" y="371475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作业闭环</a:t>
            </a:r>
          </a:p>
        </p:txBody>
      </p:sp>
      <p:sp>
        <p:nvSpPr>
          <p:cNvPr id="15" name="">
            <a:extLst xmlns:a="http://schemas.openxmlformats.org/drawingml/2006/main">
              <a:ext uri="{FF2B5EF4-FFF2-40B4-BE49-F238E27FC236}">
                <a16:creationId xmlns:a16="http://schemas.microsoft.com/office/drawing/2014/main" id="{A670F58D-7E33-49A7-9B64-D05B3314DD83}"/>
              </a:ext>
            </a:extLst>
          </p:cNvPr>
          <p:cNvSpPr>
            <a:spLocks xmlns:a="http://schemas.openxmlformats.org/drawingml/2006/main" noGrp="1"/>
          </p:cNvSpPr>
          <p:nvPr/>
        </p:nvSpPr>
        <p:spPr>
          <a:xfrm xmlns:a="http://schemas.openxmlformats.org/drawingml/2006/main">
            <a:off x="8172450" y="4324350"/>
            <a:ext cx="2743200" cy="628650"/>
          </a:xfrm>
          <a:prstGeom xmlns:a="http://schemas.openxmlformats.org/drawingml/2006/main" prst="rect">
            <a:avLst/>
          </a:prstGeom>
          <a:ln xmlns:a="http://schemas.openxmlformats.org/drawingml/2006/main" w="9525">
            <a:prstDash val="solid"/>
          </a:ln>
        </p:spPr>
      </p:sp>
      <p:sp>
        <p:nvSpPr>
          <p:cNvPr id="16" name="">
            <a:extLst xmlns:a="http://schemas.openxmlformats.org/drawingml/2006/main">
              <a:ext uri="{FF2B5EF4-FFF2-40B4-BE49-F238E27FC236}">
                <a16:creationId xmlns:a16="http://schemas.microsoft.com/office/drawing/2014/main" id="{FC836CC3-3203-4B34-9A68-29A353230390}"/>
              </a:ext>
            </a:extLst>
          </p:cNvPr>
          <p:cNvSpPr>
            <a:spLocks xmlns:a="http://schemas.openxmlformats.org/drawingml/2006/main" noGrp="1"/>
          </p:cNvSpPr>
          <p:nvPr/>
        </p:nvSpPr>
        <p:spPr>
          <a:xfrm xmlns:a="http://schemas.openxmlformats.org/drawingml/2006/main">
            <a:off x="8362950" y="44958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可复核</a:t>
            </a:r>
          </a:p>
        </p:txBody>
      </p:sp>
      <p:sp>
        <p:nvSpPr>
          <p:cNvPr id="17" name="">
            <a:extLst xmlns:a="http://schemas.openxmlformats.org/drawingml/2006/main">
              <a:ext uri="{FF2B5EF4-FFF2-40B4-BE49-F238E27FC236}">
                <a16:creationId xmlns:a16="http://schemas.microsoft.com/office/drawing/2014/main" id="{CC6D91BE-A66D-4BBF-B90D-E11283FFCBD5}"/>
              </a:ext>
            </a:extLst>
          </p:cNvPr>
          <p:cNvSpPr>
            <a:spLocks xmlns:a="http://schemas.openxmlformats.org/drawingml/2006/main" noGrp="1"/>
          </p:cNvSpPr>
          <p:nvPr/>
        </p:nvSpPr>
        <p:spPr>
          <a:xfrm xmlns:a="http://schemas.openxmlformats.org/drawingml/2006/main">
            <a:off x="8172450" y="5295900"/>
            <a:ext cx="2971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p>
        </p:txBody>
      </p:sp>
      <p:sp>
        <p:nvSpPr>
          <p:cNvPr id="18" name="">
            <a:extLst xmlns:a="http://schemas.openxmlformats.org/drawingml/2006/main">
              <a:ext uri="{FF2B5EF4-FFF2-40B4-BE49-F238E27FC236}">
                <a16:creationId xmlns:a16="http://schemas.microsoft.com/office/drawing/2014/main" id="{F896D64B-397A-4C9F-A595-56F5255D2140}"/>
              </a:ext>
            </a:extLst>
          </p:cNvPr>
          <p:cNvSpPr>
            <a:spLocks xmlns:a="http://schemas.openxmlformats.org/drawingml/2006/main" noGrp="1"/>
          </p:cNvSpPr>
          <p:nvPr/>
        </p:nvSpPr>
        <p:spPr>
          <a:xfrm xmlns:a="http://schemas.openxmlformats.org/drawingml/2006/main">
            <a:off x="685800" y="20955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CD8B9B7E-05FB-4110-8929-EE20AB22F8E5}"/>
              </a:ext>
            </a:extLst>
          </p:cNvPr>
          <p:cNvSpPr>
            <a:spLocks xmlns:a="http://schemas.openxmlformats.org/drawingml/2006/main" noGrp="1"/>
          </p:cNvSpPr>
          <p:nvPr/>
        </p:nvSpPr>
        <p:spPr>
          <a:xfrm xmlns:a="http://schemas.openxmlformats.org/drawingml/2006/main">
            <a:off x="838200" y="222885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传统问题</a:t>
            </a:r>
          </a:p>
        </p:txBody>
      </p:sp>
      <p:sp>
        <p:nvSpPr>
          <p:cNvPr id="20" name="">
            <a:extLst xmlns:a="http://schemas.openxmlformats.org/drawingml/2006/main">
              <a:ext uri="{FF2B5EF4-FFF2-40B4-BE49-F238E27FC236}">
                <a16:creationId xmlns:a16="http://schemas.microsoft.com/office/drawing/2014/main" id="{ACA503D7-76F7-46B0-A639-FBA19045E1D5}"/>
              </a:ext>
            </a:extLst>
          </p:cNvPr>
          <p:cNvSpPr>
            <a:spLocks xmlns:a="http://schemas.openxmlformats.org/drawingml/2006/main" noGrp="1"/>
          </p:cNvSpPr>
          <p:nvPr/>
        </p:nvSpPr>
        <p:spPr>
          <a:xfrm xmlns:a="http://schemas.openxmlformats.org/drawingml/2006/main">
            <a:off x="838200" y="247650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实体分布不清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同一类实体可能出现在不同系统、不同库、不同表和不同字段中，人工很难快速掌握全貌。</a:t>
            </a:r>
          </a:p>
        </p:txBody>
      </p:sp>
      <p:sp>
        <p:nvSpPr>
          <p:cNvPr id="21" name="">
            <a:extLst xmlns:a="http://schemas.openxmlformats.org/drawingml/2006/main">
              <a:ext uri="{FF2B5EF4-FFF2-40B4-BE49-F238E27FC236}">
                <a16:creationId xmlns:a16="http://schemas.microsoft.com/office/drawing/2014/main" id="{0E2DBB9F-3F31-47CA-888A-FF12E32F9A09}"/>
              </a:ext>
            </a:extLst>
          </p:cNvPr>
          <p:cNvSpPr>
            <a:spLocks xmlns:a="http://schemas.openxmlformats.org/drawingml/2006/main" noGrp="1"/>
          </p:cNvSpPr>
          <p:nvPr/>
        </p:nvSpPr>
        <p:spPr>
          <a:xfrm xmlns:a="http://schemas.openxmlformats.org/drawingml/2006/main">
            <a:off x="685800" y="3067050"/>
            <a:ext cx="6858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630EB843-87CA-4C83-AE19-657E6B1F40A7}"/>
              </a:ext>
            </a:extLst>
          </p:cNvPr>
          <p:cNvSpPr>
            <a:spLocks xmlns:a="http://schemas.openxmlformats.org/drawingml/2006/main" noGrp="1"/>
          </p:cNvSpPr>
          <p:nvPr/>
        </p:nvSpPr>
        <p:spPr>
          <a:xfrm xmlns:a="http://schemas.openxmlformats.org/drawingml/2006/main">
            <a:off x="838200" y="320040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字段含义不明</a:t>
            </a:r>
          </a:p>
        </p:txBody>
      </p:sp>
      <p:sp>
        <p:nvSpPr>
          <p:cNvPr id="23" name="">
            <a:extLst xmlns:a="http://schemas.openxmlformats.org/drawingml/2006/main">
              <a:ext uri="{FF2B5EF4-FFF2-40B4-BE49-F238E27FC236}">
                <a16:creationId xmlns:a16="http://schemas.microsoft.com/office/drawing/2014/main" id="{CFAFE4B1-2AB4-423F-A50A-293517E2EEE5}"/>
              </a:ext>
            </a:extLst>
          </p:cNvPr>
          <p:cNvSpPr>
            <a:spLocks xmlns:a="http://schemas.openxmlformats.org/drawingml/2006/main" noGrp="1"/>
          </p:cNvSpPr>
          <p:nvPr/>
        </p:nvSpPr>
        <p:spPr>
          <a:xfrm xmlns:a="http://schemas.openxmlformats.org/drawingml/2006/main">
            <a:off x="838200" y="344805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大量字段缺少清晰注释，仅凭字段名难以判断其业务含义和审计价值。</a:t>
            </a:r>
          </a:p>
        </p:txBody>
      </p:sp>
      <p:sp>
        <p:nvSpPr>
          <p:cNvPr id="24" name="">
            <a:extLst xmlns:a="http://schemas.openxmlformats.org/drawingml/2006/main">
              <a:ext uri="{FF2B5EF4-FFF2-40B4-BE49-F238E27FC236}">
                <a16:creationId xmlns:a16="http://schemas.microsoft.com/office/drawing/2014/main" id="{42E5581C-EE91-45C7-BC80-1C03F45B7A81}"/>
              </a:ext>
            </a:extLst>
          </p:cNvPr>
          <p:cNvSpPr>
            <a:spLocks xmlns:a="http://schemas.openxmlformats.org/drawingml/2006/main" noGrp="1"/>
          </p:cNvSpPr>
          <p:nvPr/>
        </p:nvSpPr>
        <p:spPr>
          <a:xfrm xmlns:a="http://schemas.openxmlformats.org/drawingml/2006/main">
            <a:off x="685800" y="40386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538CB72A-4F16-4128-A3D2-66FBF41F5DB1}"/>
              </a:ext>
            </a:extLst>
          </p:cNvPr>
          <p:cNvSpPr>
            <a:spLocks xmlns:a="http://schemas.openxmlformats.org/drawingml/2006/main" noGrp="1"/>
          </p:cNvSpPr>
          <p:nvPr/>
        </p:nvSpPr>
        <p:spPr>
          <a:xfrm xmlns:a="http://schemas.openxmlformats.org/drawingml/2006/main">
            <a:off x="838200" y="417195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多表关系难发现</a:t>
            </a:r>
          </a:p>
        </p:txBody>
      </p:sp>
      <p:sp>
        <p:nvSpPr>
          <p:cNvPr id="26" name="">
            <a:extLst xmlns:a="http://schemas.openxmlformats.org/drawingml/2006/main">
              <a:ext uri="{FF2B5EF4-FFF2-40B4-BE49-F238E27FC236}">
                <a16:creationId xmlns:a16="http://schemas.microsoft.com/office/drawing/2014/main" id="{A8B57327-D783-4595-A8C1-56D69D82F171}"/>
              </a:ext>
            </a:extLst>
          </p:cNvPr>
          <p:cNvSpPr>
            <a:spLocks xmlns:a="http://schemas.openxmlformats.org/drawingml/2006/main" noGrp="1"/>
          </p:cNvSpPr>
          <p:nvPr/>
        </p:nvSpPr>
        <p:spPr>
          <a:xfrm xmlns:a="http://schemas.openxmlformats.org/drawingml/2006/main">
            <a:off x="838200" y="441960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缺乏统一的实体关联视图，人工难以发现多表之间的深层逻辑联系。</a:t>
            </a:r>
          </a:p>
        </p:txBody>
      </p:sp>
      <p:sp>
        <p:nvSpPr>
          <p:cNvPr id="27" name="">
            <a:extLst xmlns:a="http://schemas.openxmlformats.org/drawingml/2006/main">
              <a:ext uri="{FF2B5EF4-FFF2-40B4-BE49-F238E27FC236}">
                <a16:creationId xmlns:a16="http://schemas.microsoft.com/office/drawing/2014/main" id="{A195E613-16CD-4B4E-92D3-0CF1246E962D}"/>
              </a:ext>
            </a:extLst>
          </p:cNvPr>
          <p:cNvSpPr>
            <a:spLocks xmlns:a="http://schemas.openxmlformats.org/drawingml/2006/main" noGrp="1"/>
          </p:cNvSpPr>
          <p:nvPr/>
        </p:nvSpPr>
        <p:spPr>
          <a:xfrm xmlns:a="http://schemas.openxmlformats.org/drawingml/2006/main">
            <a:off x="685800" y="5010150"/>
            <a:ext cx="6858000" cy="102089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8" name="">
            <a:extLst xmlns:a="http://schemas.openxmlformats.org/drawingml/2006/main">
              <a:ext uri="{FF2B5EF4-FFF2-40B4-BE49-F238E27FC236}">
                <a16:creationId xmlns:a16="http://schemas.microsoft.com/office/drawing/2014/main" id="{492BAD62-2E3C-4904-80EF-D5E7831803C8}"/>
              </a:ext>
            </a:extLst>
          </p:cNvPr>
          <p:cNvSpPr>
            <a:spLocks xmlns:a="http://schemas.openxmlformats.org/drawingml/2006/main" noGrp="1"/>
          </p:cNvSpPr>
          <p:nvPr/>
        </p:nvSpPr>
        <p:spPr>
          <a:xfrm xmlns:a="http://schemas.openxmlformats.org/drawingml/2006/main">
            <a:off x="838200" y="514350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AI 做法</a:t>
            </a:r>
          </a:p>
        </p:txBody>
      </p:sp>
      <p:sp>
        <p:nvSpPr>
          <p:cNvPr id="29" name="">
            <a:extLst xmlns:a="http://schemas.openxmlformats.org/drawingml/2006/main">
              <a:ext uri="{FF2B5EF4-FFF2-40B4-BE49-F238E27FC236}">
                <a16:creationId xmlns:a16="http://schemas.microsoft.com/office/drawing/2014/main" id="{63AFDFB8-D89A-4917-B3EA-BC47BD05DA65}"/>
              </a:ext>
            </a:extLst>
          </p:cNvPr>
          <p:cNvSpPr>
            <a:spLocks xmlns:a="http://schemas.openxmlformats.org/drawingml/2006/main" noGrp="1"/>
          </p:cNvSpPr>
          <p:nvPr/>
        </p:nvSpPr>
        <p:spPr>
          <a:xfrm xmlns:a="http://schemas.openxmlformats.org/drawingml/2006/main">
            <a:off x="838200" y="5391150"/>
            <a:ext cx="6553200" cy="54464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自动探查并汇总实体在各系统、各表中的分布情况和出现频次。</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自动推断字段含义并生成单表业务摘要。</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识别身份证号、手机号、银行卡号、统一社会信用代码等重点实体。</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挖掘多表之间的潜在关联关系。</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生成对应 SQL 作为审计取证和后续复核依据。</a:t>
            </a:r>
          </a:p>
        </p:txBody>
      </p:sp>
      <p:sp>
        <p:nvSpPr>
          <p:cNvPr id="30" name="">
            <a:extLst xmlns:a="http://schemas.openxmlformats.org/drawingml/2006/main">
              <a:ext uri="{FF2B5EF4-FFF2-40B4-BE49-F238E27FC236}">
                <a16:creationId xmlns:a16="http://schemas.microsoft.com/office/drawing/2014/main" id="{2E2531A3-9937-42FF-97D6-8738E8E30BDF}"/>
              </a:ext>
            </a:extLst>
          </p:cNvPr>
          <p:cNvSpPr>
            <a:spLocks xmlns:a="http://schemas.openxmlformats.org/drawingml/2006/main" noGrp="1"/>
          </p:cNvSpPr>
          <p:nvPr/>
        </p:nvSpPr>
        <p:spPr>
          <a:xfrm xmlns:a="http://schemas.openxmlformats.org/drawingml/2006/main">
            <a:off x="685800" y="614534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31" name="">
            <a:extLst xmlns:a="http://schemas.openxmlformats.org/drawingml/2006/main">
              <a:ext uri="{FF2B5EF4-FFF2-40B4-BE49-F238E27FC236}">
                <a16:creationId xmlns:a16="http://schemas.microsoft.com/office/drawing/2014/main" id="{91B0D215-0745-41EE-8B90-1951403F1EA3}"/>
              </a:ext>
            </a:extLst>
          </p:cNvPr>
          <p:cNvSpPr>
            <a:spLocks xmlns:a="http://schemas.openxmlformats.org/drawingml/2006/main" noGrp="1"/>
          </p:cNvSpPr>
          <p:nvPr/>
        </p:nvSpPr>
        <p:spPr>
          <a:xfrm xmlns:a="http://schemas.openxmlformats.org/drawingml/2006/main">
            <a:off x="838200" y="627869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核心价值</a:t>
            </a:r>
          </a:p>
        </p:txBody>
      </p:sp>
      <p:sp>
        <p:nvSpPr>
          <p:cNvPr id="32" name="">
            <a:extLst xmlns:a="http://schemas.openxmlformats.org/drawingml/2006/main">
              <a:ext uri="{FF2B5EF4-FFF2-40B4-BE49-F238E27FC236}">
                <a16:creationId xmlns:a16="http://schemas.microsoft.com/office/drawing/2014/main" id="{14F410BE-A82C-4436-8353-76A9D6C6E405}"/>
              </a:ext>
            </a:extLst>
          </p:cNvPr>
          <p:cNvSpPr>
            <a:spLocks xmlns:a="http://schemas.openxmlformats.org/drawingml/2006/main" noGrp="1"/>
          </p:cNvSpPr>
          <p:nvPr/>
        </p:nvSpPr>
        <p:spPr>
          <a:xfrm xmlns:a="http://schemas.openxmlformats.org/drawingml/2006/main">
            <a:off x="838200" y="652634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把分散在数据库中的实体信息转化为可追踪、可关联、可用于后续图谱构建的数据基础。</a:t>
            </a:r>
          </a:p>
        </p:txBody>
      </p:sp>
    </p:spTree>
    <p:extLst>
      <p:ext uri="{BB962C8B-B14F-4D97-AF65-F5344CB8AC3E}">
        <p14:creationId xmlns:p14="http://schemas.microsoft.com/office/powerpoint/2010/main" val="176255151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507EC52-A94C-4DBE-80FB-A9074AC1532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D6A44B5-CD52-4793-AB3A-4C7B838B6C3D}"/>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2C5DC1C-B708-4312-9AF0-604EF6FDD83B}"/>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83D4239-3A5D-4C2E-9DC6-A10307EF0AAA}"/>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数据图谱平台：关系建模与线索挖掘</a:t>
            </a:r>
          </a:p>
        </p:txBody>
      </p:sp>
      <p:sp>
        <p:nvSpPr>
          <p:cNvPr id="5" name="">
            <a:extLst xmlns:a="http://schemas.openxmlformats.org/drawingml/2006/main">
              <a:ext uri="{FF2B5EF4-FFF2-40B4-BE49-F238E27FC236}">
                <a16:creationId xmlns:a16="http://schemas.microsoft.com/office/drawing/2014/main" id="{A09167F4-49A8-4EBC-9429-8F8193F99D4A}"/>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B8E83ADB-27A1-47BA-BCF2-5B48DFCFCEA8}"/>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将图谱平台定义为“关系计算基础设施”，而不是简单可视化页面。</a:t>
            </a:r>
          </a:p>
        </p:txBody>
      </p:sp>
      <p:sp>
        <p:nvSpPr>
          <p:cNvPr id="7" name="">
            <a:extLst xmlns:a="http://schemas.openxmlformats.org/drawingml/2006/main">
              <a:ext uri="{FF2B5EF4-FFF2-40B4-BE49-F238E27FC236}">
                <a16:creationId xmlns:a16="http://schemas.microsoft.com/office/drawing/2014/main" id="{BDB92CF6-2C29-43EA-B205-D50AC7E46C77}"/>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693EF62A-22DB-42E8-A00C-0E140ECA4837}"/>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23</a:t>
            </a:r>
          </a:p>
        </p:txBody>
      </p:sp>
      <p:sp>
        <p:nvSpPr>
          <p:cNvPr id="9" name="">
            <a:extLst xmlns:a="http://schemas.openxmlformats.org/drawingml/2006/main">
              <a:ext uri="{FF2B5EF4-FFF2-40B4-BE49-F238E27FC236}">
                <a16:creationId xmlns:a16="http://schemas.microsoft.com/office/drawing/2014/main" id="{A8B040D4-1735-4F3B-913F-256693B19799}"/>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29F1AAD5-EFA3-44DB-9DBF-0CA33C4D74E2}"/>
              </a:ext>
            </a:extLst>
          </p:cNvPr>
          <p:cNvSpPr>
            <a:spLocks xmlns:a="http://schemas.openxmlformats.org/drawingml/2006/main" noGrp="1"/>
          </p:cNvSpPr>
          <p:nvPr/>
        </p:nvSpPr>
        <p:spPr>
          <a:xfrm xmlns:a="http://schemas.openxmlformats.org/drawingml/2006/main">
            <a:off x="8382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数据图谱平台：构建审计实体全息穿透网络</a:t>
            </a:r>
          </a:p>
        </p:txBody>
      </p:sp>
      <p:sp>
        <p:nvSpPr>
          <p:cNvPr id="11" name="">
            <a:extLst xmlns:a="http://schemas.openxmlformats.org/drawingml/2006/main">
              <a:ext uri="{FF2B5EF4-FFF2-40B4-BE49-F238E27FC236}">
                <a16:creationId xmlns:a16="http://schemas.microsoft.com/office/drawing/2014/main" id="{61A673CF-DA12-4EC2-8A36-2C551BF5AF1B}"/>
              </a:ext>
            </a:extLst>
          </p:cNvPr>
          <p:cNvSpPr>
            <a:spLocks xmlns:a="http://schemas.openxmlformats.org/drawingml/2006/main" noGrp="1"/>
          </p:cNvSpPr>
          <p:nvPr/>
        </p:nvSpPr>
        <p:spPr>
          <a:xfrm xmlns:a="http://schemas.openxmlformats.org/drawingml/2006/main">
            <a:off x="8382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审计线索往往不在单张表、单份资料或单个系统中，而隐藏在人、企业、单位、项目、资金、票据等对象之间的多跳关系中。</a:t>
            </a:r>
          </a:p>
        </p:txBody>
      </p:sp>
      <p:sp>
        <p:nvSpPr>
          <p:cNvPr id="12" name="">
            <a:extLst xmlns:a="http://schemas.openxmlformats.org/drawingml/2006/main">
              <a:ext uri="{FF2B5EF4-FFF2-40B4-BE49-F238E27FC236}">
                <a16:creationId xmlns:a16="http://schemas.microsoft.com/office/drawing/2014/main" id="{644F2761-A732-454E-833F-57C901F4DBFB}"/>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3" name="">
            <a:extLst xmlns:a="http://schemas.openxmlformats.org/drawingml/2006/main">
              <a:ext uri="{FF2B5EF4-FFF2-40B4-BE49-F238E27FC236}">
                <a16:creationId xmlns:a16="http://schemas.microsoft.com/office/drawing/2014/main" id="{BBBA6434-BDE6-4602-A32D-F4F91A33F976}"/>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从“孤立点查”走向“全息网查”</a:t>
            </a:r>
          </a:p>
        </p:txBody>
      </p:sp>
      <p:sp>
        <p:nvSpPr>
          <p:cNvPr id="14" name="">
            <a:extLst xmlns:a="http://schemas.openxmlformats.org/drawingml/2006/main">
              <a:ext uri="{FF2B5EF4-FFF2-40B4-BE49-F238E27FC236}">
                <a16:creationId xmlns:a16="http://schemas.microsoft.com/office/drawing/2014/main" id="{C85E40FF-A86C-4038-A548-48AE807A319B}"/>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本体建模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通过本体建模，将人员、企业、行政事业单位、项目、资金、合同、发票等对象定义为可计算实体。</a:t>
            </a:r>
          </a:p>
        </p:txBody>
      </p:sp>
      <p:sp>
        <p:nvSpPr>
          <p:cNvPr id="15" name="">
            <a:extLst xmlns:a="http://schemas.openxmlformats.org/drawingml/2006/main">
              <a:ext uri="{FF2B5EF4-FFF2-40B4-BE49-F238E27FC236}">
                <a16:creationId xmlns:a16="http://schemas.microsoft.com/office/drawing/2014/main" id="{5030C079-FCFC-48EE-91D5-058DE9B63312}"/>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6" name="">
            <a:extLst xmlns:a="http://schemas.openxmlformats.org/drawingml/2006/main">
              <a:ext uri="{FF2B5EF4-FFF2-40B4-BE49-F238E27FC236}">
                <a16:creationId xmlns:a16="http://schemas.microsoft.com/office/drawing/2014/main" id="{F3077BB0-A941-40DB-8130-06DA2B7FC312}"/>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多源映射</a:t>
            </a:r>
          </a:p>
        </p:txBody>
      </p:sp>
      <p:sp>
        <p:nvSpPr>
          <p:cNvPr id="17" name="">
            <a:extLst xmlns:a="http://schemas.openxmlformats.org/drawingml/2006/main">
              <a:ext uri="{FF2B5EF4-FFF2-40B4-BE49-F238E27FC236}">
                <a16:creationId xmlns:a16="http://schemas.microsoft.com/office/drawing/2014/main" id="{794D90C3-DEC1-4F47-8602-82D6B4F9C5D5}"/>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通过数据库、治理结果、文档抽取结果和外部数据源映射，将实体和关系持续写入图谱。</a:t>
            </a:r>
          </a:p>
        </p:txBody>
      </p:sp>
      <p:sp>
        <p:nvSpPr>
          <p:cNvPr id="18" name="">
            <a:extLst xmlns:a="http://schemas.openxmlformats.org/drawingml/2006/main">
              <a:ext uri="{FF2B5EF4-FFF2-40B4-BE49-F238E27FC236}">
                <a16:creationId xmlns:a16="http://schemas.microsoft.com/office/drawing/2014/main" id="{26BC3448-14D2-4CFF-A960-3700CFFBCB28}"/>
              </a:ext>
            </a:extLst>
          </p:cNvPr>
          <p:cNvSpPr>
            <a:spLocks xmlns:a="http://schemas.openxmlformats.org/drawingml/2006/main" noGrp="1"/>
          </p:cNvSpPr>
          <p:nvPr/>
        </p:nvSpPr>
        <p:spPr>
          <a:xfrm xmlns:a="http://schemas.openxmlformats.org/drawingml/2006/main">
            <a:off x="6858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DC74BE31-86BC-4CA3-9F3D-FB4C8248B782}"/>
              </a:ext>
            </a:extLst>
          </p:cNvPr>
          <p:cNvSpPr>
            <a:spLocks xmlns:a="http://schemas.openxmlformats.org/drawingml/2006/main" noGrp="1"/>
          </p:cNvSpPr>
          <p:nvPr/>
        </p:nvSpPr>
        <p:spPr>
          <a:xfrm xmlns:a="http://schemas.openxmlformats.org/drawingml/2006/main">
            <a:off x="8382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关系穿透</a:t>
            </a:r>
          </a:p>
        </p:txBody>
      </p:sp>
      <p:sp>
        <p:nvSpPr>
          <p:cNvPr id="20" name="">
            <a:extLst xmlns:a="http://schemas.openxmlformats.org/drawingml/2006/main">
              <a:ext uri="{FF2B5EF4-FFF2-40B4-BE49-F238E27FC236}">
                <a16:creationId xmlns:a16="http://schemas.microsoft.com/office/drawing/2014/main" id="{5E760521-65BC-4A80-878A-9AF2BFA7DFD4}"/>
              </a:ext>
            </a:extLst>
          </p:cNvPr>
          <p:cNvSpPr>
            <a:spLocks xmlns:a="http://schemas.openxmlformats.org/drawingml/2006/main" noGrp="1"/>
          </p:cNvSpPr>
          <p:nvPr/>
        </p:nvSpPr>
        <p:spPr>
          <a:xfrm xmlns:a="http://schemas.openxmlformats.org/drawingml/2006/main">
            <a:off x="8382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围绕股权关系、任职关系、业务往来、资金往来、项目关联、票据链路等关系进行多跳穿透。</a:t>
            </a:r>
          </a:p>
        </p:txBody>
      </p:sp>
      <p:sp>
        <p:nvSpPr>
          <p:cNvPr id="21" name="">
            <a:extLst xmlns:a="http://schemas.openxmlformats.org/drawingml/2006/main">
              <a:ext uri="{FF2B5EF4-FFF2-40B4-BE49-F238E27FC236}">
                <a16:creationId xmlns:a16="http://schemas.microsoft.com/office/drawing/2014/main" id="{088E7D01-29D7-4BA1-A947-1B1B002AFE00}"/>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9EBFBC98-6468-47CE-AD7E-DA525AB81971}"/>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图上分析</a:t>
            </a:r>
          </a:p>
        </p:txBody>
      </p:sp>
      <p:sp>
        <p:nvSpPr>
          <p:cNvPr id="23" name="">
            <a:extLst xmlns:a="http://schemas.openxmlformats.org/drawingml/2006/main">
              <a:ext uri="{FF2B5EF4-FFF2-40B4-BE49-F238E27FC236}">
                <a16:creationId xmlns:a16="http://schemas.microsoft.com/office/drawing/2014/main" id="{9AC9F933-C8AB-4E5B-A0A9-6D8880941DA0}"/>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通过路径分析、最短路径、环检测、邻居高亮、社区布局等方式识别复杂关联结构。</a:t>
            </a:r>
          </a:p>
        </p:txBody>
      </p:sp>
      <p:sp>
        <p:nvSpPr>
          <p:cNvPr id="24" name="">
            <a:extLst xmlns:a="http://schemas.openxmlformats.org/drawingml/2006/main">
              <a:ext uri="{FF2B5EF4-FFF2-40B4-BE49-F238E27FC236}">
                <a16:creationId xmlns:a16="http://schemas.microsoft.com/office/drawing/2014/main" id="{67F385CC-7C7D-4545-8039-BB2DD5F6174F}"/>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E40E7677-28C6-4899-BABA-B8E11173D0A2}"/>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AI 推理</a:t>
            </a:r>
          </a:p>
        </p:txBody>
      </p:sp>
      <p:sp>
        <p:nvSpPr>
          <p:cNvPr id="26" name="">
            <a:extLst xmlns:a="http://schemas.openxmlformats.org/drawingml/2006/main">
              <a:ext uri="{FF2B5EF4-FFF2-40B4-BE49-F238E27FC236}">
                <a16:creationId xmlns:a16="http://schemas.microsoft.com/office/drawing/2014/main" id="{10F703B2-3700-4DC0-B726-F7C63A3D8A38}"/>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基于大模型问图、关系语义定义和推理模板，发现图谱中未显式存在的隐含关系。</a:t>
            </a:r>
          </a:p>
        </p:txBody>
      </p:sp>
      <p:sp>
        <p:nvSpPr>
          <p:cNvPr id="27" name="">
            <a:extLst xmlns:a="http://schemas.openxmlformats.org/drawingml/2006/main">
              <a:ext uri="{FF2B5EF4-FFF2-40B4-BE49-F238E27FC236}">
                <a16:creationId xmlns:a16="http://schemas.microsoft.com/office/drawing/2014/main" id="{D9E3CDA4-1976-4D0B-A964-3C3259D57DB7}"/>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8" name="">
            <a:extLst xmlns:a="http://schemas.openxmlformats.org/drawingml/2006/main">
              <a:ext uri="{FF2B5EF4-FFF2-40B4-BE49-F238E27FC236}">
                <a16:creationId xmlns:a16="http://schemas.microsoft.com/office/drawing/2014/main" id="{55E68E16-6711-442D-9195-AC5E79FC712A}"/>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场景落地</a:t>
            </a:r>
          </a:p>
        </p:txBody>
      </p:sp>
      <p:sp>
        <p:nvSpPr>
          <p:cNvPr id="29" name="">
            <a:extLst xmlns:a="http://schemas.openxmlformats.org/drawingml/2006/main">
              <a:ext uri="{FF2B5EF4-FFF2-40B4-BE49-F238E27FC236}">
                <a16:creationId xmlns:a16="http://schemas.microsoft.com/office/drawing/2014/main" id="{F54DE756-B397-4580-8B0E-524C17A48E0C}"/>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审计人企机关全息图谱构建</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隐含关系深度计算与发现</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工程项目供应链关系贯通</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资金回路、关联交易和利益共同体识别</a:t>
            </a:r>
          </a:p>
        </p:txBody>
      </p:sp>
      <p:sp>
        <p:nvSpPr>
          <p:cNvPr id="30" name="">
            <a:extLst xmlns:a="http://schemas.openxmlformats.org/drawingml/2006/main">
              <a:ext uri="{FF2B5EF4-FFF2-40B4-BE49-F238E27FC236}">
                <a16:creationId xmlns:a16="http://schemas.microsoft.com/office/drawing/2014/main" id="{38A49BE6-9D92-469A-A810-1D454BFE7AC8}"/>
              </a:ext>
            </a:extLst>
          </p:cNvPr>
          <p:cNvSpPr>
            <a:spLocks xmlns:a="http://schemas.openxmlformats.org/drawingml/2006/main" noGrp="1"/>
          </p:cNvSpPr>
          <p:nvPr/>
        </p:nvSpPr>
        <p:spPr>
          <a:xfrm xmlns:a="http://schemas.openxmlformats.org/drawingml/2006/main">
            <a:off x="62865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31" name="">
            <a:extLst xmlns:a="http://schemas.openxmlformats.org/drawingml/2006/main">
              <a:ext uri="{FF2B5EF4-FFF2-40B4-BE49-F238E27FC236}">
                <a16:creationId xmlns:a16="http://schemas.microsoft.com/office/drawing/2014/main" id="{6FC45DE7-AF86-4703-9ECB-A9FAF7ACAEB3}"/>
              </a:ext>
            </a:extLst>
          </p:cNvPr>
          <p:cNvSpPr>
            <a:spLocks xmlns:a="http://schemas.openxmlformats.org/drawingml/2006/main" noGrp="1"/>
          </p:cNvSpPr>
          <p:nvPr/>
        </p:nvSpPr>
        <p:spPr>
          <a:xfrm xmlns:a="http://schemas.openxmlformats.org/drawingml/2006/main">
            <a:off x="64389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一句话表达：</a:t>
            </a:r>
          </a:p>
        </p:txBody>
      </p:sp>
      <p:sp>
        <p:nvSpPr>
          <p:cNvPr id="32" name="">
            <a:extLst xmlns:a="http://schemas.openxmlformats.org/drawingml/2006/main">
              <a:ext uri="{FF2B5EF4-FFF2-40B4-BE49-F238E27FC236}">
                <a16:creationId xmlns:a16="http://schemas.microsoft.com/office/drawing/2014/main" id="{5A64134C-390C-468B-B08A-30422464C2D2}"/>
              </a:ext>
            </a:extLst>
          </p:cNvPr>
          <p:cNvSpPr>
            <a:spLocks xmlns:a="http://schemas.openxmlformats.org/drawingml/2006/main" noGrp="1"/>
          </p:cNvSpPr>
          <p:nvPr/>
        </p:nvSpPr>
        <p:spPr>
          <a:xfrm xmlns:a="http://schemas.openxmlformats.org/drawingml/2006/main">
            <a:off x="64389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图谱平台不是把数据画成图，而是把审计对象组织成可穿透、可计算、可推理、可复核的关系网络。</a:t>
            </a:r>
          </a:p>
        </p:txBody>
      </p:sp>
    </p:spTree>
    <p:extLst>
      <p:ext uri="{BB962C8B-B14F-4D97-AF65-F5344CB8AC3E}">
        <p14:creationId xmlns:p14="http://schemas.microsoft.com/office/powerpoint/2010/main" val="160377860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F1DCC2-0B87-4DAB-8C5B-D3E086AC1B4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9B6D5BB-CFF5-4740-91A0-C6E3F3C492A7}"/>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2EBC53E-0722-468C-877A-29E7321C18BD}"/>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18385DA-B125-4B03-83D3-D9AE4264680D}"/>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图谱基础管理与构建</a:t>
            </a:r>
          </a:p>
        </p:txBody>
      </p:sp>
      <p:sp>
        <p:nvSpPr>
          <p:cNvPr id="5" name="">
            <a:extLst xmlns:a="http://schemas.openxmlformats.org/drawingml/2006/main">
              <a:ext uri="{FF2B5EF4-FFF2-40B4-BE49-F238E27FC236}">
                <a16:creationId xmlns:a16="http://schemas.microsoft.com/office/drawing/2014/main" id="{2734F2F2-6699-4688-B5F8-AE5926DFD351}"/>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A90A09F5-1C60-45BF-AD99-A2D30FF0F4F1}"/>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证明图谱平台具备从本体设计、多源入图、权限隔离到数据溯源的完整工程化构建能力。</a:t>
            </a:r>
          </a:p>
        </p:txBody>
      </p:sp>
      <p:sp>
        <p:nvSpPr>
          <p:cNvPr id="7" name="">
            <a:extLst xmlns:a="http://schemas.openxmlformats.org/drawingml/2006/main">
              <a:ext uri="{FF2B5EF4-FFF2-40B4-BE49-F238E27FC236}">
                <a16:creationId xmlns:a16="http://schemas.microsoft.com/office/drawing/2014/main" id="{D08D521E-CC71-4711-A012-5015B237CB1A}"/>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ABA19D01-6525-4A9B-9EF1-666ED453E1BA}"/>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24</a:t>
            </a:r>
          </a:p>
        </p:txBody>
      </p:sp>
      <p:sp>
        <p:nvSpPr>
          <p:cNvPr id="9" name="">
            <a:extLst xmlns:a="http://schemas.openxmlformats.org/drawingml/2006/main">
              <a:ext uri="{FF2B5EF4-FFF2-40B4-BE49-F238E27FC236}">
                <a16:creationId xmlns:a16="http://schemas.microsoft.com/office/drawing/2014/main" id="{97FC0F08-5B1F-473C-8A56-805672B0B3B2}"/>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76288ED6-47D4-4EE9-9265-41BB1257FD70}"/>
              </a:ext>
            </a:extLst>
          </p:cNvPr>
          <p:cNvSpPr>
            <a:spLocks xmlns:a="http://schemas.openxmlformats.org/drawingml/2006/main" noGrp="1"/>
          </p:cNvSpPr>
          <p:nvPr/>
        </p:nvSpPr>
        <p:spPr>
          <a:xfrm xmlns:a="http://schemas.openxmlformats.org/drawingml/2006/main">
            <a:off x="8382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图谱空间与权限管理</a:t>
            </a:r>
          </a:p>
        </p:txBody>
      </p:sp>
      <p:sp>
        <p:nvSpPr>
          <p:cNvPr id="11" name="">
            <a:extLst xmlns:a="http://schemas.openxmlformats.org/drawingml/2006/main">
              <a:ext uri="{FF2B5EF4-FFF2-40B4-BE49-F238E27FC236}">
                <a16:creationId xmlns:a16="http://schemas.microsoft.com/office/drawing/2014/main" id="{1A996E91-D6FE-487D-94F9-07783E010135}"/>
              </a:ext>
            </a:extLst>
          </p:cNvPr>
          <p:cNvSpPr>
            <a:spLocks xmlns:a="http://schemas.openxmlformats.org/drawingml/2006/main" noGrp="1"/>
          </p:cNvSpPr>
          <p:nvPr/>
        </p:nvSpPr>
        <p:spPr>
          <a:xfrm xmlns:a="http://schemas.openxmlformats.org/drawingml/2006/main">
            <a:off x="8382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图谱全生命周期管理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支持图谱新建、JSON 导入、导出、编辑、数据清除、删除等全生命周期管理。清除数据时可保留本体结构，便于重建和重跑。</a:t>
            </a:r>
          </a:p>
        </p:txBody>
      </p:sp>
      <p:sp>
        <p:nvSpPr>
          <p:cNvPr id="12" name="">
            <a:extLst xmlns:a="http://schemas.openxmlformats.org/drawingml/2006/main">
              <a:ext uri="{FF2B5EF4-FFF2-40B4-BE49-F238E27FC236}">
                <a16:creationId xmlns:a16="http://schemas.microsoft.com/office/drawing/2014/main" id="{E969B057-F6E3-4773-BA00-F7A70B54D348}"/>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3" name="">
            <a:extLst xmlns:a="http://schemas.openxmlformats.org/drawingml/2006/main">
              <a:ext uri="{FF2B5EF4-FFF2-40B4-BE49-F238E27FC236}">
                <a16:creationId xmlns:a16="http://schemas.microsoft.com/office/drawing/2014/main" id="{20EFADA1-1BBE-4353-96BC-D46F61ED2F16}"/>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图谱级权限管控</a:t>
            </a:r>
          </a:p>
        </p:txBody>
      </p:sp>
      <p:sp>
        <p:nvSpPr>
          <p:cNvPr id="14" name="">
            <a:extLst xmlns:a="http://schemas.openxmlformats.org/drawingml/2006/main">
              <a:ext uri="{FF2B5EF4-FFF2-40B4-BE49-F238E27FC236}">
                <a16:creationId xmlns:a16="http://schemas.microsoft.com/office/drawing/2014/main" id="{FAE11E99-5EC5-4BD1-81CB-12D02C2C18E9}"/>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支持按用户、部门维度配置访问与编辑权限，实现多团队并行分析下的数据安全隔离。</a:t>
            </a:r>
          </a:p>
        </p:txBody>
      </p:sp>
      <p:sp>
        <p:nvSpPr>
          <p:cNvPr id="15" name="">
            <a:extLst xmlns:a="http://schemas.openxmlformats.org/drawingml/2006/main">
              <a:ext uri="{FF2B5EF4-FFF2-40B4-BE49-F238E27FC236}">
                <a16:creationId xmlns:a16="http://schemas.microsoft.com/office/drawing/2014/main" id="{BFB042E3-6666-46FA-B8AD-A2511970128C}"/>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6" name="">
            <a:extLst xmlns:a="http://schemas.openxmlformats.org/drawingml/2006/main">
              <a:ext uri="{FF2B5EF4-FFF2-40B4-BE49-F238E27FC236}">
                <a16:creationId xmlns:a16="http://schemas.microsoft.com/office/drawing/2014/main" id="{E382F08E-D8BD-4486-B182-26D20A687664}"/>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工作台驾驶舱</a:t>
            </a:r>
          </a:p>
        </p:txBody>
      </p:sp>
      <p:sp>
        <p:nvSpPr>
          <p:cNvPr id="17" name="">
            <a:extLst xmlns:a="http://schemas.openxmlformats.org/drawingml/2006/main">
              <a:ext uri="{FF2B5EF4-FFF2-40B4-BE49-F238E27FC236}">
                <a16:creationId xmlns:a16="http://schemas.microsoft.com/office/drawing/2014/main" id="{059331A1-A671-4C52-98F2-0127B919578E}"/>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提供平台级数据资产全景视图，统计图谱总数、节点总量、关系总量和接入数据源数量，并通过图表展示本体类型分布、数据源构成和知识加工任务趋势。</a:t>
            </a:r>
          </a:p>
        </p:txBody>
      </p:sp>
      <p:sp>
        <p:nvSpPr>
          <p:cNvPr id="18" name="">
            <a:extLst xmlns:a="http://schemas.openxmlformats.org/drawingml/2006/main">
              <a:ext uri="{FF2B5EF4-FFF2-40B4-BE49-F238E27FC236}">
                <a16:creationId xmlns:a16="http://schemas.microsoft.com/office/drawing/2014/main" id="{591BC113-CDEA-4D52-BC30-D49F7418A9B0}"/>
              </a:ext>
            </a:extLst>
          </p:cNvPr>
          <p:cNvSpPr>
            <a:spLocks xmlns:a="http://schemas.openxmlformats.org/drawingml/2006/main" noGrp="1"/>
          </p:cNvSpPr>
          <p:nvPr/>
        </p:nvSpPr>
        <p:spPr>
          <a:xfrm xmlns:a="http://schemas.openxmlformats.org/drawingml/2006/main">
            <a:off x="685800" y="5010150"/>
            <a:ext cx="5219700" cy="881634"/>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828BD254-7716-4C72-B6F9-586845D89C55}"/>
              </a:ext>
            </a:extLst>
          </p:cNvPr>
          <p:cNvSpPr>
            <a:spLocks xmlns:a="http://schemas.openxmlformats.org/drawingml/2006/main" noGrp="1"/>
          </p:cNvSpPr>
          <p:nvPr/>
        </p:nvSpPr>
        <p:spPr>
          <a:xfrm xmlns:a="http://schemas.openxmlformats.org/drawingml/2006/main">
            <a:off x="8382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本体建模能力</a:t>
            </a:r>
          </a:p>
        </p:txBody>
      </p:sp>
      <p:sp>
        <p:nvSpPr>
          <p:cNvPr id="20" name="">
            <a:extLst xmlns:a="http://schemas.openxmlformats.org/drawingml/2006/main">
              <a:ext uri="{FF2B5EF4-FFF2-40B4-BE49-F238E27FC236}">
                <a16:creationId xmlns:a16="http://schemas.microsoft.com/office/drawing/2014/main" id="{6747C01F-5284-40A4-B44E-C0C5511CD122}"/>
              </a:ext>
            </a:extLst>
          </p:cNvPr>
          <p:cNvSpPr>
            <a:spLocks xmlns:a="http://schemas.openxmlformats.org/drawingml/2006/main" noGrp="1"/>
          </p:cNvSpPr>
          <p:nvPr/>
        </p:nvSpPr>
        <p:spPr>
          <a:xfrm xmlns:a="http://schemas.openxmlformats.org/drawingml/2006/main">
            <a:off x="838200" y="5391150"/>
            <a:ext cx="4914900" cy="405384"/>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实体类型定义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支持表单模式和 SQL 模式双模定义实体类型。表单模式面向业务人员，配置实体名称、属性字段和显示字段；SQL 模式面向技术人员，支持复杂实体结构声明。</a:t>
            </a:r>
          </a:p>
        </p:txBody>
      </p:sp>
      <p:sp>
        <p:nvSpPr>
          <p:cNvPr id="21" name="">
            <a:extLst xmlns:a="http://schemas.openxmlformats.org/drawingml/2006/main">
              <a:ext uri="{FF2B5EF4-FFF2-40B4-BE49-F238E27FC236}">
                <a16:creationId xmlns:a16="http://schemas.microsoft.com/office/drawing/2014/main" id="{9DA1394C-5848-4BC2-93A8-2095C6B59418}"/>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F470340C-030B-474C-A779-4B9B0AA883E2}"/>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实体属性索引加速</a:t>
            </a:r>
          </a:p>
        </p:txBody>
      </p:sp>
      <p:sp>
        <p:nvSpPr>
          <p:cNvPr id="23" name="">
            <a:extLst xmlns:a="http://schemas.openxmlformats.org/drawingml/2006/main">
              <a:ext uri="{FF2B5EF4-FFF2-40B4-BE49-F238E27FC236}">
                <a16:creationId xmlns:a16="http://schemas.microsoft.com/office/drawing/2014/main" id="{48B6230D-A6EE-42B2-81AA-F03F88F564A4}"/>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支持为任意属性字段建立检索索引，提升大规模图谱下的查询响应性能。</a:t>
            </a:r>
          </a:p>
        </p:txBody>
      </p:sp>
      <p:sp>
        <p:nvSpPr>
          <p:cNvPr id="24" name="">
            <a:extLst xmlns:a="http://schemas.openxmlformats.org/drawingml/2006/main">
              <a:ext uri="{FF2B5EF4-FFF2-40B4-BE49-F238E27FC236}">
                <a16:creationId xmlns:a16="http://schemas.microsoft.com/office/drawing/2014/main" id="{FEBDFD61-56A3-46C9-B9F6-C5BD7B7717B3}"/>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7F0CB1ED-B220-470B-89E8-781A5C80C5DF}"/>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关系类型定义</a:t>
            </a:r>
          </a:p>
        </p:txBody>
      </p:sp>
      <p:sp>
        <p:nvSpPr>
          <p:cNvPr id="26" name="">
            <a:extLst xmlns:a="http://schemas.openxmlformats.org/drawingml/2006/main">
              <a:ext uri="{FF2B5EF4-FFF2-40B4-BE49-F238E27FC236}">
                <a16:creationId xmlns:a16="http://schemas.microsoft.com/office/drawing/2014/main" id="{4DF692E2-03F1-4C6F-9306-EB9AF7279E1C}"/>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支持定义关系名称、属性字段、默认显示属性、方向性约束和数据溯源链接，实现关系从建模到溯源的闭环。</a:t>
            </a:r>
          </a:p>
        </p:txBody>
      </p:sp>
      <p:sp>
        <p:nvSpPr>
          <p:cNvPr id="27" name="">
            <a:extLst xmlns:a="http://schemas.openxmlformats.org/drawingml/2006/main">
              <a:ext uri="{FF2B5EF4-FFF2-40B4-BE49-F238E27FC236}">
                <a16:creationId xmlns:a16="http://schemas.microsoft.com/office/drawing/2014/main" id="{C502E718-3B54-4162-BAA6-C641E5A5B02C}"/>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8" name="">
            <a:extLst xmlns:a="http://schemas.openxmlformats.org/drawingml/2006/main">
              <a:ext uri="{FF2B5EF4-FFF2-40B4-BE49-F238E27FC236}">
                <a16:creationId xmlns:a16="http://schemas.microsoft.com/office/drawing/2014/main" id="{79F32161-F335-4F61-9963-D4D16238AD90}"/>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本体拓扑可视化校验</a:t>
            </a:r>
          </a:p>
        </p:txBody>
      </p:sp>
      <p:sp>
        <p:nvSpPr>
          <p:cNvPr id="29" name="">
            <a:extLst xmlns:a="http://schemas.openxmlformats.org/drawingml/2006/main">
              <a:ext uri="{FF2B5EF4-FFF2-40B4-BE49-F238E27FC236}">
                <a16:creationId xmlns:a16="http://schemas.microsoft.com/office/drawing/2014/main" id="{CD59802E-3868-42A2-BECD-9C7001099A49}"/>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以网状拓扑图实时渲染当前图谱业务模型，支持交互式点击节点和连线校验属性配置，确保入图前完成业务模型对齐。</a:t>
            </a:r>
          </a:p>
        </p:txBody>
      </p:sp>
      <p:sp>
        <p:nvSpPr>
          <p:cNvPr id="30" name="">
            <a:extLst xmlns:a="http://schemas.openxmlformats.org/drawingml/2006/main">
              <a:ext uri="{FF2B5EF4-FFF2-40B4-BE49-F238E27FC236}">
                <a16:creationId xmlns:a16="http://schemas.microsoft.com/office/drawing/2014/main" id="{CDD3D0B8-FF2C-4159-A80D-C2BD666CA3F7}"/>
              </a:ext>
            </a:extLst>
          </p:cNvPr>
          <p:cNvSpPr>
            <a:spLocks xmlns:a="http://schemas.openxmlformats.org/drawingml/2006/main" noGrp="1"/>
          </p:cNvSpPr>
          <p:nvPr/>
        </p:nvSpPr>
        <p:spPr>
          <a:xfrm xmlns:a="http://schemas.openxmlformats.org/drawingml/2006/main">
            <a:off x="62865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31" name="">
            <a:extLst xmlns:a="http://schemas.openxmlformats.org/drawingml/2006/main">
              <a:ext uri="{FF2B5EF4-FFF2-40B4-BE49-F238E27FC236}">
                <a16:creationId xmlns:a16="http://schemas.microsoft.com/office/drawing/2014/main" id="{C62A486E-3A8C-4941-BB19-97F53F4A56D8}"/>
              </a:ext>
            </a:extLst>
          </p:cNvPr>
          <p:cNvSpPr>
            <a:spLocks xmlns:a="http://schemas.openxmlformats.org/drawingml/2006/main" noGrp="1"/>
          </p:cNvSpPr>
          <p:nvPr/>
        </p:nvSpPr>
        <p:spPr>
          <a:xfrm xmlns:a="http://schemas.openxmlformats.org/drawingml/2006/main">
            <a:off x="64389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多源数据接入与映射</a:t>
            </a:r>
          </a:p>
        </p:txBody>
      </p:sp>
      <p:sp>
        <p:nvSpPr>
          <p:cNvPr id="32" name="">
            <a:extLst xmlns:a="http://schemas.openxmlformats.org/drawingml/2006/main">
              <a:ext uri="{FF2B5EF4-FFF2-40B4-BE49-F238E27FC236}">
                <a16:creationId xmlns:a16="http://schemas.microsoft.com/office/drawing/2014/main" id="{0515F024-A2EB-4FAA-B8CF-082667030B75}"/>
              </a:ext>
            </a:extLst>
          </p:cNvPr>
          <p:cNvSpPr>
            <a:spLocks xmlns:a="http://schemas.openxmlformats.org/drawingml/2006/main" noGrp="1"/>
          </p:cNvSpPr>
          <p:nvPr/>
        </p:nvSpPr>
        <p:spPr>
          <a:xfrm xmlns:a="http://schemas.openxmlformats.org/drawingml/2006/main">
            <a:off x="64389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数据溯源链接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支持为实体类型和关系类型配置 URL 模板，图谱分析时可直接从节点或边跳转至原始数据源表，打通“图谱 - 源数据”的端到端溯源链路。</a:t>
            </a:r>
          </a:p>
        </p:txBody>
      </p:sp>
    </p:spTree>
    <p:extLst>
      <p:ext uri="{BB962C8B-B14F-4D97-AF65-F5344CB8AC3E}">
        <p14:creationId xmlns:p14="http://schemas.microsoft.com/office/powerpoint/2010/main" val="170863965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35CCC89-9400-430F-8D89-1495E2B0A0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14971D5-4097-4737-87D3-45E6BAD4C7AB}"/>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268B70E-50BD-4E29-8399-E07F64C49A18}"/>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8C1E68D-028C-47BF-A23F-5BCF969E858B}"/>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图谱分析、推理与批量任务</a:t>
            </a:r>
          </a:p>
        </p:txBody>
      </p:sp>
      <p:sp>
        <p:nvSpPr>
          <p:cNvPr id="5" name="">
            <a:extLst xmlns:a="http://schemas.openxmlformats.org/drawingml/2006/main">
              <a:ext uri="{FF2B5EF4-FFF2-40B4-BE49-F238E27FC236}">
                <a16:creationId xmlns:a16="http://schemas.microsoft.com/office/drawing/2014/main" id="{F27A9456-EFA5-4096-9FDA-C825AADCABD7}"/>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FFB3E0E1-77A1-4C4A-B88A-13968012B5D8}"/>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把图谱平台从“关系可视化”提升到“已知关系查询 + 未知关系推理 + 批量审计执行”。</a:t>
            </a:r>
          </a:p>
        </p:txBody>
      </p:sp>
      <p:sp>
        <p:nvSpPr>
          <p:cNvPr id="7" name="">
            <a:extLst xmlns:a="http://schemas.openxmlformats.org/drawingml/2006/main">
              <a:ext uri="{FF2B5EF4-FFF2-40B4-BE49-F238E27FC236}">
                <a16:creationId xmlns:a16="http://schemas.microsoft.com/office/drawing/2014/main" id="{1D643871-38B8-4E8A-B828-FE7205E83156}"/>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9B383B28-E9BD-4A6E-9F49-87AC4936E9C6}"/>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25</a:t>
            </a:r>
          </a:p>
        </p:txBody>
      </p:sp>
      <p:sp>
        <p:nvSpPr>
          <p:cNvPr id="9" name="">
            <a:extLst xmlns:a="http://schemas.openxmlformats.org/drawingml/2006/main">
              <a:ext uri="{FF2B5EF4-FFF2-40B4-BE49-F238E27FC236}">
                <a16:creationId xmlns:a16="http://schemas.microsoft.com/office/drawing/2014/main" id="{3ED33DA3-6797-41E9-92AE-83E55A70CC79}"/>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575258F4-C5BC-4430-8BF3-54990CBB05DF}"/>
              </a:ext>
            </a:extLst>
          </p:cNvPr>
          <p:cNvSpPr>
            <a:spLocks xmlns:a="http://schemas.openxmlformats.org/drawingml/2006/main" noGrp="1"/>
          </p:cNvSpPr>
          <p:nvPr/>
        </p:nvSpPr>
        <p:spPr>
          <a:xfrm xmlns:a="http://schemas.openxmlformats.org/drawingml/2006/main">
            <a:off x="8382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多模式图谱探查</a:t>
            </a:r>
          </a:p>
        </p:txBody>
      </p:sp>
      <p:sp>
        <p:nvSpPr>
          <p:cNvPr id="11" name="">
            <a:extLst xmlns:a="http://schemas.openxmlformats.org/drawingml/2006/main">
              <a:ext uri="{FF2B5EF4-FFF2-40B4-BE49-F238E27FC236}">
                <a16:creationId xmlns:a16="http://schemas.microsoft.com/office/drawing/2014/main" id="{3A24A70F-1495-43AA-A674-59A1D015BC63}"/>
              </a:ext>
            </a:extLst>
          </p:cNvPr>
          <p:cNvSpPr>
            <a:spLocks xmlns:a="http://schemas.openxmlformats.org/drawingml/2006/main" noGrp="1"/>
          </p:cNvSpPr>
          <p:nvPr/>
        </p:nvSpPr>
        <p:spPr>
          <a:xfrm xmlns:a="http://schemas.openxmlformats.org/drawingml/2006/main">
            <a:off x="8382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预置探查方法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内置实体信息查询、路径分析、图查询语句三种预置探查方法，覆盖从关键字检索到复杂图遍历的多层次分析需求。</a:t>
            </a:r>
          </a:p>
        </p:txBody>
      </p:sp>
      <p:sp>
        <p:nvSpPr>
          <p:cNvPr id="12" name="">
            <a:extLst xmlns:a="http://schemas.openxmlformats.org/drawingml/2006/main">
              <a:ext uri="{FF2B5EF4-FFF2-40B4-BE49-F238E27FC236}">
                <a16:creationId xmlns:a16="http://schemas.microsoft.com/office/drawing/2014/main" id="{756880EE-0778-412A-AC28-D17F9AB8E38C}"/>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3" name="">
            <a:extLst xmlns:a="http://schemas.openxmlformats.org/drawingml/2006/main">
              <a:ext uri="{FF2B5EF4-FFF2-40B4-BE49-F238E27FC236}">
                <a16:creationId xmlns:a16="http://schemas.microsoft.com/office/drawing/2014/main" id="{432D6666-4EA8-4FE0-AFA0-28F33B5E9163}"/>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渐进式探查</a:t>
            </a:r>
          </a:p>
        </p:txBody>
      </p:sp>
      <p:sp>
        <p:nvSpPr>
          <p:cNvPr id="14" name="">
            <a:extLst xmlns:a="http://schemas.openxmlformats.org/drawingml/2006/main">
              <a:ext uri="{FF2B5EF4-FFF2-40B4-BE49-F238E27FC236}">
                <a16:creationId xmlns:a16="http://schemas.microsoft.com/office/drawing/2014/main" id="{F4CFE913-44AE-4CA9-B84E-797CE6ECB920}"/>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支持通过可控步数与条件过滤逐步展开关联网络，避免大规模图谱一次性加载导致的性能瓶颈和可读性下降。</a:t>
            </a:r>
          </a:p>
        </p:txBody>
      </p:sp>
      <p:sp>
        <p:nvSpPr>
          <p:cNvPr id="15" name="">
            <a:extLst xmlns:a="http://schemas.openxmlformats.org/drawingml/2006/main">
              <a:ext uri="{FF2B5EF4-FFF2-40B4-BE49-F238E27FC236}">
                <a16:creationId xmlns:a16="http://schemas.microsoft.com/office/drawing/2014/main" id="{626DA71C-8376-40EC-AD51-A7E0FB31B626}"/>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6" name="">
            <a:extLst xmlns:a="http://schemas.openxmlformats.org/drawingml/2006/main">
              <a:ext uri="{FF2B5EF4-FFF2-40B4-BE49-F238E27FC236}">
                <a16:creationId xmlns:a16="http://schemas.microsoft.com/office/drawing/2014/main" id="{122027D4-BDF6-4636-BA1D-FB126F4CBFBA}"/>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节点 / 边详情与溯源</a:t>
            </a:r>
          </a:p>
        </p:txBody>
      </p:sp>
      <p:sp>
        <p:nvSpPr>
          <p:cNvPr id="17" name="">
            <a:extLst xmlns:a="http://schemas.openxmlformats.org/drawingml/2006/main">
              <a:ext uri="{FF2B5EF4-FFF2-40B4-BE49-F238E27FC236}">
                <a16:creationId xmlns:a16="http://schemas.microsoft.com/office/drawing/2014/main" id="{3F77F791-14A2-4942-96E5-867D511B7957}"/>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支持查看图谱中任意节点和边的完整属性信息及数据源链接，点击链接可直接穿透至原始数据表，实现从图谱洞察到源数据验证的无缝衔接。</a:t>
            </a:r>
          </a:p>
        </p:txBody>
      </p:sp>
      <p:sp>
        <p:nvSpPr>
          <p:cNvPr id="18" name="">
            <a:extLst xmlns:a="http://schemas.openxmlformats.org/drawingml/2006/main">
              <a:ext uri="{FF2B5EF4-FFF2-40B4-BE49-F238E27FC236}">
                <a16:creationId xmlns:a16="http://schemas.microsoft.com/office/drawing/2014/main" id="{30193F71-ED3C-451C-8B02-E94972E81365}"/>
              </a:ext>
            </a:extLst>
          </p:cNvPr>
          <p:cNvSpPr>
            <a:spLocks xmlns:a="http://schemas.openxmlformats.org/drawingml/2006/main" noGrp="1"/>
          </p:cNvSpPr>
          <p:nvPr/>
        </p:nvSpPr>
        <p:spPr>
          <a:xfrm xmlns:a="http://schemas.openxmlformats.org/drawingml/2006/main">
            <a:off x="6858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DB01C88E-74F4-4AF2-9CCB-FCCCEC32E995}"/>
              </a:ext>
            </a:extLst>
          </p:cNvPr>
          <p:cNvSpPr>
            <a:spLocks xmlns:a="http://schemas.openxmlformats.org/drawingml/2006/main" noGrp="1"/>
          </p:cNvSpPr>
          <p:nvPr/>
        </p:nvSpPr>
        <p:spPr>
          <a:xfrm xmlns:a="http://schemas.openxmlformats.org/drawingml/2006/main">
            <a:off x="8382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图谱动态拓展</a:t>
            </a:r>
          </a:p>
        </p:txBody>
      </p:sp>
      <p:sp>
        <p:nvSpPr>
          <p:cNvPr id="20" name="">
            <a:extLst xmlns:a="http://schemas.openxmlformats.org/drawingml/2006/main">
              <a:ext uri="{FF2B5EF4-FFF2-40B4-BE49-F238E27FC236}">
                <a16:creationId xmlns:a16="http://schemas.microsoft.com/office/drawing/2014/main" id="{75F6653F-2909-464D-8F3A-FDA26CD5241F}"/>
              </a:ext>
            </a:extLst>
          </p:cNvPr>
          <p:cNvSpPr>
            <a:spLocks xmlns:a="http://schemas.openxmlformats.org/drawingml/2006/main" noGrp="1"/>
          </p:cNvSpPr>
          <p:nvPr/>
        </p:nvSpPr>
        <p:spPr>
          <a:xfrm xmlns:a="http://schemas.openxmlformats.org/drawingml/2006/main">
            <a:off x="8382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支持从已有节点出发进行关联拓展，提供直接拓展与条件拓展两种模式，兼顾探索效率与分析精度。</a:t>
            </a:r>
          </a:p>
        </p:txBody>
      </p:sp>
      <p:sp>
        <p:nvSpPr>
          <p:cNvPr id="21" name="">
            <a:extLst xmlns:a="http://schemas.openxmlformats.org/drawingml/2006/main">
              <a:ext uri="{FF2B5EF4-FFF2-40B4-BE49-F238E27FC236}">
                <a16:creationId xmlns:a16="http://schemas.microsoft.com/office/drawing/2014/main" id="{CF4908B9-F3C2-4949-8A04-B9E7ABC1B6D8}"/>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7A657E9C-7EAF-4C1F-9A5C-8CAD51A00742}"/>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图上分析与可视化</a:t>
            </a:r>
          </a:p>
        </p:txBody>
      </p:sp>
      <p:sp>
        <p:nvSpPr>
          <p:cNvPr id="23" name="">
            <a:extLst xmlns:a="http://schemas.openxmlformats.org/drawingml/2006/main">
              <a:ext uri="{FF2B5EF4-FFF2-40B4-BE49-F238E27FC236}">
                <a16:creationId xmlns:a16="http://schemas.microsoft.com/office/drawing/2014/main" id="{FFDA079C-F8A2-48B5-8C96-77CCCE335608}"/>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图上分析算法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内置直接邻居高亮、最短路径计算、环检测等图分析算法，可识别资金回路、关联交易环路、异常主体聚集等结构。</a:t>
            </a:r>
          </a:p>
        </p:txBody>
      </p:sp>
      <p:sp>
        <p:nvSpPr>
          <p:cNvPr id="24" name="">
            <a:extLst xmlns:a="http://schemas.openxmlformats.org/drawingml/2006/main">
              <a:ext uri="{FF2B5EF4-FFF2-40B4-BE49-F238E27FC236}">
                <a16:creationId xmlns:a16="http://schemas.microsoft.com/office/drawing/2014/main" id="{AF1FCBF6-047F-43AF-AEE7-BE45DE8A902D}"/>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05BFC93D-E138-421E-8A8F-87AC7391C669}"/>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多布局可视化</a:t>
            </a:r>
          </a:p>
        </p:txBody>
      </p:sp>
      <p:sp>
        <p:nvSpPr>
          <p:cNvPr id="26" name="">
            <a:extLst xmlns:a="http://schemas.openxmlformats.org/drawingml/2006/main">
              <a:ext uri="{FF2B5EF4-FFF2-40B4-BE49-F238E27FC236}">
                <a16:creationId xmlns:a16="http://schemas.microsoft.com/office/drawing/2014/main" id="{EC5F158A-0B45-4788-875C-07AB66100AEC}"/>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支持中心布局与社区布局，适配股权链、资金流转、团伙发现、利益共同体识别等不同分析场景。</a:t>
            </a:r>
          </a:p>
        </p:txBody>
      </p:sp>
      <p:sp>
        <p:nvSpPr>
          <p:cNvPr id="27" name="">
            <a:extLst xmlns:a="http://schemas.openxmlformats.org/drawingml/2006/main">
              <a:ext uri="{FF2B5EF4-FFF2-40B4-BE49-F238E27FC236}">
                <a16:creationId xmlns:a16="http://schemas.microsoft.com/office/drawing/2014/main" id="{AC3FADDF-7AA7-49D3-94CC-ECA22EC472CA}"/>
              </a:ext>
            </a:extLst>
          </p:cNvPr>
          <p:cNvSpPr>
            <a:spLocks xmlns:a="http://schemas.openxmlformats.org/drawingml/2006/main" noGrp="1"/>
          </p:cNvSpPr>
          <p:nvPr/>
        </p:nvSpPr>
        <p:spPr>
          <a:xfrm xmlns:a="http://schemas.openxmlformats.org/drawingml/2006/main">
            <a:off x="6286500" y="4038600"/>
            <a:ext cx="5219700" cy="865442"/>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8" name="">
            <a:extLst xmlns:a="http://schemas.openxmlformats.org/drawingml/2006/main">
              <a:ext uri="{FF2B5EF4-FFF2-40B4-BE49-F238E27FC236}">
                <a16:creationId xmlns:a16="http://schemas.microsoft.com/office/drawing/2014/main" id="{2C7C5651-FE04-4E6E-9073-54CE29AAA068}"/>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图谱交互工具集</a:t>
            </a:r>
          </a:p>
        </p:txBody>
      </p:sp>
      <p:sp>
        <p:nvSpPr>
          <p:cNvPr id="29" name="">
            <a:extLst xmlns:a="http://schemas.openxmlformats.org/drawingml/2006/main">
              <a:ext uri="{FF2B5EF4-FFF2-40B4-BE49-F238E27FC236}">
                <a16:creationId xmlns:a16="http://schemas.microsoft.com/office/drawing/2014/main" id="{B1C0AF32-157D-4BE8-A289-E9E10C6596A1}"/>
              </a:ext>
            </a:extLst>
          </p:cNvPr>
          <p:cNvSpPr>
            <a:spLocks xmlns:a="http://schemas.openxmlformats.org/drawingml/2006/main" noGrp="1"/>
          </p:cNvSpPr>
          <p:nvPr/>
        </p:nvSpPr>
        <p:spPr>
          <a:xfrm xmlns:a="http://schemas.openxmlformats.org/drawingml/2006/main">
            <a:off x="6438900" y="4419600"/>
            <a:ext cx="4914900" cy="389192"/>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提供撤销 / 重做、缩放 / 居中 / 全屏、多格式下载、历史图谱保存与切换、显示过滤、颜色自定义、画布清除、图内搜索及 AI 自然语言查询等完整工作流能力。</a:t>
            </a:r>
          </a:p>
        </p:txBody>
      </p:sp>
      <p:sp>
        <p:nvSpPr>
          <p:cNvPr id="30" name="">
            <a:extLst xmlns:a="http://schemas.openxmlformats.org/drawingml/2006/main">
              <a:ext uri="{FF2B5EF4-FFF2-40B4-BE49-F238E27FC236}">
                <a16:creationId xmlns:a16="http://schemas.microsoft.com/office/drawing/2014/main" id="{361195D2-A966-437C-816C-79CF190443D4}"/>
              </a:ext>
            </a:extLst>
          </p:cNvPr>
          <p:cNvSpPr>
            <a:spLocks xmlns:a="http://schemas.openxmlformats.org/drawingml/2006/main" noGrp="1"/>
          </p:cNvSpPr>
          <p:nvPr/>
        </p:nvSpPr>
        <p:spPr>
          <a:xfrm xmlns:a="http://schemas.openxmlformats.org/drawingml/2006/main">
            <a:off x="6286500" y="5018342"/>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31" name="">
            <a:extLst xmlns:a="http://schemas.openxmlformats.org/drawingml/2006/main">
              <a:ext uri="{FF2B5EF4-FFF2-40B4-BE49-F238E27FC236}">
                <a16:creationId xmlns:a16="http://schemas.microsoft.com/office/drawing/2014/main" id="{503B3B9E-BE18-4FE3-BBF9-0DE91B7FEF9C}"/>
              </a:ext>
            </a:extLst>
          </p:cNvPr>
          <p:cNvSpPr>
            <a:spLocks xmlns:a="http://schemas.openxmlformats.org/drawingml/2006/main" noGrp="1"/>
          </p:cNvSpPr>
          <p:nvPr/>
        </p:nvSpPr>
        <p:spPr>
          <a:xfrm xmlns:a="http://schemas.openxmlformats.org/drawingml/2006/main">
            <a:off x="6438900" y="5151692"/>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查询模板与外部能力集成</a:t>
            </a:r>
          </a:p>
        </p:txBody>
      </p:sp>
      <p:sp>
        <p:nvSpPr>
          <p:cNvPr id="32" name="">
            <a:extLst xmlns:a="http://schemas.openxmlformats.org/drawingml/2006/main">
              <a:ext uri="{FF2B5EF4-FFF2-40B4-BE49-F238E27FC236}">
                <a16:creationId xmlns:a16="http://schemas.microsoft.com/office/drawing/2014/main" id="{FE3D7589-D67D-447D-8A92-FEBDBFEA826E}"/>
              </a:ext>
            </a:extLst>
          </p:cNvPr>
          <p:cNvSpPr>
            <a:spLocks xmlns:a="http://schemas.openxmlformats.org/drawingml/2006/main" noGrp="1"/>
          </p:cNvSpPr>
          <p:nvPr/>
        </p:nvSpPr>
        <p:spPr>
          <a:xfrm xmlns:a="http://schemas.openxmlformats.org/drawingml/2006/main">
            <a:off x="6438900" y="5399342"/>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图数据查询模板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支持通过命令行模板自定义图谱查询逻辑，定义变量参数并绑定实体 / 关系属性，经在线测试后发布为可复用查询方法。</a:t>
            </a:r>
          </a:p>
        </p:txBody>
      </p:sp>
    </p:spTree>
    <p:extLst>
      <p:ext uri="{BB962C8B-B14F-4D97-AF65-F5344CB8AC3E}">
        <p14:creationId xmlns:p14="http://schemas.microsoft.com/office/powerpoint/2010/main" val="211890394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77B5A5A-AF22-4EBD-B6AB-A8E52178C5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3A56236-8331-40C8-9C8E-DB6228125BE5}"/>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2F782F7-066C-4084-B03A-4ACCDF57E865}"/>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FF8A3D"/>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336EB27-5E5A-4A3E-9932-D2AEC3853EAD}"/>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案例：关联穿透审计</a:t>
            </a:r>
          </a:p>
        </p:txBody>
      </p:sp>
      <p:sp>
        <p:nvSpPr>
          <p:cNvPr id="5" name="">
            <a:extLst xmlns:a="http://schemas.openxmlformats.org/drawingml/2006/main">
              <a:ext uri="{FF2B5EF4-FFF2-40B4-BE49-F238E27FC236}">
                <a16:creationId xmlns:a16="http://schemas.microsoft.com/office/drawing/2014/main" id="{E527FF8E-F761-4054-A4DC-D9BF223CE236}"/>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5CA70C68-7FE7-4628-81D7-23030BB237F1}"/>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用人企机关全息图谱证明平台能够承接多源数据、复杂主体和多类关系穿透。</a:t>
            </a:r>
          </a:p>
        </p:txBody>
      </p:sp>
      <p:sp>
        <p:nvSpPr>
          <p:cNvPr id="7" name="">
            <a:extLst xmlns:a="http://schemas.openxmlformats.org/drawingml/2006/main">
              <a:ext uri="{FF2B5EF4-FFF2-40B4-BE49-F238E27FC236}">
                <a16:creationId xmlns:a16="http://schemas.microsoft.com/office/drawing/2014/main" id="{4A007301-CF33-4AE2-8813-4F9F753FFA1C}"/>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E2FF87E4-E5A8-430D-BF13-CD5642064BD0}"/>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26</a:t>
            </a:r>
          </a:p>
        </p:txBody>
      </p:sp>
      <p:sp>
        <p:nvSpPr>
          <p:cNvPr id="9" name="">
            <a:extLst xmlns:a="http://schemas.openxmlformats.org/drawingml/2006/main">
              <a:ext uri="{FF2B5EF4-FFF2-40B4-BE49-F238E27FC236}">
                <a16:creationId xmlns:a16="http://schemas.microsoft.com/office/drawing/2014/main" id="{FAD28D45-8C12-4A47-9297-2208F60F1800}"/>
              </a:ext>
            </a:extLst>
          </p:cNvPr>
          <p:cNvSpPr>
            <a:spLocks xmlns:a="http://schemas.openxmlformats.org/drawingml/2006/main" noGrp="1"/>
          </p:cNvSpPr>
          <p:nvPr/>
        </p:nvSpPr>
        <p:spPr>
          <a:xfrm xmlns:a="http://schemas.openxmlformats.org/drawingml/2006/main">
            <a:off x="7905750" y="2076450"/>
            <a:ext cx="3543300" cy="3714750"/>
          </a:xfrm>
          <a:prstGeom xmlns:a="http://schemas.openxmlformats.org/drawingml/2006/main" prst="rect">
            <a:avLst/>
          </a:prstGeom>
          <a:solidFill xmlns:a="http://schemas.openxmlformats.org/drawingml/2006/main">
            <a:srgbClr val="0D1B2A"/>
          </a:solidFill>
          <a:ln xmlns:a="http://schemas.openxmlformats.org/drawingml/2006/main" w="0">
            <a:solidFill>
              <a:srgbClr val="0D1B2A"/>
            </a:solidFill>
            <a:prstDash val="solid"/>
          </a:ln>
        </p:spPr>
      </p:sp>
      <p:sp>
        <p:nvSpPr>
          <p:cNvPr id="10" name="">
            <a:extLst xmlns:a="http://schemas.openxmlformats.org/drawingml/2006/main">
              <a:ext uri="{FF2B5EF4-FFF2-40B4-BE49-F238E27FC236}">
                <a16:creationId xmlns:a16="http://schemas.microsoft.com/office/drawing/2014/main" id="{95A1006B-4C20-429B-93BD-4669476DD827}"/>
              </a:ext>
            </a:extLst>
          </p:cNvPr>
          <p:cNvSpPr>
            <a:spLocks xmlns:a="http://schemas.openxmlformats.org/drawingml/2006/main" noGrp="1"/>
          </p:cNvSpPr>
          <p:nvPr/>
        </p:nvSpPr>
        <p:spPr>
          <a:xfrm xmlns:a="http://schemas.openxmlformats.org/drawingml/2006/main">
            <a:off x="8172450" y="2266950"/>
            <a:ext cx="3009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p>
        </p:txBody>
      </p:sp>
      <p:sp>
        <p:nvSpPr>
          <p:cNvPr id="11" name="">
            <a:extLst xmlns:a="http://schemas.openxmlformats.org/drawingml/2006/main">
              <a:ext uri="{FF2B5EF4-FFF2-40B4-BE49-F238E27FC236}">
                <a16:creationId xmlns:a16="http://schemas.microsoft.com/office/drawing/2014/main" id="{C2BAA4FE-40D6-47CC-B8B5-0D2FF84B60D0}"/>
              </a:ext>
            </a:extLst>
          </p:cNvPr>
          <p:cNvSpPr>
            <a:spLocks xmlns:a="http://schemas.openxmlformats.org/drawingml/2006/main" noGrp="1"/>
          </p:cNvSpPr>
          <p:nvPr/>
        </p:nvSpPr>
        <p:spPr>
          <a:xfrm xmlns:a="http://schemas.openxmlformats.org/drawingml/2006/main">
            <a:off x="8172450" y="2762250"/>
            <a:ext cx="2743200" cy="628650"/>
          </a:xfrm>
          <a:prstGeom xmlns:a="http://schemas.openxmlformats.org/drawingml/2006/main" prst="rect">
            <a:avLst/>
          </a:prstGeom>
          <a:ln xmlns:a="http://schemas.openxmlformats.org/drawingml/2006/main" w="9525">
            <a:prstDash val="solid"/>
          </a:ln>
        </p:spPr>
      </p:sp>
      <p:sp>
        <p:nvSpPr>
          <p:cNvPr id="12" name="">
            <a:extLst xmlns:a="http://schemas.openxmlformats.org/drawingml/2006/main">
              <a:ext uri="{FF2B5EF4-FFF2-40B4-BE49-F238E27FC236}">
                <a16:creationId xmlns:a16="http://schemas.microsoft.com/office/drawing/2014/main" id="{4030DDD4-9C33-4F6A-A9EC-7DA636D0AF1B}"/>
              </a:ext>
            </a:extLst>
          </p:cNvPr>
          <p:cNvSpPr>
            <a:spLocks xmlns:a="http://schemas.openxmlformats.org/drawingml/2006/main" noGrp="1"/>
          </p:cNvSpPr>
          <p:nvPr/>
        </p:nvSpPr>
        <p:spPr>
          <a:xfrm xmlns:a="http://schemas.openxmlformats.org/drawingml/2006/main">
            <a:off x="8362950" y="29337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案例验证</a:t>
            </a:r>
          </a:p>
        </p:txBody>
      </p:sp>
      <p:sp>
        <p:nvSpPr>
          <p:cNvPr id="13" name="">
            <a:extLst xmlns:a="http://schemas.openxmlformats.org/drawingml/2006/main">
              <a:ext uri="{FF2B5EF4-FFF2-40B4-BE49-F238E27FC236}">
                <a16:creationId xmlns:a16="http://schemas.microsoft.com/office/drawing/2014/main" id="{9A02D2F4-C1D1-4AA5-B230-F2B330D31945}"/>
              </a:ext>
            </a:extLst>
          </p:cNvPr>
          <p:cNvSpPr>
            <a:spLocks xmlns:a="http://schemas.openxmlformats.org/drawingml/2006/main" noGrp="1"/>
          </p:cNvSpPr>
          <p:nvPr/>
        </p:nvSpPr>
        <p:spPr>
          <a:xfrm xmlns:a="http://schemas.openxmlformats.org/drawingml/2006/main">
            <a:off x="8172450" y="3543300"/>
            <a:ext cx="2743200" cy="628650"/>
          </a:xfrm>
          <a:prstGeom xmlns:a="http://schemas.openxmlformats.org/drawingml/2006/main" prst="rect">
            <a:avLst/>
          </a:prstGeom>
          <a:ln xmlns:a="http://schemas.openxmlformats.org/drawingml/2006/main" w="9525">
            <a:prstDash val="solid"/>
          </a:ln>
        </p:spPr>
      </p:sp>
      <p:sp>
        <p:nvSpPr>
          <p:cNvPr id="14" name="">
            <a:extLst xmlns:a="http://schemas.openxmlformats.org/drawingml/2006/main">
              <a:ext uri="{FF2B5EF4-FFF2-40B4-BE49-F238E27FC236}">
                <a16:creationId xmlns:a16="http://schemas.microsoft.com/office/drawing/2014/main" id="{9EEFBF54-E374-4B9C-8A3B-DE14FDD53CF5}"/>
              </a:ext>
            </a:extLst>
          </p:cNvPr>
          <p:cNvSpPr>
            <a:spLocks xmlns:a="http://schemas.openxmlformats.org/drawingml/2006/main" noGrp="1"/>
          </p:cNvSpPr>
          <p:nvPr/>
        </p:nvSpPr>
        <p:spPr>
          <a:xfrm xmlns:a="http://schemas.openxmlformats.org/drawingml/2006/main">
            <a:off x="8362950" y="371475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作业闭环</a:t>
            </a:r>
          </a:p>
        </p:txBody>
      </p:sp>
      <p:sp>
        <p:nvSpPr>
          <p:cNvPr id="15" name="">
            <a:extLst xmlns:a="http://schemas.openxmlformats.org/drawingml/2006/main">
              <a:ext uri="{FF2B5EF4-FFF2-40B4-BE49-F238E27FC236}">
                <a16:creationId xmlns:a16="http://schemas.microsoft.com/office/drawing/2014/main" id="{0CE36C68-111D-4D7F-88AF-116F8FFD2183}"/>
              </a:ext>
            </a:extLst>
          </p:cNvPr>
          <p:cNvSpPr>
            <a:spLocks xmlns:a="http://schemas.openxmlformats.org/drawingml/2006/main" noGrp="1"/>
          </p:cNvSpPr>
          <p:nvPr/>
        </p:nvSpPr>
        <p:spPr>
          <a:xfrm xmlns:a="http://schemas.openxmlformats.org/drawingml/2006/main">
            <a:off x="8172450" y="4324350"/>
            <a:ext cx="2743200" cy="628650"/>
          </a:xfrm>
          <a:prstGeom xmlns:a="http://schemas.openxmlformats.org/drawingml/2006/main" prst="rect">
            <a:avLst/>
          </a:prstGeom>
          <a:ln xmlns:a="http://schemas.openxmlformats.org/drawingml/2006/main" w="9525">
            <a:prstDash val="solid"/>
          </a:ln>
        </p:spPr>
      </p:sp>
      <p:sp>
        <p:nvSpPr>
          <p:cNvPr id="16" name="">
            <a:extLst xmlns:a="http://schemas.openxmlformats.org/drawingml/2006/main">
              <a:ext uri="{FF2B5EF4-FFF2-40B4-BE49-F238E27FC236}">
                <a16:creationId xmlns:a16="http://schemas.microsoft.com/office/drawing/2014/main" id="{321868B5-A6A3-4674-A332-8EDCF85EDA13}"/>
              </a:ext>
            </a:extLst>
          </p:cNvPr>
          <p:cNvSpPr>
            <a:spLocks xmlns:a="http://schemas.openxmlformats.org/drawingml/2006/main" noGrp="1"/>
          </p:cNvSpPr>
          <p:nvPr/>
        </p:nvSpPr>
        <p:spPr>
          <a:xfrm xmlns:a="http://schemas.openxmlformats.org/drawingml/2006/main">
            <a:off x="8362950" y="44958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可复核</a:t>
            </a:r>
          </a:p>
        </p:txBody>
      </p:sp>
      <p:sp>
        <p:nvSpPr>
          <p:cNvPr id="17" name="">
            <a:extLst xmlns:a="http://schemas.openxmlformats.org/drawingml/2006/main">
              <a:ext uri="{FF2B5EF4-FFF2-40B4-BE49-F238E27FC236}">
                <a16:creationId xmlns:a16="http://schemas.microsoft.com/office/drawing/2014/main" id="{D447F063-A1E6-4C8F-AB38-668D67EDCDF3}"/>
              </a:ext>
            </a:extLst>
          </p:cNvPr>
          <p:cNvSpPr>
            <a:spLocks xmlns:a="http://schemas.openxmlformats.org/drawingml/2006/main" noGrp="1"/>
          </p:cNvSpPr>
          <p:nvPr/>
        </p:nvSpPr>
        <p:spPr>
          <a:xfrm xmlns:a="http://schemas.openxmlformats.org/drawingml/2006/main">
            <a:off x="8172450" y="5295900"/>
            <a:ext cx="2971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p>
        </p:txBody>
      </p:sp>
      <p:sp>
        <p:nvSpPr>
          <p:cNvPr id="18" name="">
            <a:extLst xmlns:a="http://schemas.openxmlformats.org/drawingml/2006/main">
              <a:ext uri="{FF2B5EF4-FFF2-40B4-BE49-F238E27FC236}">
                <a16:creationId xmlns:a16="http://schemas.microsoft.com/office/drawing/2014/main" id="{67E70069-5631-4EF6-AD18-FFF27542B08E}"/>
              </a:ext>
            </a:extLst>
          </p:cNvPr>
          <p:cNvSpPr>
            <a:spLocks xmlns:a="http://schemas.openxmlformats.org/drawingml/2006/main" noGrp="1"/>
          </p:cNvSpPr>
          <p:nvPr/>
        </p:nvSpPr>
        <p:spPr>
          <a:xfrm xmlns:a="http://schemas.openxmlformats.org/drawingml/2006/main">
            <a:off x="685800" y="20955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82FDC0B7-B4E8-447E-887F-48D8C24585E0}"/>
              </a:ext>
            </a:extLst>
          </p:cNvPr>
          <p:cNvSpPr>
            <a:spLocks xmlns:a="http://schemas.openxmlformats.org/drawingml/2006/main" noGrp="1"/>
          </p:cNvSpPr>
          <p:nvPr/>
        </p:nvSpPr>
        <p:spPr>
          <a:xfrm xmlns:a="http://schemas.openxmlformats.org/drawingml/2006/main">
            <a:off x="838200" y="222885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面向关联穿透审计，平台可汇聚和梳理多源数据：</a:t>
            </a:r>
          </a:p>
        </p:txBody>
      </p:sp>
      <p:sp>
        <p:nvSpPr>
          <p:cNvPr id="20" name="">
            <a:extLst xmlns:a="http://schemas.openxmlformats.org/drawingml/2006/main">
              <a:ext uri="{FF2B5EF4-FFF2-40B4-BE49-F238E27FC236}">
                <a16:creationId xmlns:a16="http://schemas.microsoft.com/office/drawing/2014/main" id="{A2773062-CD81-4BB5-961D-D965D350514D}"/>
              </a:ext>
            </a:extLst>
          </p:cNvPr>
          <p:cNvSpPr>
            <a:spLocks xmlns:a="http://schemas.openxmlformats.org/drawingml/2006/main" noGrp="1"/>
          </p:cNvSpPr>
          <p:nvPr/>
        </p:nvSpPr>
        <p:spPr>
          <a:xfrm xmlns:a="http://schemas.openxmlformats.org/drawingml/2006/main">
            <a:off x="838200" y="247650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人口库</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工商登记</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社保</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发票</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银行</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国库支付</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医院</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行驶证</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编办数据</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多维数据漫游结果</a:t>
            </a:r>
          </a:p>
        </p:txBody>
      </p:sp>
      <p:sp>
        <p:nvSpPr>
          <p:cNvPr id="21" name="">
            <a:extLst xmlns:a="http://schemas.openxmlformats.org/drawingml/2006/main">
              <a:ext uri="{FF2B5EF4-FFF2-40B4-BE49-F238E27FC236}">
                <a16:creationId xmlns:a16="http://schemas.microsoft.com/office/drawing/2014/main" id="{35DDEBC8-4D06-40CF-8C1F-1D232BD6D5C6}"/>
              </a:ext>
            </a:extLst>
          </p:cNvPr>
          <p:cNvSpPr>
            <a:spLocks xmlns:a="http://schemas.openxmlformats.org/drawingml/2006/main" noGrp="1"/>
          </p:cNvSpPr>
          <p:nvPr/>
        </p:nvSpPr>
        <p:spPr>
          <a:xfrm xmlns:a="http://schemas.openxmlformats.org/drawingml/2006/main">
            <a:off x="685800" y="3067050"/>
            <a:ext cx="6858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209F450E-B949-410A-94D5-FEBC02047BD0}"/>
              </a:ext>
            </a:extLst>
          </p:cNvPr>
          <p:cNvSpPr>
            <a:spLocks xmlns:a="http://schemas.openxmlformats.org/drawingml/2006/main" noGrp="1"/>
          </p:cNvSpPr>
          <p:nvPr/>
        </p:nvSpPr>
        <p:spPr>
          <a:xfrm xmlns:a="http://schemas.openxmlformats.org/drawingml/2006/main">
            <a:off x="838200" y="320040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知识图谱构建</a:t>
            </a:r>
          </a:p>
        </p:txBody>
      </p:sp>
      <p:sp>
        <p:nvSpPr>
          <p:cNvPr id="23" name="">
            <a:extLst xmlns:a="http://schemas.openxmlformats.org/drawingml/2006/main">
              <a:ext uri="{FF2B5EF4-FFF2-40B4-BE49-F238E27FC236}">
                <a16:creationId xmlns:a16="http://schemas.microsoft.com/office/drawing/2014/main" id="{00202A54-BF44-4DEA-B237-BF862EACF71E}"/>
              </a:ext>
            </a:extLst>
          </p:cNvPr>
          <p:cNvSpPr>
            <a:spLocks xmlns:a="http://schemas.openxmlformats.org/drawingml/2006/main" noGrp="1"/>
          </p:cNvSpPr>
          <p:nvPr/>
        </p:nvSpPr>
        <p:spPr>
          <a:xfrm xmlns:a="http://schemas.openxmlformats.org/drawingml/2006/main">
            <a:off x="838200" y="344805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实体类型</a:t>
            </a:r>
          </a:p>
        </p:txBody>
      </p:sp>
      <p:sp>
        <p:nvSpPr>
          <p:cNvPr id="24" name="">
            <a:extLst xmlns:a="http://schemas.openxmlformats.org/drawingml/2006/main">
              <a:ext uri="{FF2B5EF4-FFF2-40B4-BE49-F238E27FC236}">
                <a16:creationId xmlns:a16="http://schemas.microsoft.com/office/drawing/2014/main" id="{0D458966-D52B-4E71-A223-344F8B990C88}"/>
              </a:ext>
            </a:extLst>
          </p:cNvPr>
          <p:cNvSpPr>
            <a:spLocks xmlns:a="http://schemas.openxmlformats.org/drawingml/2006/main" noGrp="1"/>
          </p:cNvSpPr>
          <p:nvPr/>
        </p:nvSpPr>
        <p:spPr>
          <a:xfrm xmlns:a="http://schemas.openxmlformats.org/drawingml/2006/main">
            <a:off x="685800" y="40386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86F97343-52D0-40B8-9C13-484B15C5DD04}"/>
              </a:ext>
            </a:extLst>
          </p:cNvPr>
          <p:cNvSpPr>
            <a:spLocks xmlns:a="http://schemas.openxmlformats.org/drawingml/2006/main" noGrp="1"/>
          </p:cNvSpPr>
          <p:nvPr/>
        </p:nvSpPr>
        <p:spPr>
          <a:xfrm xmlns:a="http://schemas.openxmlformats.org/drawingml/2006/main">
            <a:off x="838200" y="4191000"/>
            <a:ext cx="65532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人员</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企业</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行政事业单位</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项目</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账户</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票据</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车辆</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医疗机构</a:t>
            </a:r>
          </a:p>
        </p:txBody>
      </p:sp>
      <p:sp>
        <p:nvSpPr>
          <p:cNvPr id="26" name="">
            <a:extLst xmlns:a="http://schemas.openxmlformats.org/drawingml/2006/main">
              <a:ext uri="{FF2B5EF4-FFF2-40B4-BE49-F238E27FC236}">
                <a16:creationId xmlns:a16="http://schemas.microsoft.com/office/drawing/2014/main" id="{402F8F6D-011B-4A81-80C7-2A18C54A019B}"/>
              </a:ext>
            </a:extLst>
          </p:cNvPr>
          <p:cNvSpPr>
            <a:spLocks xmlns:a="http://schemas.openxmlformats.org/drawingml/2006/main" noGrp="1"/>
          </p:cNvSpPr>
          <p:nvPr/>
        </p:nvSpPr>
        <p:spPr>
          <a:xfrm xmlns:a="http://schemas.openxmlformats.org/drawingml/2006/main">
            <a:off x="685800" y="5010150"/>
            <a:ext cx="6858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7" name="">
            <a:extLst xmlns:a="http://schemas.openxmlformats.org/drawingml/2006/main">
              <a:ext uri="{FF2B5EF4-FFF2-40B4-BE49-F238E27FC236}">
                <a16:creationId xmlns:a16="http://schemas.microsoft.com/office/drawing/2014/main" id="{5E5ADC52-56C9-4EA1-8C76-0B5B1D1A640F}"/>
              </a:ext>
            </a:extLst>
          </p:cNvPr>
          <p:cNvSpPr>
            <a:spLocks xmlns:a="http://schemas.openxmlformats.org/drawingml/2006/main" noGrp="1"/>
          </p:cNvSpPr>
          <p:nvPr/>
        </p:nvSpPr>
        <p:spPr>
          <a:xfrm xmlns:a="http://schemas.openxmlformats.org/drawingml/2006/main">
            <a:off x="838200" y="514350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关系类型</a:t>
            </a:r>
          </a:p>
        </p:txBody>
      </p:sp>
      <p:sp>
        <p:nvSpPr>
          <p:cNvPr id="28" name="">
            <a:extLst xmlns:a="http://schemas.openxmlformats.org/drawingml/2006/main">
              <a:ext uri="{FF2B5EF4-FFF2-40B4-BE49-F238E27FC236}">
                <a16:creationId xmlns:a16="http://schemas.microsoft.com/office/drawing/2014/main" id="{82073B1C-0A50-48D2-ABC8-0C49F5638C12}"/>
              </a:ext>
            </a:extLst>
          </p:cNvPr>
          <p:cNvSpPr>
            <a:spLocks xmlns:a="http://schemas.openxmlformats.org/drawingml/2006/main" noGrp="1"/>
          </p:cNvSpPr>
          <p:nvPr/>
        </p:nvSpPr>
        <p:spPr>
          <a:xfrm xmlns:a="http://schemas.openxmlformats.org/drawingml/2006/main">
            <a:off x="838200" y="539115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股权关系</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任职关系</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亲属 / 关联关系</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业务往来</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资金往来</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发票往来</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项目关联</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单位隶属</a:t>
            </a:r>
          </a:p>
        </p:txBody>
      </p:sp>
      <p:sp>
        <p:nvSpPr>
          <p:cNvPr id="29" name="">
            <a:extLst xmlns:a="http://schemas.openxmlformats.org/drawingml/2006/main">
              <a:ext uri="{FF2B5EF4-FFF2-40B4-BE49-F238E27FC236}">
                <a16:creationId xmlns:a16="http://schemas.microsoft.com/office/drawing/2014/main" id="{5A5CADFE-4694-461B-9008-E4D52C727A37}"/>
              </a:ext>
            </a:extLst>
          </p:cNvPr>
          <p:cNvSpPr>
            <a:spLocks xmlns:a="http://schemas.openxmlformats.org/drawingml/2006/main" noGrp="1"/>
          </p:cNvSpPr>
          <p:nvPr/>
        </p:nvSpPr>
        <p:spPr>
          <a:xfrm xmlns:a="http://schemas.openxmlformats.org/drawingml/2006/main">
            <a:off x="685800" y="59817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30" name="">
            <a:extLst xmlns:a="http://schemas.openxmlformats.org/drawingml/2006/main">
              <a:ext uri="{FF2B5EF4-FFF2-40B4-BE49-F238E27FC236}">
                <a16:creationId xmlns:a16="http://schemas.microsoft.com/office/drawing/2014/main" id="{6C54DE54-EFF2-4C5E-B1E2-0A4AA7DA2AD1}"/>
              </a:ext>
            </a:extLst>
          </p:cNvPr>
          <p:cNvSpPr>
            <a:spLocks xmlns:a="http://schemas.openxmlformats.org/drawingml/2006/main" noGrp="1"/>
          </p:cNvSpPr>
          <p:nvPr/>
        </p:nvSpPr>
        <p:spPr>
          <a:xfrm xmlns:a="http://schemas.openxmlformats.org/drawingml/2006/main">
            <a:off x="838200" y="611505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技术路径</a:t>
            </a:r>
          </a:p>
        </p:txBody>
      </p:sp>
      <p:sp>
        <p:nvSpPr>
          <p:cNvPr id="31" name="">
            <a:extLst xmlns:a="http://schemas.openxmlformats.org/drawingml/2006/main">
              <a:ext uri="{FF2B5EF4-FFF2-40B4-BE49-F238E27FC236}">
                <a16:creationId xmlns:a16="http://schemas.microsoft.com/office/drawing/2014/main" id="{3EC78965-3E8F-4E80-84AF-17B91883EB40}"/>
              </a:ext>
            </a:extLst>
          </p:cNvPr>
          <p:cNvSpPr>
            <a:spLocks xmlns:a="http://schemas.openxmlformats.org/drawingml/2006/main" noGrp="1"/>
          </p:cNvSpPr>
          <p:nvPr/>
        </p:nvSpPr>
        <p:spPr>
          <a:xfrm xmlns:a="http://schemas.openxmlformats.org/drawingml/2006/main">
            <a:off x="838200" y="636270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多源数据接入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重点实体识别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唯一标识归并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关系映射入图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路径穿透分析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AI 关系推理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疑点线索输出</a:t>
            </a:r>
          </a:p>
        </p:txBody>
      </p:sp>
    </p:spTree>
    <p:extLst>
      <p:ext uri="{BB962C8B-B14F-4D97-AF65-F5344CB8AC3E}">
        <p14:creationId xmlns:p14="http://schemas.microsoft.com/office/powerpoint/2010/main" val="34185475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F0D4CB-0F6F-40C3-A82C-410D958CAA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1AC71E6-1AB3-423A-9046-FF9EFD342884}"/>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0398803-9EF3-4B0A-B21D-D987A31D1644}"/>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FF8A3D"/>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3720637-174C-4CAD-A56B-3231D8AA77B9}"/>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贯通案例：工程项目供应链</a:t>
            </a:r>
          </a:p>
        </p:txBody>
      </p:sp>
      <p:sp>
        <p:nvSpPr>
          <p:cNvPr id="5" name="">
            <a:extLst xmlns:a="http://schemas.openxmlformats.org/drawingml/2006/main">
              <a:ext uri="{FF2B5EF4-FFF2-40B4-BE49-F238E27FC236}">
                <a16:creationId xmlns:a16="http://schemas.microsoft.com/office/drawing/2014/main" id="{133C5CB0-E63C-4816-9053-9DF7C2DEA019}"/>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80CF639B-53C3-45C3-8AB7-424E6AA76132}"/>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展示大模型语义识别和图谱关系组织结合后，能够解决传统主键关联无法处理的供应链贯通问题。</a:t>
            </a:r>
          </a:p>
        </p:txBody>
      </p:sp>
      <p:sp>
        <p:nvSpPr>
          <p:cNvPr id="7" name="">
            <a:extLst xmlns:a="http://schemas.openxmlformats.org/drawingml/2006/main">
              <a:ext uri="{FF2B5EF4-FFF2-40B4-BE49-F238E27FC236}">
                <a16:creationId xmlns:a16="http://schemas.microsoft.com/office/drawing/2014/main" id="{A4B1104F-AB10-4D35-B423-1D8B30E46FE1}"/>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1825C8F7-09AA-4D40-ADAD-DF16FBE335DA}"/>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27</a:t>
            </a:r>
          </a:p>
        </p:txBody>
      </p:sp>
      <p:sp>
        <p:nvSpPr>
          <p:cNvPr id="9" name="">
            <a:extLst xmlns:a="http://schemas.openxmlformats.org/drawingml/2006/main">
              <a:ext uri="{FF2B5EF4-FFF2-40B4-BE49-F238E27FC236}">
                <a16:creationId xmlns:a16="http://schemas.microsoft.com/office/drawing/2014/main" id="{ECFCEC0C-3C28-4BC8-B41C-585991BB011B}"/>
              </a:ext>
            </a:extLst>
          </p:cNvPr>
          <p:cNvSpPr>
            <a:spLocks xmlns:a="http://schemas.openxmlformats.org/drawingml/2006/main" noGrp="1"/>
          </p:cNvSpPr>
          <p:nvPr/>
        </p:nvSpPr>
        <p:spPr>
          <a:xfrm xmlns:a="http://schemas.openxmlformats.org/drawingml/2006/main">
            <a:off x="7905750" y="2076450"/>
            <a:ext cx="3543300" cy="3714750"/>
          </a:xfrm>
          <a:prstGeom xmlns:a="http://schemas.openxmlformats.org/drawingml/2006/main" prst="rect">
            <a:avLst/>
          </a:prstGeom>
          <a:solidFill xmlns:a="http://schemas.openxmlformats.org/drawingml/2006/main">
            <a:srgbClr val="0D1B2A"/>
          </a:solidFill>
          <a:ln xmlns:a="http://schemas.openxmlformats.org/drawingml/2006/main" w="0">
            <a:solidFill>
              <a:srgbClr val="0D1B2A"/>
            </a:solidFill>
            <a:prstDash val="solid"/>
          </a:ln>
        </p:spPr>
      </p:sp>
      <p:sp>
        <p:nvSpPr>
          <p:cNvPr id="10" name="">
            <a:extLst xmlns:a="http://schemas.openxmlformats.org/drawingml/2006/main">
              <a:ext uri="{FF2B5EF4-FFF2-40B4-BE49-F238E27FC236}">
                <a16:creationId xmlns:a16="http://schemas.microsoft.com/office/drawing/2014/main" id="{6EBD346B-C917-4EA5-AFC4-94D7FC0BF15D}"/>
              </a:ext>
            </a:extLst>
          </p:cNvPr>
          <p:cNvSpPr>
            <a:spLocks xmlns:a="http://schemas.openxmlformats.org/drawingml/2006/main" noGrp="1"/>
          </p:cNvSpPr>
          <p:nvPr/>
        </p:nvSpPr>
        <p:spPr>
          <a:xfrm xmlns:a="http://schemas.openxmlformats.org/drawingml/2006/main">
            <a:off x="8172450" y="2266950"/>
            <a:ext cx="3009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p>
        </p:txBody>
      </p:sp>
      <p:sp>
        <p:nvSpPr>
          <p:cNvPr id="11" name="">
            <a:extLst xmlns:a="http://schemas.openxmlformats.org/drawingml/2006/main">
              <a:ext uri="{FF2B5EF4-FFF2-40B4-BE49-F238E27FC236}">
                <a16:creationId xmlns:a16="http://schemas.microsoft.com/office/drawing/2014/main" id="{995EBFB3-277C-4689-B91E-018EF5D0C7CE}"/>
              </a:ext>
            </a:extLst>
          </p:cNvPr>
          <p:cNvSpPr>
            <a:spLocks xmlns:a="http://schemas.openxmlformats.org/drawingml/2006/main" noGrp="1"/>
          </p:cNvSpPr>
          <p:nvPr/>
        </p:nvSpPr>
        <p:spPr>
          <a:xfrm xmlns:a="http://schemas.openxmlformats.org/drawingml/2006/main">
            <a:off x="8172450" y="2762250"/>
            <a:ext cx="2743200" cy="628650"/>
          </a:xfrm>
          <a:prstGeom xmlns:a="http://schemas.openxmlformats.org/drawingml/2006/main" prst="rect">
            <a:avLst/>
          </a:prstGeom>
          <a:ln xmlns:a="http://schemas.openxmlformats.org/drawingml/2006/main" w="9525">
            <a:prstDash val="solid"/>
          </a:ln>
        </p:spPr>
      </p:sp>
      <p:sp>
        <p:nvSpPr>
          <p:cNvPr id="12" name="">
            <a:extLst xmlns:a="http://schemas.openxmlformats.org/drawingml/2006/main">
              <a:ext uri="{FF2B5EF4-FFF2-40B4-BE49-F238E27FC236}">
                <a16:creationId xmlns:a16="http://schemas.microsoft.com/office/drawing/2014/main" id="{E96FC672-E302-490B-8153-46A48D0997FF}"/>
              </a:ext>
            </a:extLst>
          </p:cNvPr>
          <p:cNvSpPr>
            <a:spLocks xmlns:a="http://schemas.openxmlformats.org/drawingml/2006/main" noGrp="1"/>
          </p:cNvSpPr>
          <p:nvPr/>
        </p:nvSpPr>
        <p:spPr>
          <a:xfrm xmlns:a="http://schemas.openxmlformats.org/drawingml/2006/main">
            <a:off x="8362950" y="29337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案例验证</a:t>
            </a:r>
          </a:p>
        </p:txBody>
      </p:sp>
      <p:sp>
        <p:nvSpPr>
          <p:cNvPr id="13" name="">
            <a:extLst xmlns:a="http://schemas.openxmlformats.org/drawingml/2006/main">
              <a:ext uri="{FF2B5EF4-FFF2-40B4-BE49-F238E27FC236}">
                <a16:creationId xmlns:a16="http://schemas.microsoft.com/office/drawing/2014/main" id="{4FC5538D-DDB4-4B06-ABDA-B8B8FB0C5FE1}"/>
              </a:ext>
            </a:extLst>
          </p:cNvPr>
          <p:cNvSpPr>
            <a:spLocks xmlns:a="http://schemas.openxmlformats.org/drawingml/2006/main" noGrp="1"/>
          </p:cNvSpPr>
          <p:nvPr/>
        </p:nvSpPr>
        <p:spPr>
          <a:xfrm xmlns:a="http://schemas.openxmlformats.org/drawingml/2006/main">
            <a:off x="8172450" y="3543300"/>
            <a:ext cx="2743200" cy="628650"/>
          </a:xfrm>
          <a:prstGeom xmlns:a="http://schemas.openxmlformats.org/drawingml/2006/main" prst="rect">
            <a:avLst/>
          </a:prstGeom>
          <a:ln xmlns:a="http://schemas.openxmlformats.org/drawingml/2006/main" w="9525">
            <a:prstDash val="solid"/>
          </a:ln>
        </p:spPr>
      </p:sp>
      <p:sp>
        <p:nvSpPr>
          <p:cNvPr id="14" name="">
            <a:extLst xmlns:a="http://schemas.openxmlformats.org/drawingml/2006/main">
              <a:ext uri="{FF2B5EF4-FFF2-40B4-BE49-F238E27FC236}">
                <a16:creationId xmlns:a16="http://schemas.microsoft.com/office/drawing/2014/main" id="{D542A2EB-9AF8-4F12-8E10-7E8CFADD734A}"/>
              </a:ext>
            </a:extLst>
          </p:cNvPr>
          <p:cNvSpPr>
            <a:spLocks xmlns:a="http://schemas.openxmlformats.org/drawingml/2006/main" noGrp="1"/>
          </p:cNvSpPr>
          <p:nvPr/>
        </p:nvSpPr>
        <p:spPr>
          <a:xfrm xmlns:a="http://schemas.openxmlformats.org/drawingml/2006/main">
            <a:off x="8362950" y="371475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作业闭环</a:t>
            </a:r>
          </a:p>
        </p:txBody>
      </p:sp>
      <p:sp>
        <p:nvSpPr>
          <p:cNvPr id="15" name="">
            <a:extLst xmlns:a="http://schemas.openxmlformats.org/drawingml/2006/main">
              <a:ext uri="{FF2B5EF4-FFF2-40B4-BE49-F238E27FC236}">
                <a16:creationId xmlns:a16="http://schemas.microsoft.com/office/drawing/2014/main" id="{670527A6-12D7-45F5-ABA3-661D15A5F69C}"/>
              </a:ext>
            </a:extLst>
          </p:cNvPr>
          <p:cNvSpPr>
            <a:spLocks xmlns:a="http://schemas.openxmlformats.org/drawingml/2006/main" noGrp="1"/>
          </p:cNvSpPr>
          <p:nvPr/>
        </p:nvSpPr>
        <p:spPr>
          <a:xfrm xmlns:a="http://schemas.openxmlformats.org/drawingml/2006/main">
            <a:off x="8172450" y="4324350"/>
            <a:ext cx="2743200" cy="628650"/>
          </a:xfrm>
          <a:prstGeom xmlns:a="http://schemas.openxmlformats.org/drawingml/2006/main" prst="rect">
            <a:avLst/>
          </a:prstGeom>
          <a:ln xmlns:a="http://schemas.openxmlformats.org/drawingml/2006/main" w="9525">
            <a:prstDash val="solid"/>
          </a:ln>
        </p:spPr>
      </p:sp>
      <p:sp>
        <p:nvSpPr>
          <p:cNvPr id="16" name="">
            <a:extLst xmlns:a="http://schemas.openxmlformats.org/drawingml/2006/main">
              <a:ext uri="{FF2B5EF4-FFF2-40B4-BE49-F238E27FC236}">
                <a16:creationId xmlns:a16="http://schemas.microsoft.com/office/drawing/2014/main" id="{AAF41FE4-825B-4AAE-B6F9-601E6D07B5AC}"/>
              </a:ext>
            </a:extLst>
          </p:cNvPr>
          <p:cNvSpPr>
            <a:spLocks xmlns:a="http://schemas.openxmlformats.org/drawingml/2006/main" noGrp="1"/>
          </p:cNvSpPr>
          <p:nvPr/>
        </p:nvSpPr>
        <p:spPr>
          <a:xfrm xmlns:a="http://schemas.openxmlformats.org/drawingml/2006/main">
            <a:off x="8362950" y="44958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可复核</a:t>
            </a:r>
          </a:p>
        </p:txBody>
      </p:sp>
      <p:sp>
        <p:nvSpPr>
          <p:cNvPr id="17" name="">
            <a:extLst xmlns:a="http://schemas.openxmlformats.org/drawingml/2006/main">
              <a:ext uri="{FF2B5EF4-FFF2-40B4-BE49-F238E27FC236}">
                <a16:creationId xmlns:a16="http://schemas.microsoft.com/office/drawing/2014/main" id="{3390AC51-F5E8-45E7-AE34-31AFDC4D0F2D}"/>
              </a:ext>
            </a:extLst>
          </p:cNvPr>
          <p:cNvSpPr>
            <a:spLocks xmlns:a="http://schemas.openxmlformats.org/drawingml/2006/main" noGrp="1"/>
          </p:cNvSpPr>
          <p:nvPr/>
        </p:nvSpPr>
        <p:spPr>
          <a:xfrm xmlns:a="http://schemas.openxmlformats.org/drawingml/2006/main">
            <a:off x="8172450" y="5295900"/>
            <a:ext cx="2971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p>
        </p:txBody>
      </p:sp>
      <p:sp>
        <p:nvSpPr>
          <p:cNvPr id="18" name="">
            <a:extLst xmlns:a="http://schemas.openxmlformats.org/drawingml/2006/main">
              <a:ext uri="{FF2B5EF4-FFF2-40B4-BE49-F238E27FC236}">
                <a16:creationId xmlns:a16="http://schemas.microsoft.com/office/drawing/2014/main" id="{0A373A16-68B3-4762-A0CC-AEBACE596684}"/>
              </a:ext>
            </a:extLst>
          </p:cNvPr>
          <p:cNvSpPr>
            <a:spLocks xmlns:a="http://schemas.openxmlformats.org/drawingml/2006/main" noGrp="1"/>
          </p:cNvSpPr>
          <p:nvPr/>
        </p:nvSpPr>
        <p:spPr>
          <a:xfrm xmlns:a="http://schemas.openxmlformats.org/drawingml/2006/main">
            <a:off x="685800" y="20955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DC6C526E-1546-4544-879D-40D9C314D775}"/>
              </a:ext>
            </a:extLst>
          </p:cNvPr>
          <p:cNvSpPr>
            <a:spLocks xmlns:a="http://schemas.openxmlformats.org/drawingml/2006/main" noGrp="1"/>
          </p:cNvSpPr>
          <p:nvPr/>
        </p:nvSpPr>
        <p:spPr>
          <a:xfrm xmlns:a="http://schemas.openxmlformats.org/drawingml/2006/main">
            <a:off x="838200" y="2247900"/>
            <a:ext cx="65532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贯通案例：基于数据贯通，描绘工程项目有关供应链</a:t>
            </a:r>
          </a:p>
        </p:txBody>
      </p:sp>
      <p:sp>
        <p:nvSpPr>
          <p:cNvPr id="20" name="">
            <a:extLst xmlns:a="http://schemas.openxmlformats.org/drawingml/2006/main">
              <a:ext uri="{FF2B5EF4-FFF2-40B4-BE49-F238E27FC236}">
                <a16:creationId xmlns:a16="http://schemas.microsoft.com/office/drawing/2014/main" id="{917109F0-2B9B-4A64-81DE-B6DFF460ED01}"/>
              </a:ext>
            </a:extLst>
          </p:cNvPr>
          <p:cNvSpPr>
            <a:spLocks xmlns:a="http://schemas.openxmlformats.org/drawingml/2006/main" noGrp="1"/>
          </p:cNvSpPr>
          <p:nvPr/>
        </p:nvSpPr>
        <p:spPr>
          <a:xfrm xmlns:a="http://schemas.openxmlformats.org/drawingml/2006/main">
            <a:off x="685800" y="3067050"/>
            <a:ext cx="6858000" cy="888111"/>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1" name="">
            <a:extLst xmlns:a="http://schemas.openxmlformats.org/drawingml/2006/main">
              <a:ext uri="{FF2B5EF4-FFF2-40B4-BE49-F238E27FC236}">
                <a16:creationId xmlns:a16="http://schemas.microsoft.com/office/drawing/2014/main" id="{0AB41432-520A-488A-BE55-68BBEF6FCBDE}"/>
              </a:ext>
            </a:extLst>
          </p:cNvPr>
          <p:cNvSpPr>
            <a:spLocks xmlns:a="http://schemas.openxmlformats.org/drawingml/2006/main" noGrp="1"/>
          </p:cNvSpPr>
          <p:nvPr/>
        </p:nvSpPr>
        <p:spPr>
          <a:xfrm xmlns:a="http://schemas.openxmlformats.org/drawingml/2006/main">
            <a:off x="838200" y="320040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审计场景</a:t>
            </a:r>
          </a:p>
        </p:txBody>
      </p:sp>
      <p:sp>
        <p:nvSpPr>
          <p:cNvPr id="22" name="">
            <a:extLst xmlns:a="http://schemas.openxmlformats.org/drawingml/2006/main">
              <a:ext uri="{FF2B5EF4-FFF2-40B4-BE49-F238E27FC236}">
                <a16:creationId xmlns:a16="http://schemas.microsoft.com/office/drawing/2014/main" id="{AA577D03-118C-4209-A1A1-7FE43CB1B1AD}"/>
              </a:ext>
            </a:extLst>
          </p:cNvPr>
          <p:cNvSpPr>
            <a:spLocks xmlns:a="http://schemas.openxmlformats.org/drawingml/2006/main" noGrp="1"/>
          </p:cNvSpPr>
          <p:nvPr/>
        </p:nvSpPr>
        <p:spPr>
          <a:xfrm xmlns:a="http://schemas.openxmlformats.org/drawingml/2006/main">
            <a:off x="838200" y="3448050"/>
            <a:ext cx="6553200" cy="411861"/>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工程项目审计中，发票备注、合同信息、供应商信息和项目资料之间存在大量关联关系。理论上，可以通过这些信息绘制项目有关供应链，辅助识别供应链异常、关联交易、履约风险和价格异常。</a:t>
            </a:r>
          </a:p>
        </p:txBody>
      </p:sp>
      <p:sp>
        <p:nvSpPr>
          <p:cNvPr id="23" name="">
            <a:extLst xmlns:a="http://schemas.openxmlformats.org/drawingml/2006/main">
              <a:ext uri="{FF2B5EF4-FFF2-40B4-BE49-F238E27FC236}">
                <a16:creationId xmlns:a16="http://schemas.microsoft.com/office/drawing/2014/main" id="{5DA3B540-52AB-41EF-BD80-1EEA666F6BC6}"/>
              </a:ext>
            </a:extLst>
          </p:cNvPr>
          <p:cNvSpPr>
            <a:spLocks xmlns:a="http://schemas.openxmlformats.org/drawingml/2006/main" noGrp="1"/>
          </p:cNvSpPr>
          <p:nvPr/>
        </p:nvSpPr>
        <p:spPr>
          <a:xfrm xmlns:a="http://schemas.openxmlformats.org/drawingml/2006/main">
            <a:off x="685800" y="4069461"/>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4" name="">
            <a:extLst xmlns:a="http://schemas.openxmlformats.org/drawingml/2006/main">
              <a:ext uri="{FF2B5EF4-FFF2-40B4-BE49-F238E27FC236}">
                <a16:creationId xmlns:a16="http://schemas.microsoft.com/office/drawing/2014/main" id="{3B665779-512C-45C6-B175-509606FF6547}"/>
              </a:ext>
            </a:extLst>
          </p:cNvPr>
          <p:cNvSpPr>
            <a:spLocks xmlns:a="http://schemas.openxmlformats.org/drawingml/2006/main" noGrp="1"/>
          </p:cNvSpPr>
          <p:nvPr/>
        </p:nvSpPr>
        <p:spPr>
          <a:xfrm xmlns:a="http://schemas.openxmlformats.org/drawingml/2006/main">
            <a:off x="838200" y="4202811"/>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传统痛点</a:t>
            </a:r>
          </a:p>
        </p:txBody>
      </p:sp>
      <p:sp>
        <p:nvSpPr>
          <p:cNvPr id="25" name="">
            <a:extLst xmlns:a="http://schemas.openxmlformats.org/drawingml/2006/main">
              <a:ext uri="{FF2B5EF4-FFF2-40B4-BE49-F238E27FC236}">
                <a16:creationId xmlns:a16="http://schemas.microsoft.com/office/drawing/2014/main" id="{364F9DB1-BB5D-419A-A9B7-71D7B69B5B7E}"/>
              </a:ext>
            </a:extLst>
          </p:cNvPr>
          <p:cNvSpPr>
            <a:spLocks xmlns:a="http://schemas.openxmlformats.org/drawingml/2006/main" noGrp="1"/>
          </p:cNvSpPr>
          <p:nvPr/>
        </p:nvSpPr>
        <p:spPr>
          <a:xfrm xmlns:a="http://schemas.openxmlformats.org/drawingml/2006/main">
            <a:off x="838200" y="4450461"/>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实际业务数据中经常存在：</a:t>
            </a:r>
          </a:p>
        </p:txBody>
      </p:sp>
      <p:sp>
        <p:nvSpPr>
          <p:cNvPr id="26" name="">
            <a:extLst xmlns:a="http://schemas.openxmlformats.org/drawingml/2006/main">
              <a:ext uri="{FF2B5EF4-FFF2-40B4-BE49-F238E27FC236}">
                <a16:creationId xmlns:a16="http://schemas.microsoft.com/office/drawing/2014/main" id="{9A6836BF-4FAC-4021-B77C-37BBD2647675}"/>
              </a:ext>
            </a:extLst>
          </p:cNvPr>
          <p:cNvSpPr>
            <a:spLocks xmlns:a="http://schemas.openxmlformats.org/drawingml/2006/main" noGrp="1"/>
          </p:cNvSpPr>
          <p:nvPr/>
        </p:nvSpPr>
        <p:spPr>
          <a:xfrm xmlns:a="http://schemas.openxmlformats.org/drawingml/2006/main">
            <a:off x="685800" y="5041011"/>
            <a:ext cx="6858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7" name="">
            <a:extLst xmlns:a="http://schemas.openxmlformats.org/drawingml/2006/main">
              <a:ext uri="{FF2B5EF4-FFF2-40B4-BE49-F238E27FC236}">
                <a16:creationId xmlns:a16="http://schemas.microsoft.com/office/drawing/2014/main" id="{0B8D7C8B-E44A-407F-94DB-37A6A4E6241A}"/>
              </a:ext>
            </a:extLst>
          </p:cNvPr>
          <p:cNvSpPr>
            <a:spLocks xmlns:a="http://schemas.openxmlformats.org/drawingml/2006/main" noGrp="1"/>
          </p:cNvSpPr>
          <p:nvPr/>
        </p:nvSpPr>
        <p:spPr>
          <a:xfrm xmlns:a="http://schemas.openxmlformats.org/drawingml/2006/main">
            <a:off x="838200" y="5193411"/>
            <a:ext cx="65532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项目名称缺字</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简称与全称混用</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同义词表达</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供应商名称不一致</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发票备注不规范</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合同名称与项目名称无法直接匹配</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同一货物或服务在不同系统中表述不同</a:t>
            </a:r>
          </a:p>
        </p:txBody>
      </p:sp>
      <p:sp>
        <p:nvSpPr>
          <p:cNvPr id="28" name="">
            <a:extLst xmlns:a="http://schemas.openxmlformats.org/drawingml/2006/main">
              <a:ext uri="{FF2B5EF4-FFF2-40B4-BE49-F238E27FC236}">
                <a16:creationId xmlns:a16="http://schemas.microsoft.com/office/drawing/2014/main" id="{9FEBB586-804C-46AB-BFB0-2D2C87D89D8E}"/>
              </a:ext>
            </a:extLst>
          </p:cNvPr>
          <p:cNvSpPr>
            <a:spLocks xmlns:a="http://schemas.openxmlformats.org/drawingml/2006/main" noGrp="1"/>
          </p:cNvSpPr>
          <p:nvPr/>
        </p:nvSpPr>
        <p:spPr>
          <a:xfrm xmlns:a="http://schemas.openxmlformats.org/drawingml/2006/main">
            <a:off x="685800" y="6012561"/>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9" name="">
            <a:extLst xmlns:a="http://schemas.openxmlformats.org/drawingml/2006/main">
              <a:ext uri="{FF2B5EF4-FFF2-40B4-BE49-F238E27FC236}">
                <a16:creationId xmlns:a16="http://schemas.microsoft.com/office/drawing/2014/main" id="{A9948C11-7EC6-4A17-8909-B8CECA382B39}"/>
              </a:ext>
            </a:extLst>
          </p:cNvPr>
          <p:cNvSpPr>
            <a:spLocks xmlns:a="http://schemas.openxmlformats.org/drawingml/2006/main" noGrp="1"/>
          </p:cNvSpPr>
          <p:nvPr/>
        </p:nvSpPr>
        <p:spPr>
          <a:xfrm xmlns:a="http://schemas.openxmlformats.org/drawingml/2006/main">
            <a:off x="838200" y="6164961"/>
            <a:ext cx="65532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这些问题导致同一个项目、同一个供应商或同一类货物在不同系统中“连不上”，人工整理成本高，也难以批量复用。</a:t>
            </a:r>
          </a:p>
        </p:txBody>
      </p:sp>
    </p:spTree>
    <p:extLst>
      <p:ext uri="{BB962C8B-B14F-4D97-AF65-F5344CB8AC3E}">
        <p14:creationId xmlns:p14="http://schemas.microsoft.com/office/powerpoint/2010/main" val="1054254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0A9C99-7B8D-4EB5-A8ED-3B9F90FD3CD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8DF7F53-D3EA-45BF-9331-2315306B9189}"/>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2C8B736-EC2D-4204-9408-4D767FF21E9B}"/>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52B3092-63A3-4021-B476-262F44A6D708}"/>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综合分析平台：任务执行与应用承接</a:t>
            </a:r>
          </a:p>
        </p:txBody>
      </p:sp>
      <p:sp>
        <p:nvSpPr>
          <p:cNvPr id="5" name="">
            <a:extLst xmlns:a="http://schemas.openxmlformats.org/drawingml/2006/main">
              <a:ext uri="{FF2B5EF4-FFF2-40B4-BE49-F238E27FC236}">
                <a16:creationId xmlns:a16="http://schemas.microsoft.com/office/drawing/2014/main" id="{AA3506D4-7570-4425-8CDA-99808F56F4EF}"/>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CC21D763-941C-4DD9-A7B3-A39BB6CF951B}"/>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把综合分析平台定位为 AI 审计作业执行层，承接前面智能体、数据治理和图谱能力。</a:t>
            </a:r>
          </a:p>
        </p:txBody>
      </p:sp>
      <p:sp>
        <p:nvSpPr>
          <p:cNvPr id="7" name="">
            <a:extLst xmlns:a="http://schemas.openxmlformats.org/drawingml/2006/main">
              <a:ext uri="{FF2B5EF4-FFF2-40B4-BE49-F238E27FC236}">
                <a16:creationId xmlns:a16="http://schemas.microsoft.com/office/drawing/2014/main" id="{049F89D6-3C16-47D1-A450-87CA3B0A6488}"/>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540474B2-DE4F-4887-8495-FB5192BB1259}"/>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28</a:t>
            </a:r>
          </a:p>
        </p:txBody>
      </p:sp>
      <p:sp>
        <p:nvSpPr>
          <p:cNvPr id="9" name="">
            <a:extLst xmlns:a="http://schemas.openxmlformats.org/drawingml/2006/main">
              <a:ext uri="{FF2B5EF4-FFF2-40B4-BE49-F238E27FC236}">
                <a16:creationId xmlns:a16="http://schemas.microsoft.com/office/drawing/2014/main" id="{5ABC767B-A69C-40EB-99F0-2A4B916A9852}"/>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7E46F23B-6FFF-4BA4-9DBC-B929CCEDC428}"/>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综合分析平台：人机协同的统一工作入口与审计作业执行层</a:t>
            </a:r>
          </a:p>
        </p:txBody>
      </p:sp>
      <p:sp>
        <p:nvSpPr>
          <p:cNvPr id="11" name="">
            <a:extLst xmlns:a="http://schemas.openxmlformats.org/drawingml/2006/main">
              <a:ext uri="{FF2B5EF4-FFF2-40B4-BE49-F238E27FC236}">
                <a16:creationId xmlns:a16="http://schemas.microsoft.com/office/drawing/2014/main" id="{14334E45-E3E9-49FC-BEAB-B452743A88D4}"/>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DFA698FB-3673-4632-B890-4EF782DEF924}"/>
              </a:ext>
            </a:extLst>
          </p:cNvPr>
          <p:cNvSpPr>
            <a:spLocks xmlns:a="http://schemas.openxmlformats.org/drawingml/2006/main" noGrp="1"/>
          </p:cNvSpPr>
          <p:nvPr/>
        </p:nvSpPr>
        <p:spPr>
          <a:xfrm xmlns:a="http://schemas.openxmlformats.org/drawingml/2006/main">
            <a:off x="838200" y="321945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综合分析平台将数据、知识、图谱、智能体和审计成果统一收口，形成审计人员可操作、可复核、可沉淀的人机协同工作台。</a:t>
            </a:r>
          </a:p>
        </p:txBody>
      </p:sp>
      <p:sp>
        <p:nvSpPr>
          <p:cNvPr id="13" name="">
            <a:extLst xmlns:a="http://schemas.openxmlformats.org/drawingml/2006/main">
              <a:ext uri="{FF2B5EF4-FFF2-40B4-BE49-F238E27FC236}">
                <a16:creationId xmlns:a16="http://schemas.microsoft.com/office/drawing/2014/main" id="{41328499-620B-47AD-988F-90C53E7795C5}"/>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4" name="">
            <a:extLst xmlns:a="http://schemas.openxmlformats.org/drawingml/2006/main">
              <a:ext uri="{FF2B5EF4-FFF2-40B4-BE49-F238E27FC236}">
                <a16:creationId xmlns:a16="http://schemas.microsoft.com/office/drawing/2014/main" id="{CD83E6C5-7078-4D44-9778-C3DAF0F1B491}"/>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赋予 AI 行动能力</a:t>
            </a:r>
          </a:p>
        </p:txBody>
      </p:sp>
      <p:sp>
        <p:nvSpPr>
          <p:cNvPr id="15" name="">
            <a:extLst xmlns:a="http://schemas.openxmlformats.org/drawingml/2006/main">
              <a:ext uri="{FF2B5EF4-FFF2-40B4-BE49-F238E27FC236}">
                <a16:creationId xmlns:a16="http://schemas.microsoft.com/office/drawing/2014/main" id="{33D3C44C-6CC0-4A35-B508-555B401515C0}"/>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为大模型配置读取、检索、抽取、比对、计算、生成等原子化工具，使其能够围绕具体审计任务执行多步骤操作。</a:t>
            </a:r>
          </a:p>
        </p:txBody>
      </p:sp>
      <p:sp>
        <p:nvSpPr>
          <p:cNvPr id="16" name="">
            <a:extLst xmlns:a="http://schemas.openxmlformats.org/drawingml/2006/main">
              <a:ext uri="{FF2B5EF4-FFF2-40B4-BE49-F238E27FC236}">
                <a16:creationId xmlns:a16="http://schemas.microsoft.com/office/drawing/2014/main" id="{B9F3E74D-20F7-4062-9841-F6CD37E07D03}"/>
              </a:ext>
            </a:extLst>
          </p:cNvPr>
          <p:cNvSpPr>
            <a:spLocks xmlns:a="http://schemas.openxmlformats.org/drawingml/2006/main" noGrp="1"/>
          </p:cNvSpPr>
          <p:nvPr/>
        </p:nvSpPr>
        <p:spPr>
          <a:xfrm xmlns:a="http://schemas.openxmlformats.org/drawingml/2006/main">
            <a:off x="6858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7" name="">
            <a:extLst xmlns:a="http://schemas.openxmlformats.org/drawingml/2006/main">
              <a:ext uri="{FF2B5EF4-FFF2-40B4-BE49-F238E27FC236}">
                <a16:creationId xmlns:a16="http://schemas.microsoft.com/office/drawing/2014/main" id="{A7ACF0B6-C944-4CC3-BF98-E70E48867999}"/>
              </a:ext>
            </a:extLst>
          </p:cNvPr>
          <p:cNvSpPr>
            <a:spLocks xmlns:a="http://schemas.openxmlformats.org/drawingml/2006/main" noGrp="1"/>
          </p:cNvSpPr>
          <p:nvPr/>
        </p:nvSpPr>
        <p:spPr>
          <a:xfrm xmlns:a="http://schemas.openxmlformats.org/drawingml/2006/main">
            <a:off x="8382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赋予 AI 专业能力</a:t>
            </a:r>
          </a:p>
        </p:txBody>
      </p:sp>
      <p:sp>
        <p:nvSpPr>
          <p:cNvPr id="18" name="">
            <a:extLst xmlns:a="http://schemas.openxmlformats.org/drawingml/2006/main">
              <a:ext uri="{FF2B5EF4-FFF2-40B4-BE49-F238E27FC236}">
                <a16:creationId xmlns:a16="http://schemas.microsoft.com/office/drawing/2014/main" id="{388C1C13-0B48-4905-A7B4-2F1E29180A58}"/>
              </a:ext>
            </a:extLst>
          </p:cNvPr>
          <p:cNvSpPr>
            <a:spLocks xmlns:a="http://schemas.openxmlformats.org/drawingml/2006/main" noGrp="1"/>
          </p:cNvSpPr>
          <p:nvPr/>
        </p:nvSpPr>
        <p:spPr>
          <a:xfrm xmlns:a="http://schemas.openxmlformats.org/drawingml/2006/main">
            <a:off x="8382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将专家的核查逻辑、规则匹配方式、风险识别方法和处置要求沉淀为标准化技能，支持重复调用和批量执行。</a:t>
            </a:r>
          </a:p>
        </p:txBody>
      </p:sp>
      <p:sp>
        <p:nvSpPr>
          <p:cNvPr id="19" name="">
            <a:extLst xmlns:a="http://schemas.openxmlformats.org/drawingml/2006/main">
              <a:ext uri="{FF2B5EF4-FFF2-40B4-BE49-F238E27FC236}">
                <a16:creationId xmlns:a16="http://schemas.microsoft.com/office/drawing/2014/main" id="{231B8C94-046B-44A0-BD03-4F3507798EFA}"/>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0" name="">
            <a:extLst xmlns:a="http://schemas.openxmlformats.org/drawingml/2006/main">
              <a:ext uri="{FF2B5EF4-FFF2-40B4-BE49-F238E27FC236}">
                <a16:creationId xmlns:a16="http://schemas.microsoft.com/office/drawing/2014/main" id="{B2C51998-1DD6-4C9A-9192-5829B39A1A09}"/>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统一的项目工作空间</a:t>
            </a:r>
          </a:p>
        </p:txBody>
      </p:sp>
      <p:sp>
        <p:nvSpPr>
          <p:cNvPr id="21" name="">
            <a:extLst xmlns:a="http://schemas.openxmlformats.org/drawingml/2006/main">
              <a:ext uri="{FF2B5EF4-FFF2-40B4-BE49-F238E27FC236}">
                <a16:creationId xmlns:a16="http://schemas.microsoft.com/office/drawing/2014/main" id="{1144B1FA-E97B-48B4-BED9-853C63F886EE}"/>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每个专项任务拥有独立隔离空间，项目资料、关联数据库、图谱、知识库、审计技能和任务结果按权限统一管理，避免工具分散、数据散落和成果难沉淀。</a:t>
            </a:r>
          </a:p>
        </p:txBody>
      </p:sp>
      <p:sp>
        <p:nvSpPr>
          <p:cNvPr id="22" name="">
            <a:extLst xmlns:a="http://schemas.openxmlformats.org/drawingml/2006/main">
              <a:ext uri="{FF2B5EF4-FFF2-40B4-BE49-F238E27FC236}">
                <a16:creationId xmlns:a16="http://schemas.microsoft.com/office/drawing/2014/main" id="{1FC597C0-F902-407D-AE68-5028C93AB154}"/>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3" name="">
            <a:extLst xmlns:a="http://schemas.openxmlformats.org/drawingml/2006/main">
              <a:ext uri="{FF2B5EF4-FFF2-40B4-BE49-F238E27FC236}">
                <a16:creationId xmlns:a16="http://schemas.microsoft.com/office/drawing/2014/main" id="{93087ED7-AFD0-4B65-A904-70C6A5F47EDA}"/>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沉浸式审计助手交互</a:t>
            </a:r>
          </a:p>
        </p:txBody>
      </p:sp>
      <p:sp>
        <p:nvSpPr>
          <p:cNvPr id="24" name="">
            <a:extLst xmlns:a="http://schemas.openxmlformats.org/drawingml/2006/main">
              <a:ext uri="{FF2B5EF4-FFF2-40B4-BE49-F238E27FC236}">
                <a16:creationId xmlns:a16="http://schemas.microsoft.com/office/drawing/2014/main" id="{5C530EF9-8EFC-4D51-8E1D-58A7EE0A9C9D}"/>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审计人员可在同一界面中查看资料、调用图谱、查询数据库、检索制度，并通过自然语言引导 AI 开展风险识别、关联分析和线索追溯。</a:t>
            </a:r>
          </a:p>
        </p:txBody>
      </p:sp>
      <p:sp>
        <p:nvSpPr>
          <p:cNvPr id="25" name="">
            <a:extLst xmlns:a="http://schemas.openxmlformats.org/drawingml/2006/main">
              <a:ext uri="{FF2B5EF4-FFF2-40B4-BE49-F238E27FC236}">
                <a16:creationId xmlns:a16="http://schemas.microsoft.com/office/drawing/2014/main" id="{67BEB9DB-F211-485E-9EC5-014AEA42C176}"/>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6" name="">
            <a:extLst xmlns:a="http://schemas.openxmlformats.org/drawingml/2006/main">
              <a:ext uri="{FF2B5EF4-FFF2-40B4-BE49-F238E27FC236}">
                <a16:creationId xmlns:a16="http://schemas.microsoft.com/office/drawing/2014/main" id="{C5FDB675-47EA-4B03-BDFF-915F0E807414}"/>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审计技能沉淀</a:t>
            </a:r>
          </a:p>
        </p:txBody>
      </p:sp>
      <p:sp>
        <p:nvSpPr>
          <p:cNvPr id="27" name="">
            <a:extLst xmlns:a="http://schemas.openxmlformats.org/drawingml/2006/main">
              <a:ext uri="{FF2B5EF4-FFF2-40B4-BE49-F238E27FC236}">
                <a16:creationId xmlns:a16="http://schemas.microsoft.com/office/drawing/2014/main" id="{0DBBCAA1-4F02-4236-AFE2-11CDA6A9B4E1}"/>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审计人员在平台中完成一次高质量的数据核查、风险分析、线索研判或依据链构建后，可以将其中的核查路径、判断规则、分析步骤和引用依据沉淀为标准化审计技能。</a:t>
            </a:r>
          </a:p>
        </p:txBody>
      </p:sp>
      <p:sp>
        <p:nvSpPr>
          <p:cNvPr id="28" name="">
            <a:extLst xmlns:a="http://schemas.openxmlformats.org/drawingml/2006/main">
              <a:ext uri="{FF2B5EF4-FFF2-40B4-BE49-F238E27FC236}">
                <a16:creationId xmlns:a16="http://schemas.microsoft.com/office/drawing/2014/main" id="{403CBA7F-05A9-48B9-94EF-35410916CB27}"/>
              </a:ext>
            </a:extLst>
          </p:cNvPr>
          <p:cNvSpPr>
            <a:spLocks xmlns:a="http://schemas.openxmlformats.org/drawingml/2006/main" noGrp="1"/>
          </p:cNvSpPr>
          <p:nvPr/>
        </p:nvSpPr>
        <p:spPr>
          <a:xfrm xmlns:a="http://schemas.openxmlformats.org/drawingml/2006/main">
            <a:off x="62865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9" name="">
            <a:extLst xmlns:a="http://schemas.openxmlformats.org/drawingml/2006/main">
              <a:ext uri="{FF2B5EF4-FFF2-40B4-BE49-F238E27FC236}">
                <a16:creationId xmlns:a16="http://schemas.microsoft.com/office/drawing/2014/main" id="{73E57A62-D5CD-443D-B12D-4B712A261C82}"/>
              </a:ext>
            </a:extLst>
          </p:cNvPr>
          <p:cNvSpPr>
            <a:spLocks xmlns:a="http://schemas.openxmlformats.org/drawingml/2006/main" noGrp="1"/>
          </p:cNvSpPr>
          <p:nvPr/>
        </p:nvSpPr>
        <p:spPr>
          <a:xfrm xmlns:a="http://schemas.openxmlformats.org/drawingml/2006/main">
            <a:off x="64389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一句话表达：</a:t>
            </a:r>
          </a:p>
        </p:txBody>
      </p:sp>
      <p:sp>
        <p:nvSpPr>
          <p:cNvPr id="30" name="">
            <a:extLst xmlns:a="http://schemas.openxmlformats.org/drawingml/2006/main">
              <a:ext uri="{FF2B5EF4-FFF2-40B4-BE49-F238E27FC236}">
                <a16:creationId xmlns:a16="http://schemas.microsoft.com/office/drawing/2014/main" id="{AC01E100-B678-46E9-9361-D8904244F911}"/>
              </a:ext>
            </a:extLst>
          </p:cNvPr>
          <p:cNvSpPr>
            <a:spLocks xmlns:a="http://schemas.openxmlformats.org/drawingml/2006/main" noGrp="1"/>
          </p:cNvSpPr>
          <p:nvPr/>
        </p:nvSpPr>
        <p:spPr>
          <a:xfrm xmlns:a="http://schemas.openxmlformats.org/drawingml/2006/main">
            <a:off x="64389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综合分析平台不是简单工作台，而是把数据治理、图谱推理和智能体编排能力转化为审计任务执行和成果沉淀的作业层。</a:t>
            </a:r>
          </a:p>
        </p:txBody>
      </p:sp>
    </p:spTree>
    <p:extLst>
      <p:ext uri="{BB962C8B-B14F-4D97-AF65-F5344CB8AC3E}">
        <p14:creationId xmlns:p14="http://schemas.microsoft.com/office/powerpoint/2010/main" val="34682777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78D869-A65B-46BC-85AC-F272627D3F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AD4376C-CEBD-42EA-8897-28DD2AA6D9F2}"/>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AA2B139-06B6-48B6-8E4E-BE5C80088352}"/>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54822BB-9A42-48C6-9266-3A8EFCE6B953}"/>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OCR 引擎与文档智能处理</a:t>
            </a:r>
          </a:p>
        </p:txBody>
      </p:sp>
      <p:sp>
        <p:nvSpPr>
          <p:cNvPr id="5" name="">
            <a:extLst xmlns:a="http://schemas.openxmlformats.org/drawingml/2006/main">
              <a:ext uri="{FF2B5EF4-FFF2-40B4-BE49-F238E27FC236}">
                <a16:creationId xmlns:a16="http://schemas.microsoft.com/office/drawing/2014/main" id="{393CA0F4-1033-4087-9491-5A9A63D64F1B}"/>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DF8D1A0B-8525-4371-B4C6-E183FC74A710}"/>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说明综合分析平台承接海量审计资料的前置解析能力，尤其适配专网和复杂文档环境。</a:t>
            </a:r>
          </a:p>
        </p:txBody>
      </p:sp>
      <p:sp>
        <p:nvSpPr>
          <p:cNvPr id="7" name="">
            <a:extLst xmlns:a="http://schemas.openxmlformats.org/drawingml/2006/main">
              <a:ext uri="{FF2B5EF4-FFF2-40B4-BE49-F238E27FC236}">
                <a16:creationId xmlns:a16="http://schemas.microsoft.com/office/drawing/2014/main" id="{CF5CF4D7-F6E7-4B97-B1B0-5B52531672EE}"/>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7DB79762-B26B-42A0-9AD7-D5190BE45C54}"/>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29</a:t>
            </a:r>
          </a:p>
        </p:txBody>
      </p:sp>
      <p:sp>
        <p:nvSpPr>
          <p:cNvPr id="9" name="">
            <a:extLst xmlns:a="http://schemas.openxmlformats.org/drawingml/2006/main">
              <a:ext uri="{FF2B5EF4-FFF2-40B4-BE49-F238E27FC236}">
                <a16:creationId xmlns:a16="http://schemas.microsoft.com/office/drawing/2014/main" id="{3B69E580-EEFB-45B4-8575-1A41220434F5}"/>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DD4CDE98-9054-49C0-8F9F-A980533CD576}"/>
              </a:ext>
            </a:extLst>
          </p:cNvPr>
          <p:cNvSpPr>
            <a:spLocks xmlns:a="http://schemas.openxmlformats.org/drawingml/2006/main" noGrp="1"/>
          </p:cNvSpPr>
          <p:nvPr/>
        </p:nvSpPr>
        <p:spPr>
          <a:xfrm xmlns:a="http://schemas.openxmlformats.org/drawingml/2006/main">
            <a:off x="8382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OCR 算法平台</a:t>
            </a:r>
          </a:p>
        </p:txBody>
      </p:sp>
      <p:sp>
        <p:nvSpPr>
          <p:cNvPr id="11" name="">
            <a:extLst xmlns:a="http://schemas.openxmlformats.org/drawingml/2006/main">
              <a:ext uri="{FF2B5EF4-FFF2-40B4-BE49-F238E27FC236}">
                <a16:creationId xmlns:a16="http://schemas.microsoft.com/office/drawing/2014/main" id="{BCC84542-7FE1-40FB-A167-A706F33A65A9}"/>
              </a:ext>
            </a:extLst>
          </p:cNvPr>
          <p:cNvSpPr>
            <a:spLocks xmlns:a="http://schemas.openxmlformats.org/drawingml/2006/main" noGrp="1"/>
          </p:cNvSpPr>
          <p:nvPr/>
        </p:nvSpPr>
        <p:spPr>
          <a:xfrm xmlns:a="http://schemas.openxmlformats.org/drawingml/2006/main">
            <a:off x="8382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智能化文档处理工具采用 OCR 技术结合大型语言模型，提供文档解析、信息抽取、表格提取、印章识别等多项能力，解决专网环境下复杂文档处理难题。</a:t>
            </a:r>
          </a:p>
        </p:txBody>
      </p:sp>
      <p:sp>
        <p:nvSpPr>
          <p:cNvPr id="12" name="">
            <a:extLst xmlns:a="http://schemas.openxmlformats.org/drawingml/2006/main">
              <a:ext uri="{FF2B5EF4-FFF2-40B4-BE49-F238E27FC236}">
                <a16:creationId xmlns:a16="http://schemas.microsoft.com/office/drawing/2014/main" id="{B9838EAC-6E96-4379-8D15-1B70C6B92299}"/>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3" name="">
            <a:extLst xmlns:a="http://schemas.openxmlformats.org/drawingml/2006/main">
              <a:ext uri="{FF2B5EF4-FFF2-40B4-BE49-F238E27FC236}">
                <a16:creationId xmlns:a16="http://schemas.microsoft.com/office/drawing/2014/main" id="{D06D74E0-0EC3-4C72-8DAA-7AC2DE531DC4}"/>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多格式资料承接</a:t>
            </a:r>
          </a:p>
        </p:txBody>
      </p:sp>
      <p:sp>
        <p:nvSpPr>
          <p:cNvPr id="14" name="">
            <a:extLst xmlns:a="http://schemas.openxmlformats.org/drawingml/2006/main">
              <a:ext uri="{FF2B5EF4-FFF2-40B4-BE49-F238E27FC236}">
                <a16:creationId xmlns:a16="http://schemas.microsoft.com/office/drawing/2014/main" id="{0D370D72-4C0E-41BD-92F9-7CA6E1BEE398}"/>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支持从以下常见格式中提取结构化信息：</a:t>
            </a:r>
          </a:p>
        </p:txBody>
      </p:sp>
      <p:sp>
        <p:nvSpPr>
          <p:cNvPr id="15" name="">
            <a:extLst xmlns:a="http://schemas.openxmlformats.org/drawingml/2006/main">
              <a:ext uri="{FF2B5EF4-FFF2-40B4-BE49-F238E27FC236}">
                <a16:creationId xmlns:a16="http://schemas.microsoft.com/office/drawing/2014/main" id="{1C2C30FC-C20B-4D8A-9793-0C4985769DC6}"/>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6" name="">
            <a:extLst xmlns:a="http://schemas.openxmlformats.org/drawingml/2006/main">
              <a:ext uri="{FF2B5EF4-FFF2-40B4-BE49-F238E27FC236}">
                <a16:creationId xmlns:a16="http://schemas.microsoft.com/office/drawing/2014/main" id="{6A737A2B-C501-475E-AE2C-196A071E4456}"/>
              </a:ext>
            </a:extLst>
          </p:cNvPr>
          <p:cNvSpPr>
            <a:spLocks xmlns:a="http://schemas.openxmlformats.org/drawingml/2006/main" noGrp="1"/>
          </p:cNvSpPr>
          <p:nvPr/>
        </p:nvSpPr>
        <p:spPr>
          <a:xfrm xmlns:a="http://schemas.openxmlformats.org/drawingml/2006/main">
            <a:off x="838200" y="41910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PDF</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Word</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Excel</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图片</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扫描件</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非标准格式文档</a:t>
            </a:r>
          </a:p>
        </p:txBody>
      </p:sp>
      <p:sp>
        <p:nvSpPr>
          <p:cNvPr id="17" name="">
            <a:extLst xmlns:a="http://schemas.openxmlformats.org/drawingml/2006/main">
              <a:ext uri="{FF2B5EF4-FFF2-40B4-BE49-F238E27FC236}">
                <a16:creationId xmlns:a16="http://schemas.microsoft.com/office/drawing/2014/main" id="{6A6BA988-8251-4453-999A-F3FE86295538}"/>
              </a:ext>
            </a:extLst>
          </p:cNvPr>
          <p:cNvSpPr>
            <a:spLocks xmlns:a="http://schemas.openxmlformats.org/drawingml/2006/main" noGrp="1"/>
          </p:cNvSpPr>
          <p:nvPr/>
        </p:nvSpPr>
        <p:spPr>
          <a:xfrm xmlns:a="http://schemas.openxmlformats.org/drawingml/2006/main">
            <a:off x="6858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42DEFCD8-40D9-47A3-9194-D59313422F55}"/>
              </a:ext>
            </a:extLst>
          </p:cNvPr>
          <p:cNvSpPr>
            <a:spLocks xmlns:a="http://schemas.openxmlformats.org/drawingml/2006/main" noGrp="1"/>
          </p:cNvSpPr>
          <p:nvPr/>
        </p:nvSpPr>
        <p:spPr>
          <a:xfrm xmlns:a="http://schemas.openxmlformats.org/drawingml/2006/main">
            <a:off x="838200" y="516255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支持多种非标准文档的格式转换，为后续分析统一输入格式。</a:t>
            </a:r>
          </a:p>
        </p:txBody>
      </p:sp>
      <p:sp>
        <p:nvSpPr>
          <p:cNvPr id="19" name="">
            <a:extLst xmlns:a="http://schemas.openxmlformats.org/drawingml/2006/main">
              <a:ext uri="{FF2B5EF4-FFF2-40B4-BE49-F238E27FC236}">
                <a16:creationId xmlns:a16="http://schemas.microsoft.com/office/drawing/2014/main" id="{E86D6350-6E72-429D-BEFF-35658585F8B4}"/>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0" name="">
            <a:extLst xmlns:a="http://schemas.openxmlformats.org/drawingml/2006/main">
              <a:ext uri="{FF2B5EF4-FFF2-40B4-BE49-F238E27FC236}">
                <a16:creationId xmlns:a16="http://schemas.microsoft.com/office/drawing/2014/main" id="{49D70460-59CF-4D2D-B220-885980EE0F41}"/>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关键处理能力</a:t>
            </a:r>
          </a:p>
        </p:txBody>
      </p:sp>
      <p:sp>
        <p:nvSpPr>
          <p:cNvPr id="21" name="">
            <a:extLst xmlns:a="http://schemas.openxmlformats.org/drawingml/2006/main">
              <a:ext uri="{FF2B5EF4-FFF2-40B4-BE49-F238E27FC236}">
                <a16:creationId xmlns:a16="http://schemas.microsoft.com/office/drawing/2014/main" id="{22BE6A69-F363-4EA3-B5E8-DCF8A2928AC9}"/>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版面解析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识别标题、正文、表格、页眉页脚、章节结构和页面布局。</a:t>
            </a:r>
          </a:p>
        </p:txBody>
      </p:sp>
      <p:sp>
        <p:nvSpPr>
          <p:cNvPr id="22" name="">
            <a:extLst xmlns:a="http://schemas.openxmlformats.org/drawingml/2006/main">
              <a:ext uri="{FF2B5EF4-FFF2-40B4-BE49-F238E27FC236}">
                <a16:creationId xmlns:a16="http://schemas.microsoft.com/office/drawing/2014/main" id="{023FA4A3-C0E8-4390-BB4C-E62F4B236013}"/>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3" name="">
            <a:extLst xmlns:a="http://schemas.openxmlformats.org/drawingml/2006/main">
              <a:ext uri="{FF2B5EF4-FFF2-40B4-BE49-F238E27FC236}">
                <a16:creationId xmlns:a16="http://schemas.microsoft.com/office/drawing/2014/main" id="{ECE40C2B-46B9-44D1-8E3C-79E05514D354}"/>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表格提取</a:t>
            </a:r>
          </a:p>
        </p:txBody>
      </p:sp>
      <p:sp>
        <p:nvSpPr>
          <p:cNvPr id="24" name="">
            <a:extLst xmlns:a="http://schemas.openxmlformats.org/drawingml/2006/main">
              <a:ext uri="{FF2B5EF4-FFF2-40B4-BE49-F238E27FC236}">
                <a16:creationId xmlns:a16="http://schemas.microsoft.com/office/drawing/2014/main" id="{99DA9AC1-4CB8-4775-A765-B20CF8E34450}"/>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处理复杂表格、跨页表格、合并单元格和不规则表格。</a:t>
            </a:r>
          </a:p>
        </p:txBody>
      </p:sp>
      <p:sp>
        <p:nvSpPr>
          <p:cNvPr id="25" name="">
            <a:extLst xmlns:a="http://schemas.openxmlformats.org/drawingml/2006/main">
              <a:ext uri="{FF2B5EF4-FFF2-40B4-BE49-F238E27FC236}">
                <a16:creationId xmlns:a16="http://schemas.microsoft.com/office/drawing/2014/main" id="{ADE01F12-3828-4F55-8DE7-8A8BCB2ABAA9}"/>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6" name="">
            <a:extLst xmlns:a="http://schemas.openxmlformats.org/drawingml/2006/main">
              <a:ext uri="{FF2B5EF4-FFF2-40B4-BE49-F238E27FC236}">
                <a16:creationId xmlns:a16="http://schemas.microsoft.com/office/drawing/2014/main" id="{35831F0A-C4BD-4B3E-AE99-EB86DF61619C}"/>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印章识别</a:t>
            </a:r>
          </a:p>
        </p:txBody>
      </p:sp>
      <p:sp>
        <p:nvSpPr>
          <p:cNvPr id="27" name="">
            <a:extLst xmlns:a="http://schemas.openxmlformats.org/drawingml/2006/main">
              <a:ext uri="{FF2B5EF4-FFF2-40B4-BE49-F238E27FC236}">
                <a16:creationId xmlns:a16="http://schemas.microsoft.com/office/drawing/2014/main" id="{051C7E11-3BE4-4563-A803-A8F9ECD3A8C5}"/>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识别文件中的印章区域，为合同、函件、证明材料等场景提供辅助判断。</a:t>
            </a:r>
          </a:p>
        </p:txBody>
      </p:sp>
      <p:sp>
        <p:nvSpPr>
          <p:cNvPr id="28" name="">
            <a:extLst xmlns:a="http://schemas.openxmlformats.org/drawingml/2006/main">
              <a:ext uri="{FF2B5EF4-FFF2-40B4-BE49-F238E27FC236}">
                <a16:creationId xmlns:a16="http://schemas.microsoft.com/office/drawing/2014/main" id="{0E570D28-924F-47A6-B1A9-DF00DA787B8D}"/>
              </a:ext>
            </a:extLst>
          </p:cNvPr>
          <p:cNvSpPr>
            <a:spLocks xmlns:a="http://schemas.openxmlformats.org/drawingml/2006/main" noGrp="1"/>
          </p:cNvSpPr>
          <p:nvPr/>
        </p:nvSpPr>
        <p:spPr>
          <a:xfrm xmlns:a="http://schemas.openxmlformats.org/drawingml/2006/main">
            <a:off x="62865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9" name="">
            <a:extLst xmlns:a="http://schemas.openxmlformats.org/drawingml/2006/main">
              <a:ext uri="{FF2B5EF4-FFF2-40B4-BE49-F238E27FC236}">
                <a16:creationId xmlns:a16="http://schemas.microsoft.com/office/drawing/2014/main" id="{80272864-09CF-47C8-9444-BA15FB766E2B}"/>
              </a:ext>
            </a:extLst>
          </p:cNvPr>
          <p:cNvSpPr>
            <a:spLocks xmlns:a="http://schemas.openxmlformats.org/drawingml/2006/main" noGrp="1"/>
          </p:cNvSpPr>
          <p:nvPr/>
        </p:nvSpPr>
        <p:spPr>
          <a:xfrm xmlns:a="http://schemas.openxmlformats.org/drawingml/2006/main">
            <a:off x="64389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信息抽取</a:t>
            </a:r>
          </a:p>
        </p:txBody>
      </p:sp>
      <p:sp>
        <p:nvSpPr>
          <p:cNvPr id="30" name="">
            <a:extLst xmlns:a="http://schemas.openxmlformats.org/drawingml/2006/main">
              <a:ext uri="{FF2B5EF4-FFF2-40B4-BE49-F238E27FC236}">
                <a16:creationId xmlns:a16="http://schemas.microsoft.com/office/drawing/2014/main" id="{7C78FEFA-F74C-4A03-8266-EE0989C50415}"/>
              </a:ext>
            </a:extLst>
          </p:cNvPr>
          <p:cNvSpPr>
            <a:spLocks xmlns:a="http://schemas.openxmlformats.org/drawingml/2006/main" noGrp="1"/>
          </p:cNvSpPr>
          <p:nvPr/>
        </p:nvSpPr>
        <p:spPr>
          <a:xfrm xmlns:a="http://schemas.openxmlformats.org/drawingml/2006/main">
            <a:off x="64389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结合大模型抽取金额、日期、主体、项目、合同编号、发票信息、审批事项等关键要素。</a:t>
            </a:r>
          </a:p>
        </p:txBody>
      </p:sp>
    </p:spTree>
    <p:extLst>
      <p:ext uri="{BB962C8B-B14F-4D97-AF65-F5344CB8AC3E}">
        <p14:creationId xmlns:p14="http://schemas.microsoft.com/office/powerpoint/2010/main" val="273854472"/>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E24C37E-7B00-454A-97E9-41549166FE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CE24F1A-D755-443C-9FF0-C28147D50C6C}"/>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90AED45-1575-4C88-A512-7EE37B7DE60C}"/>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385A7505-B43E-4C56-9A88-915A4FDE6CFB}"/>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多源数据融合与统一资源接入</a:t>
            </a:r>
          </a:p>
        </p:txBody>
      </p:sp>
      <p:sp>
        <p:nvSpPr>
          <p:cNvPr id="5" name="">
            <a:extLst xmlns:a="http://schemas.openxmlformats.org/drawingml/2006/main">
              <a:ext uri="{FF2B5EF4-FFF2-40B4-BE49-F238E27FC236}">
                <a16:creationId xmlns:a16="http://schemas.microsoft.com/office/drawing/2014/main" id="{3A4685B0-F03C-452D-B275-C92114F7871A}"/>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523044D0-C756-4EFE-95D2-2F6A43DA80B2}"/>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说明综合分析平台如何把资料、数据库、图谱、知识库和法规案例统一组织到一个审计工作空间。</a:t>
            </a:r>
          </a:p>
        </p:txBody>
      </p:sp>
      <p:sp>
        <p:nvSpPr>
          <p:cNvPr id="7" name="">
            <a:extLst xmlns:a="http://schemas.openxmlformats.org/drawingml/2006/main">
              <a:ext uri="{FF2B5EF4-FFF2-40B4-BE49-F238E27FC236}">
                <a16:creationId xmlns:a16="http://schemas.microsoft.com/office/drawing/2014/main" id="{FE5AB5A4-9FBE-4B96-A47B-7B3937D81E19}"/>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631C7452-A738-45F0-BC2C-0AF66F4DA35C}"/>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30</a:t>
            </a:r>
          </a:p>
        </p:txBody>
      </p:sp>
      <p:sp>
        <p:nvSpPr>
          <p:cNvPr id="9" name="">
            <a:extLst xmlns:a="http://schemas.openxmlformats.org/drawingml/2006/main">
              <a:ext uri="{FF2B5EF4-FFF2-40B4-BE49-F238E27FC236}">
                <a16:creationId xmlns:a16="http://schemas.microsoft.com/office/drawing/2014/main" id="{DF29AE58-1695-4308-97CC-A0E480EC9FAC}"/>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5BCC2A3B-CBBB-4AAD-B4E2-353CF190199E}"/>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支持 PDF、Word、Excel 等主流格式上传与结构化解析。</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支持多种非标准文档格式转换，为后续分析统一输入格式。</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支持文档资料中的实体、金额、日期、合同、项目等要素抽取。</a:t>
            </a:r>
          </a:p>
        </p:txBody>
      </p:sp>
      <p:sp>
        <p:nvSpPr>
          <p:cNvPr id="11" name="">
            <a:extLst xmlns:a="http://schemas.openxmlformats.org/drawingml/2006/main">
              <a:ext uri="{FF2B5EF4-FFF2-40B4-BE49-F238E27FC236}">
                <a16:creationId xmlns:a16="http://schemas.microsoft.com/office/drawing/2014/main" id="{17E045CB-5121-446E-8C30-753EB8E58651}"/>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A383D326-0024-41E1-AA04-D4BF2E59A7DE}"/>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多源资源接入</a:t>
            </a:r>
          </a:p>
        </p:txBody>
      </p:sp>
      <p:sp>
        <p:nvSpPr>
          <p:cNvPr id="13" name="">
            <a:extLst xmlns:a="http://schemas.openxmlformats.org/drawingml/2006/main">
              <a:ext uri="{FF2B5EF4-FFF2-40B4-BE49-F238E27FC236}">
                <a16:creationId xmlns:a16="http://schemas.microsoft.com/office/drawing/2014/main" id="{466AAF35-010F-4E65-8352-2BDADA890154}"/>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在同一项目工作空间中统一接入：</a:t>
            </a:r>
          </a:p>
        </p:txBody>
      </p:sp>
      <p:sp>
        <p:nvSpPr>
          <p:cNvPr id="14" name="">
            <a:extLst xmlns:a="http://schemas.openxmlformats.org/drawingml/2006/main">
              <a:ext uri="{FF2B5EF4-FFF2-40B4-BE49-F238E27FC236}">
                <a16:creationId xmlns:a16="http://schemas.microsoft.com/office/drawing/2014/main" id="{BBF17B89-EC19-42E6-B381-BF49FB864624}"/>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61D6DFC1-038C-444B-9402-85B55EEDFA37}"/>
              </a:ext>
            </a:extLst>
          </p:cNvPr>
          <p:cNvSpPr>
            <a:spLocks xmlns:a="http://schemas.openxmlformats.org/drawingml/2006/main" noGrp="1"/>
          </p:cNvSpPr>
          <p:nvPr/>
        </p:nvSpPr>
        <p:spPr>
          <a:xfrm xmlns:a="http://schemas.openxmlformats.org/drawingml/2006/main">
            <a:off x="838200" y="41910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文档资料</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结构化数据库</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数据图谱</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知识库</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法规库</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审计案例库</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审计技能</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智能体能力</a:t>
            </a:r>
          </a:p>
        </p:txBody>
      </p:sp>
      <p:sp>
        <p:nvSpPr>
          <p:cNvPr id="16" name="">
            <a:extLst xmlns:a="http://schemas.openxmlformats.org/drawingml/2006/main">
              <a:ext uri="{FF2B5EF4-FFF2-40B4-BE49-F238E27FC236}">
                <a16:creationId xmlns:a16="http://schemas.microsoft.com/office/drawing/2014/main" id="{01113F87-CA26-494B-B697-757E3647854C}"/>
              </a:ext>
            </a:extLst>
          </p:cNvPr>
          <p:cNvSpPr>
            <a:spLocks xmlns:a="http://schemas.openxmlformats.org/drawingml/2006/main" noGrp="1"/>
          </p:cNvSpPr>
          <p:nvPr/>
        </p:nvSpPr>
        <p:spPr>
          <a:xfrm xmlns:a="http://schemas.openxmlformats.org/drawingml/2006/main">
            <a:off x="6286500" y="2095500"/>
            <a:ext cx="5219700" cy="939927"/>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7" name="">
            <a:extLst xmlns:a="http://schemas.openxmlformats.org/drawingml/2006/main">
              <a:ext uri="{FF2B5EF4-FFF2-40B4-BE49-F238E27FC236}">
                <a16:creationId xmlns:a16="http://schemas.microsoft.com/office/drawing/2014/main" id="{8641D43A-7F7C-45AC-94C3-83782B2CC370}"/>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多源融合分析</a:t>
            </a:r>
          </a:p>
        </p:txBody>
      </p:sp>
      <p:sp>
        <p:nvSpPr>
          <p:cNvPr id="18" name="">
            <a:extLst xmlns:a="http://schemas.openxmlformats.org/drawingml/2006/main">
              <a:ext uri="{FF2B5EF4-FFF2-40B4-BE49-F238E27FC236}">
                <a16:creationId xmlns:a16="http://schemas.microsoft.com/office/drawing/2014/main" id="{D2ADCD0E-C28D-4BC2-98EC-FD39CF034E52}"/>
              </a:ext>
            </a:extLst>
          </p:cNvPr>
          <p:cNvSpPr>
            <a:spLocks xmlns:a="http://schemas.openxmlformats.org/drawingml/2006/main" noGrp="1"/>
          </p:cNvSpPr>
          <p:nvPr/>
        </p:nvSpPr>
        <p:spPr>
          <a:xfrm xmlns:a="http://schemas.openxmlformats.org/drawingml/2006/main">
            <a:off x="6438900" y="2476500"/>
            <a:ext cx="4914900" cy="46367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单界面集成文档线索、数据库记录和图谱关联关系，无需跨系统切换。</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支持文档 → 数据 → 图谱自动联动，一键追溯实体全貌、资金链路和股权链路。</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支持将抽取结果、查询结果和图谱路径组合为分析依据。</a:t>
            </a:r>
          </a:p>
        </p:txBody>
      </p:sp>
      <p:sp>
        <p:nvSpPr>
          <p:cNvPr id="19" name="">
            <a:extLst xmlns:a="http://schemas.openxmlformats.org/drawingml/2006/main">
              <a:ext uri="{FF2B5EF4-FFF2-40B4-BE49-F238E27FC236}">
                <a16:creationId xmlns:a16="http://schemas.microsoft.com/office/drawing/2014/main" id="{8BDFF57E-929E-4684-9D05-EF68EECB8453}"/>
              </a:ext>
            </a:extLst>
          </p:cNvPr>
          <p:cNvSpPr>
            <a:spLocks xmlns:a="http://schemas.openxmlformats.org/drawingml/2006/main" noGrp="1"/>
          </p:cNvSpPr>
          <p:nvPr/>
        </p:nvSpPr>
        <p:spPr>
          <a:xfrm xmlns:a="http://schemas.openxmlformats.org/drawingml/2006/main">
            <a:off x="6286500" y="3149727"/>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0" name="">
            <a:extLst xmlns:a="http://schemas.openxmlformats.org/drawingml/2006/main">
              <a:ext uri="{FF2B5EF4-FFF2-40B4-BE49-F238E27FC236}">
                <a16:creationId xmlns:a16="http://schemas.microsoft.com/office/drawing/2014/main" id="{9D3CDF70-8C67-4E7A-BA2C-38B9ED256C99}"/>
              </a:ext>
            </a:extLst>
          </p:cNvPr>
          <p:cNvSpPr>
            <a:spLocks xmlns:a="http://schemas.openxmlformats.org/drawingml/2006/main" noGrp="1"/>
          </p:cNvSpPr>
          <p:nvPr/>
        </p:nvSpPr>
        <p:spPr>
          <a:xfrm xmlns:a="http://schemas.openxmlformats.org/drawingml/2006/main">
            <a:off x="6438900" y="3283077"/>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定性支持能力</a:t>
            </a:r>
          </a:p>
        </p:txBody>
      </p:sp>
      <p:sp>
        <p:nvSpPr>
          <p:cNvPr id="21" name="">
            <a:extLst xmlns:a="http://schemas.openxmlformats.org/drawingml/2006/main">
              <a:ext uri="{FF2B5EF4-FFF2-40B4-BE49-F238E27FC236}">
                <a16:creationId xmlns:a16="http://schemas.microsoft.com/office/drawing/2014/main" id="{8A5C0E05-9F21-427B-9548-2C4A192F38FA}"/>
              </a:ext>
            </a:extLst>
          </p:cNvPr>
          <p:cNvSpPr>
            <a:spLocks xmlns:a="http://schemas.openxmlformats.org/drawingml/2006/main" noGrp="1"/>
          </p:cNvSpPr>
          <p:nvPr/>
        </p:nvSpPr>
        <p:spPr>
          <a:xfrm xmlns:a="http://schemas.openxmlformats.org/drawingml/2006/main">
            <a:off x="6438900" y="3530727"/>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同步匹配本地部署的审计案例知识库、审计法律法规知识库，为 AI 生成的疑点自动匹配法规依据，支持审计人员人工定性复核。</a:t>
            </a:r>
          </a:p>
        </p:txBody>
      </p:sp>
      <p:sp>
        <p:nvSpPr>
          <p:cNvPr id="22" name="">
            <a:extLst xmlns:a="http://schemas.openxmlformats.org/drawingml/2006/main">
              <a:ext uri="{FF2B5EF4-FFF2-40B4-BE49-F238E27FC236}">
                <a16:creationId xmlns:a16="http://schemas.microsoft.com/office/drawing/2014/main" id="{E7757C75-2EF1-4E00-A534-01B562F6D95A}"/>
              </a:ext>
            </a:extLst>
          </p:cNvPr>
          <p:cNvSpPr>
            <a:spLocks xmlns:a="http://schemas.openxmlformats.org/drawingml/2006/main" noGrp="1"/>
          </p:cNvSpPr>
          <p:nvPr/>
        </p:nvSpPr>
        <p:spPr>
          <a:xfrm xmlns:a="http://schemas.openxmlformats.org/drawingml/2006/main">
            <a:off x="6286500" y="4121277"/>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3" name="">
            <a:extLst xmlns:a="http://schemas.openxmlformats.org/drawingml/2006/main">
              <a:ext uri="{FF2B5EF4-FFF2-40B4-BE49-F238E27FC236}">
                <a16:creationId xmlns:a16="http://schemas.microsoft.com/office/drawing/2014/main" id="{A2CC3407-0BB0-4A4C-AD4B-7F21D43ACF08}"/>
              </a:ext>
            </a:extLst>
          </p:cNvPr>
          <p:cNvSpPr>
            <a:spLocks xmlns:a="http://schemas.openxmlformats.org/drawingml/2006/main" noGrp="1"/>
          </p:cNvSpPr>
          <p:nvPr/>
        </p:nvSpPr>
        <p:spPr>
          <a:xfrm xmlns:a="http://schemas.openxmlformats.org/drawingml/2006/main">
            <a:off x="6438900" y="4254627"/>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一句话表达：</a:t>
            </a:r>
          </a:p>
        </p:txBody>
      </p:sp>
      <p:sp>
        <p:nvSpPr>
          <p:cNvPr id="24" name="">
            <a:extLst xmlns:a="http://schemas.openxmlformats.org/drawingml/2006/main">
              <a:ext uri="{FF2B5EF4-FFF2-40B4-BE49-F238E27FC236}">
                <a16:creationId xmlns:a16="http://schemas.microsoft.com/office/drawing/2014/main" id="{5D7B3312-0743-4E27-B9F3-D410AC210FE3}"/>
              </a:ext>
            </a:extLst>
          </p:cNvPr>
          <p:cNvSpPr>
            <a:spLocks xmlns:a="http://schemas.openxmlformats.org/drawingml/2006/main" noGrp="1"/>
          </p:cNvSpPr>
          <p:nvPr/>
        </p:nvSpPr>
        <p:spPr>
          <a:xfrm xmlns:a="http://schemas.openxmlformats.org/drawingml/2006/main">
            <a:off x="6438900" y="4502277"/>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综合分析平台首先解决的是资源接不全、数据用不顺的问题，把多源资料和多类能力统一组织到一个审计工作空间中。</a:t>
            </a:r>
          </a:p>
        </p:txBody>
      </p:sp>
    </p:spTree>
    <p:extLst>
      <p:ext uri="{BB962C8B-B14F-4D97-AF65-F5344CB8AC3E}">
        <p14:creationId xmlns:p14="http://schemas.microsoft.com/office/powerpoint/2010/main" val="1612476105"/>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FF0D8E-14B1-4C94-889E-4A083DDD828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FE866B6-7365-415C-92CA-D6397365081A}"/>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5DAF733-10E9-4C73-B816-FE1A9CD783E6}"/>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A103F2A-C234-472B-9D9C-382466755628}"/>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审计助手</a:t>
            </a:r>
          </a:p>
        </p:txBody>
      </p:sp>
      <p:sp>
        <p:nvSpPr>
          <p:cNvPr id="5" name="">
            <a:extLst xmlns:a="http://schemas.openxmlformats.org/drawingml/2006/main">
              <a:ext uri="{FF2B5EF4-FFF2-40B4-BE49-F238E27FC236}">
                <a16:creationId xmlns:a16="http://schemas.microsoft.com/office/drawing/2014/main" id="{6EA630D8-BC58-45E0-97E6-2EFA15BD94EE}"/>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C2F49777-4A7B-4595-BD4D-06F94CEE49C2}"/>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把审计助手从“聊天框”提升为“基于多源资源和工具的可执行分析入口”。</a:t>
            </a:r>
          </a:p>
        </p:txBody>
      </p:sp>
      <p:sp>
        <p:nvSpPr>
          <p:cNvPr id="7" name="">
            <a:extLst xmlns:a="http://schemas.openxmlformats.org/drawingml/2006/main">
              <a:ext uri="{FF2B5EF4-FFF2-40B4-BE49-F238E27FC236}">
                <a16:creationId xmlns:a16="http://schemas.microsoft.com/office/drawing/2014/main" id="{CF837241-5F2A-4D39-A5E0-1699FF8832AE}"/>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981EF79B-54F4-4481-A98E-BD7BACDC3345}"/>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31</a:t>
            </a:r>
          </a:p>
        </p:txBody>
      </p:sp>
      <p:sp>
        <p:nvSpPr>
          <p:cNvPr id="9" name="">
            <a:extLst xmlns:a="http://schemas.openxmlformats.org/drawingml/2006/main">
              <a:ext uri="{FF2B5EF4-FFF2-40B4-BE49-F238E27FC236}">
                <a16:creationId xmlns:a16="http://schemas.microsoft.com/office/drawing/2014/main" id="{94973B06-CFC9-4904-BA8E-C1A79E433978}"/>
              </a:ext>
            </a:extLst>
          </p:cNvPr>
          <p:cNvSpPr>
            <a:spLocks xmlns:a="http://schemas.openxmlformats.org/drawingml/2006/main" noGrp="1"/>
          </p:cNvSpPr>
          <p:nvPr/>
        </p:nvSpPr>
        <p:spPr>
          <a:xfrm xmlns:a="http://schemas.openxmlformats.org/drawingml/2006/main">
            <a:off x="685800" y="2095500"/>
            <a:ext cx="5219700" cy="914019"/>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8FAA5FF1-1AE4-42ED-9B55-E0039D7BF354}"/>
              </a:ext>
            </a:extLst>
          </p:cNvPr>
          <p:cNvSpPr>
            <a:spLocks xmlns:a="http://schemas.openxmlformats.org/drawingml/2006/main" noGrp="1"/>
          </p:cNvSpPr>
          <p:nvPr/>
        </p:nvSpPr>
        <p:spPr>
          <a:xfrm xmlns:a="http://schemas.openxmlformats.org/drawingml/2006/main">
            <a:off x="8382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提出疑点</a:t>
            </a:r>
          </a:p>
        </p:txBody>
      </p:sp>
      <p:sp>
        <p:nvSpPr>
          <p:cNvPr id="11" name="">
            <a:extLst xmlns:a="http://schemas.openxmlformats.org/drawingml/2006/main">
              <a:ext uri="{FF2B5EF4-FFF2-40B4-BE49-F238E27FC236}">
                <a16:creationId xmlns:a16="http://schemas.microsoft.com/office/drawing/2014/main" id="{8568B404-272E-4035-B4AB-D918D43DCC52}"/>
              </a:ext>
            </a:extLst>
          </p:cNvPr>
          <p:cNvSpPr>
            <a:spLocks xmlns:a="http://schemas.openxmlformats.org/drawingml/2006/main" noGrp="1"/>
          </p:cNvSpPr>
          <p:nvPr/>
        </p:nvSpPr>
        <p:spPr>
          <a:xfrm xmlns:a="http://schemas.openxmlformats.org/drawingml/2006/main">
            <a:off x="838200" y="2476500"/>
            <a:ext cx="4914900" cy="437769"/>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AI 制定执行计划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调用资料 / 数据库 / 图谱 / 知识库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执行抽取、检索、比对、计算和分析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返回结果、依据和中间过程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审计人员追问、复核和沉淀经验</a:t>
            </a:r>
          </a:p>
        </p:txBody>
      </p:sp>
      <p:sp>
        <p:nvSpPr>
          <p:cNvPr id="12" name="">
            <a:extLst xmlns:a="http://schemas.openxmlformats.org/drawingml/2006/main">
              <a:ext uri="{FF2B5EF4-FFF2-40B4-BE49-F238E27FC236}">
                <a16:creationId xmlns:a16="http://schemas.microsoft.com/office/drawing/2014/main" id="{233A55E6-08FB-45F2-9FD6-4C34D4C003AB}"/>
              </a:ext>
            </a:extLst>
          </p:cNvPr>
          <p:cNvSpPr>
            <a:spLocks xmlns:a="http://schemas.openxmlformats.org/drawingml/2006/main" noGrp="1"/>
          </p:cNvSpPr>
          <p:nvPr/>
        </p:nvSpPr>
        <p:spPr>
          <a:xfrm xmlns:a="http://schemas.openxmlformats.org/drawingml/2006/main">
            <a:off x="685800" y="3123819"/>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3" name="">
            <a:extLst xmlns:a="http://schemas.openxmlformats.org/drawingml/2006/main">
              <a:ext uri="{FF2B5EF4-FFF2-40B4-BE49-F238E27FC236}">
                <a16:creationId xmlns:a16="http://schemas.microsoft.com/office/drawing/2014/main" id="{15F2EAB2-471F-4460-9287-2C4A3CA398B1}"/>
              </a:ext>
            </a:extLst>
          </p:cNvPr>
          <p:cNvSpPr>
            <a:spLocks xmlns:a="http://schemas.openxmlformats.org/drawingml/2006/main" noGrp="1"/>
          </p:cNvSpPr>
          <p:nvPr/>
        </p:nvSpPr>
        <p:spPr>
          <a:xfrm xmlns:a="http://schemas.openxmlformats.org/drawingml/2006/main">
            <a:off x="838200" y="3257169"/>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核心能力</a:t>
            </a:r>
          </a:p>
        </p:txBody>
      </p:sp>
      <p:sp>
        <p:nvSpPr>
          <p:cNvPr id="14" name="">
            <a:extLst xmlns:a="http://schemas.openxmlformats.org/drawingml/2006/main">
              <a:ext uri="{FF2B5EF4-FFF2-40B4-BE49-F238E27FC236}">
                <a16:creationId xmlns:a16="http://schemas.microsoft.com/office/drawing/2014/main" id="{83A8BEA8-11A5-4DE0-BAB5-21D3309D4CFD}"/>
              </a:ext>
            </a:extLst>
          </p:cNvPr>
          <p:cNvSpPr>
            <a:spLocks xmlns:a="http://schemas.openxmlformats.org/drawingml/2006/main" noGrp="1"/>
          </p:cNvSpPr>
          <p:nvPr/>
        </p:nvSpPr>
        <p:spPr>
          <a:xfrm xmlns:a="http://schemas.openxmlformats.org/drawingml/2006/main">
            <a:off x="838200" y="3504819"/>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基于项目资源发起问询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审计人员可以围绕已接入的资料、数据库、图谱和知识库发起针对性问询。</a:t>
            </a:r>
          </a:p>
        </p:txBody>
      </p:sp>
      <p:sp>
        <p:nvSpPr>
          <p:cNvPr id="15" name="">
            <a:extLst xmlns:a="http://schemas.openxmlformats.org/drawingml/2006/main">
              <a:ext uri="{FF2B5EF4-FFF2-40B4-BE49-F238E27FC236}">
                <a16:creationId xmlns:a16="http://schemas.microsoft.com/office/drawing/2014/main" id="{59402533-2289-459B-BB1F-70BBF81605C7}"/>
              </a:ext>
            </a:extLst>
          </p:cNvPr>
          <p:cNvSpPr>
            <a:spLocks xmlns:a="http://schemas.openxmlformats.org/drawingml/2006/main" noGrp="1"/>
          </p:cNvSpPr>
          <p:nvPr/>
        </p:nvSpPr>
        <p:spPr>
          <a:xfrm xmlns:a="http://schemas.openxmlformats.org/drawingml/2006/main">
            <a:off x="685800" y="4095369"/>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6" name="">
            <a:extLst xmlns:a="http://schemas.openxmlformats.org/drawingml/2006/main">
              <a:ext uri="{FF2B5EF4-FFF2-40B4-BE49-F238E27FC236}">
                <a16:creationId xmlns:a16="http://schemas.microsoft.com/office/drawing/2014/main" id="{40894F7C-14C6-48CF-A8CF-3A284C721B5A}"/>
              </a:ext>
            </a:extLst>
          </p:cNvPr>
          <p:cNvSpPr>
            <a:spLocks xmlns:a="http://schemas.openxmlformats.org/drawingml/2006/main" noGrp="1"/>
          </p:cNvSpPr>
          <p:nvPr/>
        </p:nvSpPr>
        <p:spPr>
          <a:xfrm xmlns:a="http://schemas.openxmlformats.org/drawingml/2006/main">
            <a:off x="838200" y="4228719"/>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计划 - 执行 - 结果可见</a:t>
            </a:r>
          </a:p>
        </p:txBody>
      </p:sp>
      <p:sp>
        <p:nvSpPr>
          <p:cNvPr id="17" name="">
            <a:extLst xmlns:a="http://schemas.openxmlformats.org/drawingml/2006/main">
              <a:ext uri="{FF2B5EF4-FFF2-40B4-BE49-F238E27FC236}">
                <a16:creationId xmlns:a16="http://schemas.microsoft.com/office/drawing/2014/main" id="{B06F89B0-D22A-476A-A290-CA8163782190}"/>
              </a:ext>
            </a:extLst>
          </p:cNvPr>
          <p:cNvSpPr>
            <a:spLocks xmlns:a="http://schemas.openxmlformats.org/drawingml/2006/main" noGrp="1"/>
          </p:cNvSpPr>
          <p:nvPr/>
        </p:nvSpPr>
        <p:spPr>
          <a:xfrm xmlns:a="http://schemas.openxmlformats.org/drawingml/2006/main">
            <a:off x="838200" y="4476369"/>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系统可按“计划 - 执行 - 结果”返回深度分析过程，让审计人员看到 AI 如何组织任务，而不是只看到最终答案。</a:t>
            </a:r>
          </a:p>
        </p:txBody>
      </p:sp>
      <p:sp>
        <p:nvSpPr>
          <p:cNvPr id="18" name="">
            <a:extLst xmlns:a="http://schemas.openxmlformats.org/drawingml/2006/main">
              <a:ext uri="{FF2B5EF4-FFF2-40B4-BE49-F238E27FC236}">
                <a16:creationId xmlns:a16="http://schemas.microsoft.com/office/drawing/2014/main" id="{835A928E-3549-48D5-B1E1-6891D8BB7158}"/>
              </a:ext>
            </a:extLst>
          </p:cNvPr>
          <p:cNvSpPr>
            <a:spLocks xmlns:a="http://schemas.openxmlformats.org/drawingml/2006/main" noGrp="1"/>
          </p:cNvSpPr>
          <p:nvPr/>
        </p:nvSpPr>
        <p:spPr>
          <a:xfrm xmlns:a="http://schemas.openxmlformats.org/drawingml/2006/main">
            <a:off x="685800" y="5066919"/>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74DCCF96-250E-4A65-9F4E-598BAA16C0C7}"/>
              </a:ext>
            </a:extLst>
          </p:cNvPr>
          <p:cNvSpPr>
            <a:spLocks xmlns:a="http://schemas.openxmlformats.org/drawingml/2006/main" noGrp="1"/>
          </p:cNvSpPr>
          <p:nvPr/>
        </p:nvSpPr>
        <p:spPr>
          <a:xfrm xmlns:a="http://schemas.openxmlformats.org/drawingml/2006/main">
            <a:off x="838200" y="5200269"/>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工具连续调用</a:t>
            </a:r>
          </a:p>
        </p:txBody>
      </p:sp>
      <p:sp>
        <p:nvSpPr>
          <p:cNvPr id="20" name="">
            <a:extLst xmlns:a="http://schemas.openxmlformats.org/drawingml/2006/main">
              <a:ext uri="{FF2B5EF4-FFF2-40B4-BE49-F238E27FC236}">
                <a16:creationId xmlns:a16="http://schemas.microsoft.com/office/drawing/2014/main" id="{E659DAB1-76C3-40BD-B133-58502B1DE091}"/>
              </a:ext>
            </a:extLst>
          </p:cNvPr>
          <p:cNvSpPr>
            <a:spLocks xmlns:a="http://schemas.openxmlformats.org/drawingml/2006/main" noGrp="1"/>
          </p:cNvSpPr>
          <p:nvPr/>
        </p:nvSpPr>
        <p:spPr>
          <a:xfrm xmlns:a="http://schemas.openxmlformats.org/drawingml/2006/main">
            <a:off x="838200" y="5447919"/>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支持调用查询、检索、抽取、比对、计算、生成等工具完成连续动作。</a:t>
            </a:r>
          </a:p>
        </p:txBody>
      </p:sp>
      <p:sp>
        <p:nvSpPr>
          <p:cNvPr id="21" name="">
            <a:extLst xmlns:a="http://schemas.openxmlformats.org/drawingml/2006/main">
              <a:ext uri="{FF2B5EF4-FFF2-40B4-BE49-F238E27FC236}">
                <a16:creationId xmlns:a16="http://schemas.microsoft.com/office/drawing/2014/main" id="{43A07837-AD90-4DBC-8542-A0C46C6B0744}"/>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85FD4F6B-0EC7-48DE-9E2A-21031B5C4C6D}"/>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动态追问与方向调整</a:t>
            </a:r>
          </a:p>
        </p:txBody>
      </p:sp>
      <p:sp>
        <p:nvSpPr>
          <p:cNvPr id="23" name="">
            <a:extLst xmlns:a="http://schemas.openxmlformats.org/drawingml/2006/main">
              <a:ext uri="{FF2B5EF4-FFF2-40B4-BE49-F238E27FC236}">
                <a16:creationId xmlns:a16="http://schemas.microsoft.com/office/drawing/2014/main" id="{6E184E29-2D8B-4A7F-8FE8-AB61069A3FA7}"/>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支持随时补充资料、调整追问方向、限定分析范围，灵活应对复杂案情。</a:t>
            </a:r>
          </a:p>
        </p:txBody>
      </p:sp>
      <p:sp>
        <p:nvSpPr>
          <p:cNvPr id="24" name="">
            <a:extLst xmlns:a="http://schemas.openxmlformats.org/drawingml/2006/main">
              <a:ext uri="{FF2B5EF4-FFF2-40B4-BE49-F238E27FC236}">
                <a16:creationId xmlns:a16="http://schemas.microsoft.com/office/drawing/2014/main" id="{3025205E-81D8-4793-8CF7-76FCA2538378}"/>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1185CBCE-327A-4B83-814E-450E9FB40265}"/>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依据链条可复核</a:t>
            </a:r>
          </a:p>
        </p:txBody>
      </p:sp>
      <p:sp>
        <p:nvSpPr>
          <p:cNvPr id="26" name="">
            <a:extLst xmlns:a="http://schemas.openxmlformats.org/drawingml/2006/main">
              <a:ext uri="{FF2B5EF4-FFF2-40B4-BE49-F238E27FC236}">
                <a16:creationId xmlns:a16="http://schemas.microsoft.com/office/drawing/2014/main" id="{51873F7F-ACC8-4DC8-936B-C5713E19A461}"/>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分析结果可以关联原始资料、数据库记录、图谱路径、引用依据和执行过程，便于审计人员复核。</a:t>
            </a:r>
          </a:p>
        </p:txBody>
      </p:sp>
      <p:sp>
        <p:nvSpPr>
          <p:cNvPr id="27" name="">
            <a:extLst xmlns:a="http://schemas.openxmlformats.org/drawingml/2006/main">
              <a:ext uri="{FF2B5EF4-FFF2-40B4-BE49-F238E27FC236}">
                <a16:creationId xmlns:a16="http://schemas.microsoft.com/office/drawing/2014/main" id="{3CD410F0-CF37-4F5F-8F84-1ED7FD78237B}"/>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8" name="">
            <a:extLst xmlns:a="http://schemas.openxmlformats.org/drawingml/2006/main">
              <a:ext uri="{FF2B5EF4-FFF2-40B4-BE49-F238E27FC236}">
                <a16:creationId xmlns:a16="http://schemas.microsoft.com/office/drawing/2014/main" id="{C8795F5A-A992-4FAB-8688-B8A0D05A7881}"/>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一句话表达：</a:t>
            </a:r>
          </a:p>
        </p:txBody>
      </p:sp>
      <p:sp>
        <p:nvSpPr>
          <p:cNvPr id="29" name="">
            <a:extLst xmlns:a="http://schemas.openxmlformats.org/drawingml/2006/main">
              <a:ext uri="{FF2B5EF4-FFF2-40B4-BE49-F238E27FC236}">
                <a16:creationId xmlns:a16="http://schemas.microsoft.com/office/drawing/2014/main" id="{37F2C54D-F694-4ED1-8B44-2F5D89A7F6D9}"/>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审计助手不是单纯对话入口，而是围绕多源资源和多类工具组织分析动作的协同分析入口。</a:t>
            </a:r>
          </a:p>
        </p:txBody>
      </p:sp>
    </p:spTree>
    <p:extLst>
      <p:ext uri="{BB962C8B-B14F-4D97-AF65-F5344CB8AC3E}">
        <p14:creationId xmlns:p14="http://schemas.microsoft.com/office/powerpoint/2010/main" val="270102464"/>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AAF4F8-9944-49E6-879C-2C1122D739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9BA6C92-9738-46C7-B319-2D4F212FC8CF}"/>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4F7E9C7-7DE2-4202-915A-8BDF44E73C87}"/>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3E12002-2341-452F-8767-C31734F8BFFA}"/>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任务模块：单次任务与跑批任务</a:t>
            </a:r>
          </a:p>
        </p:txBody>
      </p:sp>
      <p:sp>
        <p:nvSpPr>
          <p:cNvPr id="5" name="">
            <a:extLst xmlns:a="http://schemas.openxmlformats.org/drawingml/2006/main">
              <a:ext uri="{FF2B5EF4-FFF2-40B4-BE49-F238E27FC236}">
                <a16:creationId xmlns:a16="http://schemas.microsoft.com/office/drawing/2014/main" id="{4C1F1192-B1CF-49EC-B854-BB3118521346}"/>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A25B4649-020F-4A3D-989F-BD7D821F125C}"/>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说明平台可以把交互式分析进一步组织成可监控、可批量、可复核的标准化任务。</a:t>
            </a:r>
          </a:p>
        </p:txBody>
      </p:sp>
      <p:sp>
        <p:nvSpPr>
          <p:cNvPr id="7" name="">
            <a:extLst xmlns:a="http://schemas.openxmlformats.org/drawingml/2006/main">
              <a:ext uri="{FF2B5EF4-FFF2-40B4-BE49-F238E27FC236}">
                <a16:creationId xmlns:a16="http://schemas.microsoft.com/office/drawing/2014/main" id="{107CEED7-43AA-44AA-8665-3E9060CBE739}"/>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6443E8AB-F2D3-42CF-A8B4-4BEA854181D0}"/>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32</a:t>
            </a:r>
          </a:p>
        </p:txBody>
      </p:sp>
      <p:sp>
        <p:nvSpPr>
          <p:cNvPr id="9" name="">
            <a:extLst xmlns:a="http://schemas.openxmlformats.org/drawingml/2006/main">
              <a:ext uri="{FF2B5EF4-FFF2-40B4-BE49-F238E27FC236}">
                <a16:creationId xmlns:a16="http://schemas.microsoft.com/office/drawing/2014/main" id="{4FEB5874-5B34-4E24-B800-0182E10E77E6}"/>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5355C1EC-9AAB-4E70-9337-032D2F02E341}"/>
              </a:ext>
            </a:extLst>
          </p:cNvPr>
          <p:cNvSpPr>
            <a:spLocks xmlns:a="http://schemas.openxmlformats.org/drawingml/2006/main" noGrp="1"/>
          </p:cNvSpPr>
          <p:nvPr/>
        </p:nvSpPr>
        <p:spPr>
          <a:xfrm xmlns:a="http://schemas.openxmlformats.org/drawingml/2006/main">
            <a:off x="8382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任务模块：围绕特定资源和特定目标产出分析结果</a:t>
            </a:r>
          </a:p>
        </p:txBody>
      </p:sp>
      <p:sp>
        <p:nvSpPr>
          <p:cNvPr id="11" name="">
            <a:extLst xmlns:a="http://schemas.openxmlformats.org/drawingml/2006/main">
              <a:ext uri="{FF2B5EF4-FFF2-40B4-BE49-F238E27FC236}">
                <a16:creationId xmlns:a16="http://schemas.microsoft.com/office/drawing/2014/main" id="{158EF278-22E5-4FF2-BEC1-F71DE18EE718}"/>
              </a:ext>
            </a:extLst>
          </p:cNvPr>
          <p:cNvSpPr>
            <a:spLocks xmlns:a="http://schemas.openxmlformats.org/drawingml/2006/main" noGrp="1"/>
          </p:cNvSpPr>
          <p:nvPr/>
        </p:nvSpPr>
        <p:spPr>
          <a:xfrm xmlns:a="http://schemas.openxmlformats.org/drawingml/2006/main">
            <a:off x="8382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单次任务</a:t>
            </a:r>
          </a:p>
        </p:txBody>
      </p:sp>
      <p:sp>
        <p:nvSpPr>
          <p:cNvPr id="12" name="">
            <a:extLst xmlns:a="http://schemas.openxmlformats.org/drawingml/2006/main">
              <a:ext uri="{FF2B5EF4-FFF2-40B4-BE49-F238E27FC236}">
                <a16:creationId xmlns:a16="http://schemas.microsoft.com/office/drawing/2014/main" id="{E4C75C66-5F33-453B-835D-F2CCCB1FA11F}"/>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3" name="">
            <a:extLst xmlns:a="http://schemas.openxmlformats.org/drawingml/2006/main">
              <a:ext uri="{FF2B5EF4-FFF2-40B4-BE49-F238E27FC236}">
                <a16:creationId xmlns:a16="http://schemas.microsoft.com/office/drawing/2014/main" id="{D827C833-734B-45E3-890C-0FFE0AACF4FC}"/>
              </a:ext>
            </a:extLst>
          </p:cNvPr>
          <p:cNvSpPr>
            <a:spLocks xmlns:a="http://schemas.openxmlformats.org/drawingml/2006/main" noGrp="1"/>
          </p:cNvSpPr>
          <p:nvPr/>
        </p:nvSpPr>
        <p:spPr>
          <a:xfrm xmlns:a="http://schemas.openxmlformats.org/drawingml/2006/main">
            <a:off x="838200" y="321945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围绕指定资料、指定项目或指定问题发起一次分析任务，由平台组织相关资源和技能完成针对性分析。</a:t>
            </a:r>
          </a:p>
        </p:txBody>
      </p:sp>
      <p:sp>
        <p:nvSpPr>
          <p:cNvPr id="14" name="">
            <a:extLst xmlns:a="http://schemas.openxmlformats.org/drawingml/2006/main">
              <a:ext uri="{FF2B5EF4-FFF2-40B4-BE49-F238E27FC236}">
                <a16:creationId xmlns:a16="http://schemas.microsoft.com/office/drawing/2014/main" id="{4AB1DDBB-9333-47A1-BE4E-8E3B96CE784F}"/>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F3590A40-067D-4C5F-A321-E3996D7693FA}"/>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适用场景：</a:t>
            </a:r>
          </a:p>
        </p:txBody>
      </p:sp>
      <p:sp>
        <p:nvSpPr>
          <p:cNvPr id="16" name="">
            <a:extLst xmlns:a="http://schemas.openxmlformats.org/drawingml/2006/main">
              <a:ext uri="{FF2B5EF4-FFF2-40B4-BE49-F238E27FC236}">
                <a16:creationId xmlns:a16="http://schemas.microsoft.com/office/drawing/2014/main" id="{5D2DDAF6-4FC4-43C5-893C-6457F4324226}"/>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单个项目资料审查</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单份合同风险识别</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单个主体关联分析</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单条线索补充核查</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单项制度依据匹配</a:t>
            </a:r>
          </a:p>
        </p:txBody>
      </p:sp>
      <p:sp>
        <p:nvSpPr>
          <p:cNvPr id="17" name="">
            <a:extLst xmlns:a="http://schemas.openxmlformats.org/drawingml/2006/main">
              <a:ext uri="{FF2B5EF4-FFF2-40B4-BE49-F238E27FC236}">
                <a16:creationId xmlns:a16="http://schemas.microsoft.com/office/drawing/2014/main" id="{0F3A992D-4FB2-4715-A962-D61C00E5FACA}"/>
              </a:ext>
            </a:extLst>
          </p:cNvPr>
          <p:cNvSpPr>
            <a:spLocks xmlns:a="http://schemas.openxmlformats.org/drawingml/2006/main" noGrp="1"/>
          </p:cNvSpPr>
          <p:nvPr/>
        </p:nvSpPr>
        <p:spPr>
          <a:xfrm xmlns:a="http://schemas.openxmlformats.org/drawingml/2006/main">
            <a:off x="6858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DAAB492D-F8D2-4AF8-9AF8-DCA0375C480D}"/>
              </a:ext>
            </a:extLst>
          </p:cNvPr>
          <p:cNvSpPr>
            <a:spLocks xmlns:a="http://schemas.openxmlformats.org/drawingml/2006/main" noGrp="1"/>
          </p:cNvSpPr>
          <p:nvPr/>
        </p:nvSpPr>
        <p:spPr>
          <a:xfrm xmlns:a="http://schemas.openxmlformats.org/drawingml/2006/main">
            <a:off x="8382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跑批任务</a:t>
            </a:r>
          </a:p>
        </p:txBody>
      </p:sp>
      <p:sp>
        <p:nvSpPr>
          <p:cNvPr id="19" name="">
            <a:extLst xmlns:a="http://schemas.openxmlformats.org/drawingml/2006/main">
              <a:ext uri="{FF2B5EF4-FFF2-40B4-BE49-F238E27FC236}">
                <a16:creationId xmlns:a16="http://schemas.microsoft.com/office/drawing/2014/main" id="{3619FBD4-6047-45DA-950B-AEE00B29DDAF}"/>
              </a:ext>
            </a:extLst>
          </p:cNvPr>
          <p:cNvSpPr>
            <a:spLocks xmlns:a="http://schemas.openxmlformats.org/drawingml/2006/main" noGrp="1"/>
          </p:cNvSpPr>
          <p:nvPr/>
        </p:nvSpPr>
        <p:spPr>
          <a:xfrm xmlns:a="http://schemas.openxmlformats.org/drawingml/2006/main">
            <a:off x="8382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面向大批量资料或大批量项目创建批量任务，由平台按任务计划自动执行，并输出结构化结果、异常列表和汇总报告。</a:t>
            </a:r>
          </a:p>
        </p:txBody>
      </p:sp>
      <p:sp>
        <p:nvSpPr>
          <p:cNvPr id="20" name="">
            <a:extLst xmlns:a="http://schemas.openxmlformats.org/drawingml/2006/main">
              <a:ext uri="{FF2B5EF4-FFF2-40B4-BE49-F238E27FC236}">
                <a16:creationId xmlns:a16="http://schemas.microsoft.com/office/drawing/2014/main" id="{663BDB52-FE70-4A03-810F-5A93D0FAE970}"/>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1" name="">
            <a:extLst xmlns:a="http://schemas.openxmlformats.org/drawingml/2006/main">
              <a:ext uri="{FF2B5EF4-FFF2-40B4-BE49-F238E27FC236}">
                <a16:creationId xmlns:a16="http://schemas.microsoft.com/office/drawing/2014/main" id="{71262D6B-6148-471B-A552-5DB1B973904B}"/>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适用场景：</a:t>
            </a:r>
          </a:p>
        </p:txBody>
      </p:sp>
      <p:sp>
        <p:nvSpPr>
          <p:cNvPr id="22" name="">
            <a:extLst xmlns:a="http://schemas.openxmlformats.org/drawingml/2006/main">
              <a:ext uri="{FF2B5EF4-FFF2-40B4-BE49-F238E27FC236}">
                <a16:creationId xmlns:a16="http://schemas.microsoft.com/office/drawing/2014/main" id="{4E24651D-0387-4A73-BAF4-2C249C209C7C}"/>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大批量合同审查</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大批量招投标文件核查</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多项目投资审计分析</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多主体关系批量推理</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大量资料的要素抽取和差异比对</a:t>
            </a:r>
          </a:p>
        </p:txBody>
      </p:sp>
      <p:sp>
        <p:nvSpPr>
          <p:cNvPr id="23" name="">
            <a:extLst xmlns:a="http://schemas.openxmlformats.org/drawingml/2006/main">
              <a:ext uri="{FF2B5EF4-FFF2-40B4-BE49-F238E27FC236}">
                <a16:creationId xmlns:a16="http://schemas.microsoft.com/office/drawing/2014/main" id="{94800699-6EDE-488E-9ABE-9D778963B872}"/>
              </a:ext>
            </a:extLst>
          </p:cNvPr>
          <p:cNvSpPr>
            <a:spLocks xmlns:a="http://schemas.openxmlformats.org/drawingml/2006/main" noGrp="1"/>
          </p:cNvSpPr>
          <p:nvPr/>
        </p:nvSpPr>
        <p:spPr>
          <a:xfrm xmlns:a="http://schemas.openxmlformats.org/drawingml/2006/main">
            <a:off x="6286500" y="3067050"/>
            <a:ext cx="5219700" cy="991743"/>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4" name="">
            <a:extLst xmlns:a="http://schemas.openxmlformats.org/drawingml/2006/main">
              <a:ext uri="{FF2B5EF4-FFF2-40B4-BE49-F238E27FC236}">
                <a16:creationId xmlns:a16="http://schemas.microsoft.com/office/drawing/2014/main" id="{6F658C44-088E-4F81-BF3E-D4C6F719B58B}"/>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任务过程管理</a:t>
            </a:r>
          </a:p>
        </p:txBody>
      </p:sp>
      <p:sp>
        <p:nvSpPr>
          <p:cNvPr id="25" name="">
            <a:extLst xmlns:a="http://schemas.openxmlformats.org/drawingml/2006/main">
              <a:ext uri="{FF2B5EF4-FFF2-40B4-BE49-F238E27FC236}">
                <a16:creationId xmlns:a16="http://schemas.microsoft.com/office/drawing/2014/main" id="{6D9FC5BC-4B6A-4490-80C2-DCB02B2E494A}"/>
              </a:ext>
            </a:extLst>
          </p:cNvPr>
          <p:cNvSpPr>
            <a:spLocks xmlns:a="http://schemas.openxmlformats.org/drawingml/2006/main" noGrp="1"/>
          </p:cNvSpPr>
          <p:nvPr/>
        </p:nvSpPr>
        <p:spPr>
          <a:xfrm xmlns:a="http://schemas.openxmlformats.org/drawingml/2006/main">
            <a:off x="6438900" y="3448050"/>
            <a:ext cx="4914900" cy="51549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展示资料准备、模板挂载、分析执行和结果产出的关键节点状态。</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支持实时查看解析进度、匹配状态、异常列表和任务结果。</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支持任务中断、异常记录、任务重跑和结果明细查看。</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支持将任务结果输出为结构化数据、报告初稿或后续复核清单。</a:t>
            </a:r>
          </a:p>
        </p:txBody>
      </p:sp>
      <p:sp>
        <p:nvSpPr>
          <p:cNvPr id="26" name="">
            <a:extLst xmlns:a="http://schemas.openxmlformats.org/drawingml/2006/main">
              <a:ext uri="{FF2B5EF4-FFF2-40B4-BE49-F238E27FC236}">
                <a16:creationId xmlns:a16="http://schemas.microsoft.com/office/drawing/2014/main" id="{ED4AA4C7-938A-4F4C-8B01-ECB3ABC74FC4}"/>
              </a:ext>
            </a:extLst>
          </p:cNvPr>
          <p:cNvSpPr>
            <a:spLocks xmlns:a="http://schemas.openxmlformats.org/drawingml/2006/main" noGrp="1"/>
          </p:cNvSpPr>
          <p:nvPr/>
        </p:nvSpPr>
        <p:spPr>
          <a:xfrm xmlns:a="http://schemas.openxmlformats.org/drawingml/2006/main">
            <a:off x="6286500" y="4173093"/>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7" name="">
            <a:extLst xmlns:a="http://schemas.openxmlformats.org/drawingml/2006/main">
              <a:ext uri="{FF2B5EF4-FFF2-40B4-BE49-F238E27FC236}">
                <a16:creationId xmlns:a16="http://schemas.microsoft.com/office/drawing/2014/main" id="{48F9D381-7EF7-47C0-A0E4-2F1217D24EDE}"/>
              </a:ext>
            </a:extLst>
          </p:cNvPr>
          <p:cNvSpPr>
            <a:spLocks xmlns:a="http://schemas.openxmlformats.org/drawingml/2006/main" noGrp="1"/>
          </p:cNvSpPr>
          <p:nvPr/>
        </p:nvSpPr>
        <p:spPr>
          <a:xfrm xmlns:a="http://schemas.openxmlformats.org/drawingml/2006/main">
            <a:off x="6438900" y="4306443"/>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一句话表达：</a:t>
            </a:r>
          </a:p>
        </p:txBody>
      </p:sp>
      <p:sp>
        <p:nvSpPr>
          <p:cNvPr id="28" name="">
            <a:extLst xmlns:a="http://schemas.openxmlformats.org/drawingml/2006/main">
              <a:ext uri="{FF2B5EF4-FFF2-40B4-BE49-F238E27FC236}">
                <a16:creationId xmlns:a16="http://schemas.microsoft.com/office/drawing/2014/main" id="{6B2243C0-ABE6-4045-B1F2-045C4069C350}"/>
              </a:ext>
            </a:extLst>
          </p:cNvPr>
          <p:cNvSpPr>
            <a:spLocks xmlns:a="http://schemas.openxmlformats.org/drawingml/2006/main" noGrp="1"/>
          </p:cNvSpPr>
          <p:nvPr/>
        </p:nvSpPr>
        <p:spPr>
          <a:xfrm xmlns:a="http://schemas.openxmlformats.org/drawingml/2006/main">
            <a:off x="6438900" y="4554093"/>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任务模块把“调用资源和技能做分析”组织成标准化执行单元，既支持单次分析，也支持规模化跑批。</a:t>
            </a:r>
          </a:p>
        </p:txBody>
      </p:sp>
    </p:spTree>
    <p:extLst>
      <p:ext uri="{BB962C8B-B14F-4D97-AF65-F5344CB8AC3E}">
        <p14:creationId xmlns:p14="http://schemas.microsoft.com/office/powerpoint/2010/main" val="93735694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8C481EE-B9D1-4F43-B6C3-ACEBED3F230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75B3795-D8DE-437F-8108-64663F733D30}"/>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39D4CFE-E583-4254-8389-D6CDE8F02635}"/>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180295E-1C6A-4390-8386-5FF296B23D91}"/>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技能</a:t>
            </a:r>
          </a:p>
        </p:txBody>
      </p:sp>
      <p:sp>
        <p:nvSpPr>
          <p:cNvPr id="5" name="">
            <a:extLst xmlns:a="http://schemas.openxmlformats.org/drawingml/2006/main">
              <a:ext uri="{FF2B5EF4-FFF2-40B4-BE49-F238E27FC236}">
                <a16:creationId xmlns:a16="http://schemas.microsoft.com/office/drawing/2014/main" id="{06F6EEBC-4DAD-4484-BC63-8D657A60DF82}"/>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AB951850-5BAA-47EC-9BB1-983E7219CFE5}"/>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说明平台如何把专家审计方法沉淀为可复用、可执行、可批量调用的能力单元。</a:t>
            </a:r>
          </a:p>
        </p:txBody>
      </p:sp>
      <p:sp>
        <p:nvSpPr>
          <p:cNvPr id="7" name="">
            <a:extLst xmlns:a="http://schemas.openxmlformats.org/drawingml/2006/main">
              <a:ext uri="{FF2B5EF4-FFF2-40B4-BE49-F238E27FC236}">
                <a16:creationId xmlns:a16="http://schemas.microsoft.com/office/drawing/2014/main" id="{B5CA6190-8366-43E6-93C4-195EDABB3CC7}"/>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BFFE46EB-43B5-47A8-8BCD-6577820D2A30}"/>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33</a:t>
            </a:r>
          </a:p>
        </p:txBody>
      </p:sp>
      <p:sp>
        <p:nvSpPr>
          <p:cNvPr id="9" name="">
            <a:extLst xmlns:a="http://schemas.openxmlformats.org/drawingml/2006/main">
              <a:ext uri="{FF2B5EF4-FFF2-40B4-BE49-F238E27FC236}">
                <a16:creationId xmlns:a16="http://schemas.microsoft.com/office/drawing/2014/main" id="{ADB302D1-5001-4146-89C9-3209369A0B53}"/>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2E43F525-2300-435D-A908-4D1955EE5036}"/>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技能是平台中可复用的分析方法和执行配置，用于把成熟的核查路径、判断规则、分析步骤和资源调用方式沉淀为可重复执行的能力单元。</a:t>
            </a:r>
          </a:p>
        </p:txBody>
      </p:sp>
      <p:sp>
        <p:nvSpPr>
          <p:cNvPr id="11" name="">
            <a:extLst xmlns:a="http://schemas.openxmlformats.org/drawingml/2006/main">
              <a:ext uri="{FF2B5EF4-FFF2-40B4-BE49-F238E27FC236}">
                <a16:creationId xmlns:a16="http://schemas.microsoft.com/office/drawing/2014/main" id="{C8ABCB21-2418-4792-812C-E25F041E9EE4}"/>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16FE46AF-572A-44DB-953D-FA47C8FEE595}"/>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一个审计技能通常包含</a:t>
            </a:r>
          </a:p>
        </p:txBody>
      </p:sp>
      <p:sp>
        <p:nvSpPr>
          <p:cNvPr id="13" name="">
            <a:extLst xmlns:a="http://schemas.openxmlformats.org/drawingml/2006/main">
              <a:ext uri="{FF2B5EF4-FFF2-40B4-BE49-F238E27FC236}">
                <a16:creationId xmlns:a16="http://schemas.microsoft.com/office/drawing/2014/main" id="{DF3EFF5F-1EF6-450B-AC46-9A4EF2102AF0}"/>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输入要求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需要哪些资料、数据表、图谱、参数和业务范围。</a:t>
            </a:r>
          </a:p>
        </p:txBody>
      </p:sp>
      <p:sp>
        <p:nvSpPr>
          <p:cNvPr id="14" name="">
            <a:extLst xmlns:a="http://schemas.openxmlformats.org/drawingml/2006/main">
              <a:ext uri="{FF2B5EF4-FFF2-40B4-BE49-F238E27FC236}">
                <a16:creationId xmlns:a16="http://schemas.microsoft.com/office/drawing/2014/main" id="{5A26C950-C155-4B5D-B1F1-8CC824FC9CCD}"/>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4332BFE0-DDA3-41DF-87CD-F98EA7373CD5}"/>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执行步骤</a:t>
            </a:r>
          </a:p>
        </p:txBody>
      </p:sp>
      <p:sp>
        <p:nvSpPr>
          <p:cNvPr id="16" name="">
            <a:extLst xmlns:a="http://schemas.openxmlformats.org/drawingml/2006/main">
              <a:ext uri="{FF2B5EF4-FFF2-40B4-BE49-F238E27FC236}">
                <a16:creationId xmlns:a16="http://schemas.microsoft.com/office/drawing/2014/main" id="{6C8BCA36-65D1-4661-ADE0-8EF8DEB2D415}"/>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包括资料解析、要素抽取、数据查询、图谱穿透、规则判断、差异比对、结果生成等动作。</a:t>
            </a:r>
          </a:p>
        </p:txBody>
      </p:sp>
      <p:sp>
        <p:nvSpPr>
          <p:cNvPr id="17" name="">
            <a:extLst xmlns:a="http://schemas.openxmlformats.org/drawingml/2006/main">
              <a:ext uri="{FF2B5EF4-FFF2-40B4-BE49-F238E27FC236}">
                <a16:creationId xmlns:a16="http://schemas.microsoft.com/office/drawing/2014/main" id="{EF628118-FCE6-49FD-9895-5981A3F33023}"/>
              </a:ext>
            </a:extLst>
          </p:cNvPr>
          <p:cNvSpPr>
            <a:spLocks xmlns:a="http://schemas.openxmlformats.org/drawingml/2006/main" noGrp="1"/>
          </p:cNvSpPr>
          <p:nvPr/>
        </p:nvSpPr>
        <p:spPr>
          <a:xfrm xmlns:a="http://schemas.openxmlformats.org/drawingml/2006/main">
            <a:off x="6858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1073A2AE-28E5-4370-958A-7F658C2CD9E0}"/>
              </a:ext>
            </a:extLst>
          </p:cNvPr>
          <p:cNvSpPr>
            <a:spLocks xmlns:a="http://schemas.openxmlformats.org/drawingml/2006/main" noGrp="1"/>
          </p:cNvSpPr>
          <p:nvPr/>
        </p:nvSpPr>
        <p:spPr>
          <a:xfrm xmlns:a="http://schemas.openxmlformats.org/drawingml/2006/main">
            <a:off x="8382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资源调用方式</a:t>
            </a:r>
          </a:p>
        </p:txBody>
      </p:sp>
      <p:sp>
        <p:nvSpPr>
          <p:cNvPr id="19" name="">
            <a:extLst xmlns:a="http://schemas.openxmlformats.org/drawingml/2006/main">
              <a:ext uri="{FF2B5EF4-FFF2-40B4-BE49-F238E27FC236}">
                <a16:creationId xmlns:a16="http://schemas.microsoft.com/office/drawing/2014/main" id="{4836345B-16DE-418F-86A6-544C2C6D9F79}"/>
              </a:ext>
            </a:extLst>
          </p:cNvPr>
          <p:cNvSpPr>
            <a:spLocks xmlns:a="http://schemas.openxmlformats.org/drawingml/2006/main" noGrp="1"/>
          </p:cNvSpPr>
          <p:nvPr/>
        </p:nvSpPr>
        <p:spPr>
          <a:xfrm xmlns:a="http://schemas.openxmlformats.org/drawingml/2006/main">
            <a:off x="8382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调用哪些数据库、知识库、图谱、文档、OCR 能力、智能体或外部工具。</a:t>
            </a:r>
          </a:p>
        </p:txBody>
      </p:sp>
      <p:sp>
        <p:nvSpPr>
          <p:cNvPr id="20" name="">
            <a:extLst xmlns:a="http://schemas.openxmlformats.org/drawingml/2006/main">
              <a:ext uri="{FF2B5EF4-FFF2-40B4-BE49-F238E27FC236}">
                <a16:creationId xmlns:a16="http://schemas.microsoft.com/office/drawing/2014/main" id="{AABB9406-A531-49DA-8A46-C0BB22E60EED}"/>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1" name="">
            <a:extLst xmlns:a="http://schemas.openxmlformats.org/drawingml/2006/main">
              <a:ext uri="{FF2B5EF4-FFF2-40B4-BE49-F238E27FC236}">
                <a16:creationId xmlns:a16="http://schemas.microsoft.com/office/drawing/2014/main" id="{F458C30D-BDA4-454E-9EBF-B8F527205A49}"/>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判断逻辑</a:t>
            </a:r>
          </a:p>
        </p:txBody>
      </p:sp>
      <p:sp>
        <p:nvSpPr>
          <p:cNvPr id="22" name="">
            <a:extLst xmlns:a="http://schemas.openxmlformats.org/drawingml/2006/main">
              <a:ext uri="{FF2B5EF4-FFF2-40B4-BE49-F238E27FC236}">
                <a16:creationId xmlns:a16="http://schemas.microsoft.com/office/drawing/2014/main" id="{51F39C63-5D4D-4461-A9BA-CD3DE0BF5B1B}"/>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将审计规则、风险特征、异常阈值、业务口径和判断条件固化为可执行逻辑。</a:t>
            </a:r>
          </a:p>
        </p:txBody>
      </p:sp>
      <p:sp>
        <p:nvSpPr>
          <p:cNvPr id="23" name="">
            <a:extLst xmlns:a="http://schemas.openxmlformats.org/drawingml/2006/main">
              <a:ext uri="{FF2B5EF4-FFF2-40B4-BE49-F238E27FC236}">
                <a16:creationId xmlns:a16="http://schemas.microsoft.com/office/drawing/2014/main" id="{7F92B389-8B83-43AD-A099-48DF21EB097E}"/>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4" name="">
            <a:extLst xmlns:a="http://schemas.openxmlformats.org/drawingml/2006/main">
              <a:ext uri="{FF2B5EF4-FFF2-40B4-BE49-F238E27FC236}">
                <a16:creationId xmlns:a16="http://schemas.microsoft.com/office/drawing/2014/main" id="{8F817C6D-8196-4F6F-8CB6-EF95CB70FEBB}"/>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输出结构</a:t>
            </a:r>
          </a:p>
        </p:txBody>
      </p:sp>
      <p:sp>
        <p:nvSpPr>
          <p:cNvPr id="25" name="">
            <a:extLst xmlns:a="http://schemas.openxmlformats.org/drawingml/2006/main">
              <a:ext uri="{FF2B5EF4-FFF2-40B4-BE49-F238E27FC236}">
                <a16:creationId xmlns:a16="http://schemas.microsoft.com/office/drawing/2014/main" id="{4FAD75DC-88EE-4854-BE37-16DE524C91E9}"/>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定义输出字段、疑点说明、依据引用、风险等级、复核建议和报告片段。</a:t>
            </a:r>
          </a:p>
        </p:txBody>
      </p:sp>
      <p:sp>
        <p:nvSpPr>
          <p:cNvPr id="26" name="">
            <a:extLst xmlns:a="http://schemas.openxmlformats.org/drawingml/2006/main">
              <a:ext uri="{FF2B5EF4-FFF2-40B4-BE49-F238E27FC236}">
                <a16:creationId xmlns:a16="http://schemas.microsoft.com/office/drawing/2014/main" id="{EBB39939-A07C-4499-881D-FF38A043B7ED}"/>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7" name="">
            <a:extLst xmlns:a="http://schemas.openxmlformats.org/drawingml/2006/main">
              <a:ext uri="{FF2B5EF4-FFF2-40B4-BE49-F238E27FC236}">
                <a16:creationId xmlns:a16="http://schemas.microsoft.com/office/drawing/2014/main" id="{12E8E8AA-485B-4C30-919C-B85CCA5074B1}"/>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证据要求</a:t>
            </a:r>
          </a:p>
        </p:txBody>
      </p:sp>
      <p:sp>
        <p:nvSpPr>
          <p:cNvPr id="28" name="">
            <a:extLst xmlns:a="http://schemas.openxmlformats.org/drawingml/2006/main">
              <a:ext uri="{FF2B5EF4-FFF2-40B4-BE49-F238E27FC236}">
                <a16:creationId xmlns:a16="http://schemas.microsoft.com/office/drawing/2014/main" id="{C1CDCE2D-B9C1-4ED8-AE49-9A7584B12EFE}"/>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要求结果能够关联原始资料、数据库记录、图谱路径、法规依据和任务日志。</a:t>
            </a:r>
          </a:p>
        </p:txBody>
      </p:sp>
      <p:sp>
        <p:nvSpPr>
          <p:cNvPr id="29" name="">
            <a:extLst xmlns:a="http://schemas.openxmlformats.org/drawingml/2006/main">
              <a:ext uri="{FF2B5EF4-FFF2-40B4-BE49-F238E27FC236}">
                <a16:creationId xmlns:a16="http://schemas.microsoft.com/office/drawing/2014/main" id="{46A5DA91-E669-4CA2-A586-50F2CC7F2F36}"/>
              </a:ext>
            </a:extLst>
          </p:cNvPr>
          <p:cNvSpPr>
            <a:spLocks xmlns:a="http://schemas.openxmlformats.org/drawingml/2006/main" noGrp="1"/>
          </p:cNvSpPr>
          <p:nvPr/>
        </p:nvSpPr>
        <p:spPr>
          <a:xfrm xmlns:a="http://schemas.openxmlformats.org/drawingml/2006/main">
            <a:off x="62865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30" name="">
            <a:extLst xmlns:a="http://schemas.openxmlformats.org/drawingml/2006/main">
              <a:ext uri="{FF2B5EF4-FFF2-40B4-BE49-F238E27FC236}">
                <a16:creationId xmlns:a16="http://schemas.microsoft.com/office/drawing/2014/main" id="{D1F28276-6719-4067-9A60-CF04CDAF5BF8}"/>
              </a:ext>
            </a:extLst>
          </p:cNvPr>
          <p:cNvSpPr>
            <a:spLocks xmlns:a="http://schemas.openxmlformats.org/drawingml/2006/main" noGrp="1"/>
          </p:cNvSpPr>
          <p:nvPr/>
        </p:nvSpPr>
        <p:spPr>
          <a:xfrm xmlns:a="http://schemas.openxmlformats.org/drawingml/2006/main">
            <a:off x="64389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形成方式</a:t>
            </a:r>
          </a:p>
        </p:txBody>
      </p:sp>
      <p:sp>
        <p:nvSpPr>
          <p:cNvPr id="31" name="">
            <a:extLst xmlns:a="http://schemas.openxmlformats.org/drawingml/2006/main">
              <a:ext uri="{FF2B5EF4-FFF2-40B4-BE49-F238E27FC236}">
                <a16:creationId xmlns:a16="http://schemas.microsoft.com/office/drawing/2014/main" id="{6613A77C-88DB-46A6-9B18-5BBD38695281}"/>
              </a:ext>
            </a:extLst>
          </p:cNvPr>
          <p:cNvSpPr>
            <a:spLocks xmlns:a="http://schemas.openxmlformats.org/drawingml/2006/main" noGrp="1"/>
          </p:cNvSpPr>
          <p:nvPr/>
        </p:nvSpPr>
        <p:spPr>
          <a:xfrm xmlns:a="http://schemas.openxmlformats.org/drawingml/2006/main">
            <a:off x="64389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基于成熟模板形成标准化技能。</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在交互分析过程中将高价值经验持续沉淀为新技能。</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在项目复盘后把有效核查路径整理为组织级技能资产。</a:t>
            </a:r>
          </a:p>
        </p:txBody>
      </p:sp>
    </p:spTree>
    <p:extLst>
      <p:ext uri="{BB962C8B-B14F-4D97-AF65-F5344CB8AC3E}">
        <p14:creationId xmlns:p14="http://schemas.microsoft.com/office/powerpoint/2010/main" val="1679284614"/>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4AF7353-8EB1-43D1-A225-65D248DE12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18DB563-EC92-4144-AE2F-8DF3A6E6E615}"/>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8DE3B79-90FB-4D25-AF0C-E1CDB4B3DFF3}"/>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AEBB7AE-E0E2-41E9-BBE0-967C44F7F2C5}"/>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应用中心</a:t>
            </a:r>
          </a:p>
        </p:txBody>
      </p:sp>
      <p:sp>
        <p:nvSpPr>
          <p:cNvPr id="5" name="">
            <a:extLst xmlns:a="http://schemas.openxmlformats.org/drawingml/2006/main">
              <a:ext uri="{FF2B5EF4-FFF2-40B4-BE49-F238E27FC236}">
                <a16:creationId xmlns:a16="http://schemas.microsoft.com/office/drawing/2014/main" id="{8BE2FF2B-2B5A-4664-87E3-143C96C6B253}"/>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1B2BE756-3F5B-40F2-B091-4EF0EF458103}"/>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说明如何把复杂能力封装成低门槛业务应用，让基层和业务审计人员可以直接使用。</a:t>
            </a:r>
          </a:p>
        </p:txBody>
      </p:sp>
      <p:sp>
        <p:nvSpPr>
          <p:cNvPr id="7" name="">
            <a:extLst xmlns:a="http://schemas.openxmlformats.org/drawingml/2006/main">
              <a:ext uri="{FF2B5EF4-FFF2-40B4-BE49-F238E27FC236}">
                <a16:creationId xmlns:a16="http://schemas.microsoft.com/office/drawing/2014/main" id="{8B4EA697-96CB-4D08-A488-9E37E21FB464}"/>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3F6236F1-4067-422D-BAC4-97E3D458354A}"/>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34</a:t>
            </a:r>
          </a:p>
        </p:txBody>
      </p:sp>
      <p:sp>
        <p:nvSpPr>
          <p:cNvPr id="9" name="">
            <a:extLst xmlns:a="http://schemas.openxmlformats.org/drawingml/2006/main">
              <a:ext uri="{FF2B5EF4-FFF2-40B4-BE49-F238E27FC236}">
                <a16:creationId xmlns:a16="http://schemas.microsoft.com/office/drawing/2014/main" id="{B100BFD7-38BD-45A9-A19A-9C6149FEE2A9}"/>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152506B0-E021-42C4-A0E0-2BCFC543B561}"/>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应用中心面向更偏业务的审计人员，将已有技能、任务模板和任务执行结果封装为可直接使用的轻量化应用，降低复杂能力的使用门槛。</a:t>
            </a:r>
          </a:p>
        </p:txBody>
      </p:sp>
      <p:sp>
        <p:nvSpPr>
          <p:cNvPr id="11" name="">
            <a:extLst xmlns:a="http://schemas.openxmlformats.org/drawingml/2006/main">
              <a:ext uri="{FF2B5EF4-FFF2-40B4-BE49-F238E27FC236}">
                <a16:creationId xmlns:a16="http://schemas.microsoft.com/office/drawing/2014/main" id="{DFD0AD19-4EEC-409B-8B34-9569CA3C9566}"/>
              </a:ext>
            </a:extLst>
          </p:cNvPr>
          <p:cNvSpPr>
            <a:spLocks xmlns:a="http://schemas.openxmlformats.org/drawingml/2006/main" noGrp="1"/>
          </p:cNvSpPr>
          <p:nvPr/>
        </p:nvSpPr>
        <p:spPr>
          <a:xfrm xmlns:a="http://schemas.openxmlformats.org/drawingml/2006/main">
            <a:off x="685800" y="3067050"/>
            <a:ext cx="5219700" cy="926973"/>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ACD91D30-F0FA-406E-BCF4-87D73CEE66BB}"/>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核心思路</a:t>
            </a:r>
          </a:p>
        </p:txBody>
      </p:sp>
      <p:sp>
        <p:nvSpPr>
          <p:cNvPr id="13" name="">
            <a:extLst xmlns:a="http://schemas.openxmlformats.org/drawingml/2006/main">
              <a:ext uri="{FF2B5EF4-FFF2-40B4-BE49-F238E27FC236}">
                <a16:creationId xmlns:a16="http://schemas.microsoft.com/office/drawing/2014/main" id="{317DA475-7295-4DE4-B006-78CE8EFF5EA9}"/>
              </a:ext>
            </a:extLst>
          </p:cNvPr>
          <p:cNvSpPr>
            <a:spLocks xmlns:a="http://schemas.openxmlformats.org/drawingml/2006/main" noGrp="1"/>
          </p:cNvSpPr>
          <p:nvPr/>
        </p:nvSpPr>
        <p:spPr>
          <a:xfrm xmlns:a="http://schemas.openxmlformats.org/drawingml/2006/main">
            <a:off x="838200" y="3448050"/>
            <a:ext cx="4914900" cy="450723"/>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当某一次审计任务、某一类技能执行流程或某个成熟分析结果具备复用价值时，可以将其固化为独立应用。后续用户不需要理解底层技能编排，也不需要进行复杂对话，只需输入必要材料或参数，即可自动执行并获得结果。</a:t>
            </a:r>
          </a:p>
        </p:txBody>
      </p:sp>
      <p:sp>
        <p:nvSpPr>
          <p:cNvPr id="14" name="">
            <a:extLst xmlns:a="http://schemas.openxmlformats.org/drawingml/2006/main">
              <a:ext uri="{FF2B5EF4-FFF2-40B4-BE49-F238E27FC236}">
                <a16:creationId xmlns:a16="http://schemas.microsoft.com/office/drawing/2014/main" id="{1B538E42-00D1-4E5E-915D-25D4DD06CA9B}"/>
              </a:ext>
            </a:extLst>
          </p:cNvPr>
          <p:cNvSpPr>
            <a:spLocks xmlns:a="http://schemas.openxmlformats.org/drawingml/2006/main" noGrp="1"/>
          </p:cNvSpPr>
          <p:nvPr/>
        </p:nvSpPr>
        <p:spPr>
          <a:xfrm xmlns:a="http://schemas.openxmlformats.org/drawingml/2006/main">
            <a:off x="685800" y="4108323"/>
            <a:ext cx="5219700" cy="965835"/>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5B1F706E-6DF8-4485-BCB0-B7356C0657E7}"/>
              </a:ext>
            </a:extLst>
          </p:cNvPr>
          <p:cNvSpPr>
            <a:spLocks xmlns:a="http://schemas.openxmlformats.org/drawingml/2006/main" noGrp="1"/>
          </p:cNvSpPr>
          <p:nvPr/>
        </p:nvSpPr>
        <p:spPr>
          <a:xfrm xmlns:a="http://schemas.openxmlformats.org/drawingml/2006/main">
            <a:off x="838200" y="4241673"/>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典型使用方式</a:t>
            </a:r>
          </a:p>
        </p:txBody>
      </p:sp>
      <p:sp>
        <p:nvSpPr>
          <p:cNvPr id="16" name="">
            <a:extLst xmlns:a="http://schemas.openxmlformats.org/drawingml/2006/main">
              <a:ext uri="{FF2B5EF4-FFF2-40B4-BE49-F238E27FC236}">
                <a16:creationId xmlns:a16="http://schemas.microsoft.com/office/drawing/2014/main" id="{765B773A-8218-4EB6-877B-21B389B7E1C6}"/>
              </a:ext>
            </a:extLst>
          </p:cNvPr>
          <p:cNvSpPr>
            <a:spLocks xmlns:a="http://schemas.openxmlformats.org/drawingml/2006/main" noGrp="1"/>
          </p:cNvSpPr>
          <p:nvPr/>
        </p:nvSpPr>
        <p:spPr>
          <a:xfrm xmlns:a="http://schemas.openxmlformats.org/drawingml/2006/main">
            <a:off x="838200" y="4489323"/>
            <a:ext cx="4914900" cy="48958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上传材料，自动完成资料解析、要素抽取、疑点识别和结果生成。</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选择项目或数据范围，自动执行既定核查流程。</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填写少量参数，调用一个或多个技能完成分析任务。</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面向基层或业务审计人员提供标准化、低门槛的作业入口。</a:t>
            </a:r>
          </a:p>
        </p:txBody>
      </p:sp>
      <p:sp>
        <p:nvSpPr>
          <p:cNvPr id="17" name="">
            <a:extLst xmlns:a="http://schemas.openxmlformats.org/drawingml/2006/main">
              <a:ext uri="{FF2B5EF4-FFF2-40B4-BE49-F238E27FC236}">
                <a16:creationId xmlns:a16="http://schemas.microsoft.com/office/drawing/2014/main" id="{ABD44AA2-225D-44F1-8903-E7DADF847FFE}"/>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8" name="">
            <a:extLst xmlns:a="http://schemas.openxmlformats.org/drawingml/2006/main">
              <a:ext uri="{FF2B5EF4-FFF2-40B4-BE49-F238E27FC236}">
                <a16:creationId xmlns:a16="http://schemas.microsoft.com/office/drawing/2014/main" id="{FC279F40-1C69-4B23-A8D7-7FACB9D7FCD0}"/>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与技能、任务的关系</a:t>
            </a:r>
          </a:p>
        </p:txBody>
      </p:sp>
      <p:sp>
        <p:nvSpPr>
          <p:cNvPr id="19" name="">
            <a:extLst xmlns:a="http://schemas.openxmlformats.org/drawingml/2006/main">
              <a:ext uri="{FF2B5EF4-FFF2-40B4-BE49-F238E27FC236}">
                <a16:creationId xmlns:a16="http://schemas.microsoft.com/office/drawing/2014/main" id="{DD160CC1-07A2-4489-9BA1-A651B32F9958}"/>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技能 负责能力沉淀和复用。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任务 负责标准化执行和过程管理。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应用中心 负责把技能和任务流程封装成可直接使用的业务入口。</a:t>
            </a:r>
          </a:p>
        </p:txBody>
      </p:sp>
      <p:sp>
        <p:nvSpPr>
          <p:cNvPr id="20" name="">
            <a:extLst xmlns:a="http://schemas.openxmlformats.org/drawingml/2006/main">
              <a:ext uri="{FF2B5EF4-FFF2-40B4-BE49-F238E27FC236}">
                <a16:creationId xmlns:a16="http://schemas.microsoft.com/office/drawing/2014/main" id="{0C54FEDA-7F4A-42AC-B13A-D44790094FDC}"/>
              </a:ext>
            </a:extLst>
          </p:cNvPr>
          <p:cNvSpPr>
            <a:spLocks xmlns:a="http://schemas.openxmlformats.org/drawingml/2006/main" noGrp="1"/>
          </p:cNvSpPr>
          <p:nvPr/>
        </p:nvSpPr>
        <p:spPr>
          <a:xfrm xmlns:a="http://schemas.openxmlformats.org/drawingml/2006/main">
            <a:off x="6286500" y="3067050"/>
            <a:ext cx="5219700" cy="8913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1" name="">
            <a:extLst xmlns:a="http://schemas.openxmlformats.org/drawingml/2006/main">
              <a:ext uri="{FF2B5EF4-FFF2-40B4-BE49-F238E27FC236}">
                <a16:creationId xmlns:a16="http://schemas.microsoft.com/office/drawing/2014/main" id="{B2D916FA-6782-46A5-919B-9BCDF54A67B4}"/>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管理价值</a:t>
            </a:r>
          </a:p>
        </p:txBody>
      </p:sp>
      <p:sp>
        <p:nvSpPr>
          <p:cNvPr id="22" name="">
            <a:extLst xmlns:a="http://schemas.openxmlformats.org/drawingml/2006/main">
              <a:ext uri="{FF2B5EF4-FFF2-40B4-BE49-F238E27FC236}">
                <a16:creationId xmlns:a16="http://schemas.microsoft.com/office/drawing/2014/main" id="{8263D0BF-CF02-4B84-8847-DA5FC982920E}"/>
              </a:ext>
            </a:extLst>
          </p:cNvPr>
          <p:cNvSpPr>
            <a:spLocks xmlns:a="http://schemas.openxmlformats.org/drawingml/2006/main" noGrp="1"/>
          </p:cNvSpPr>
          <p:nvPr/>
        </p:nvSpPr>
        <p:spPr>
          <a:xfrm xmlns:a="http://schemas.openxmlformats.org/drawingml/2006/main">
            <a:off x="6438900" y="3448050"/>
            <a:ext cx="4914900" cy="415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让成熟审计方法能够跨项目复用。</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让复杂 AI、图谱和任务编排能力对业务人员透明。</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让优秀项目经验沉淀为组织级应用。</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让审计机关逐步形成可运营的智能审计应用库。</a:t>
            </a:r>
          </a:p>
        </p:txBody>
      </p:sp>
      <p:sp>
        <p:nvSpPr>
          <p:cNvPr id="23" name="">
            <a:extLst xmlns:a="http://schemas.openxmlformats.org/drawingml/2006/main">
              <a:ext uri="{FF2B5EF4-FFF2-40B4-BE49-F238E27FC236}">
                <a16:creationId xmlns:a16="http://schemas.microsoft.com/office/drawing/2014/main" id="{9FE1DA5A-8CEA-4D80-892C-D76E92114C28}"/>
              </a:ext>
            </a:extLst>
          </p:cNvPr>
          <p:cNvSpPr>
            <a:spLocks xmlns:a="http://schemas.openxmlformats.org/drawingml/2006/main" noGrp="1"/>
          </p:cNvSpPr>
          <p:nvPr/>
        </p:nvSpPr>
        <p:spPr>
          <a:xfrm xmlns:a="http://schemas.openxmlformats.org/drawingml/2006/main">
            <a:off x="6286500" y="40727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4" name="">
            <a:extLst xmlns:a="http://schemas.openxmlformats.org/drawingml/2006/main">
              <a:ext uri="{FF2B5EF4-FFF2-40B4-BE49-F238E27FC236}">
                <a16:creationId xmlns:a16="http://schemas.microsoft.com/office/drawing/2014/main" id="{FB2B3640-7CD6-496E-A156-507889BE1D22}"/>
              </a:ext>
            </a:extLst>
          </p:cNvPr>
          <p:cNvSpPr>
            <a:spLocks xmlns:a="http://schemas.openxmlformats.org/drawingml/2006/main" noGrp="1"/>
          </p:cNvSpPr>
          <p:nvPr/>
        </p:nvSpPr>
        <p:spPr>
          <a:xfrm xmlns:a="http://schemas.openxmlformats.org/drawingml/2006/main">
            <a:off x="6438900" y="42060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一句话表达：</a:t>
            </a:r>
          </a:p>
        </p:txBody>
      </p:sp>
      <p:sp>
        <p:nvSpPr>
          <p:cNvPr id="25" name="">
            <a:extLst xmlns:a="http://schemas.openxmlformats.org/drawingml/2006/main">
              <a:ext uri="{FF2B5EF4-FFF2-40B4-BE49-F238E27FC236}">
                <a16:creationId xmlns:a16="http://schemas.microsoft.com/office/drawing/2014/main" id="{5FC31D0F-3D67-4AFF-AB2F-E805D23CECF3}"/>
              </a:ext>
            </a:extLst>
          </p:cNvPr>
          <p:cNvSpPr>
            <a:spLocks xmlns:a="http://schemas.openxmlformats.org/drawingml/2006/main" noGrp="1"/>
          </p:cNvSpPr>
          <p:nvPr/>
        </p:nvSpPr>
        <p:spPr>
          <a:xfrm xmlns:a="http://schemas.openxmlformats.org/drawingml/2006/main">
            <a:off x="6438900" y="44537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应用中心是对技能执行能力的轻量封装，让审计人员从“会配置、会追问”进一步走向“会选择、会使用、直接拿结果”。</a:t>
            </a:r>
          </a:p>
        </p:txBody>
      </p:sp>
    </p:spTree>
    <p:extLst>
      <p:ext uri="{BB962C8B-B14F-4D97-AF65-F5344CB8AC3E}">
        <p14:creationId xmlns:p14="http://schemas.microsoft.com/office/powerpoint/2010/main" val="137021133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BF2B77-3BA2-4CFD-86A3-684B311CC30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DA45FDC-BA3E-4179-A137-8E9DF50136F4}"/>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694F3FB-1FDD-43C2-A99B-1A2C8629264A}"/>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FF8A3D"/>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7274149-8D81-4106-BFAA-7952C7F813F2}"/>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审计案例：投资审计</a:t>
            </a:r>
          </a:p>
        </p:txBody>
      </p:sp>
      <p:sp>
        <p:nvSpPr>
          <p:cNvPr id="5" name="">
            <a:extLst xmlns:a="http://schemas.openxmlformats.org/drawingml/2006/main">
              <a:ext uri="{FF2B5EF4-FFF2-40B4-BE49-F238E27FC236}">
                <a16:creationId xmlns:a16="http://schemas.microsoft.com/office/drawing/2014/main" id="{777710AA-429C-4E21-912F-F3B33AA2B1D7}"/>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AC4FC272-7E85-4DF7-9595-1B5835EA2107}"/>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用投资审计案例证明平台可以把技能、资料解析、规则匹配和结果生成结合成真实作业能力。</a:t>
            </a:r>
          </a:p>
        </p:txBody>
      </p:sp>
      <p:sp>
        <p:nvSpPr>
          <p:cNvPr id="7" name="">
            <a:extLst xmlns:a="http://schemas.openxmlformats.org/drawingml/2006/main">
              <a:ext uri="{FF2B5EF4-FFF2-40B4-BE49-F238E27FC236}">
                <a16:creationId xmlns:a16="http://schemas.microsoft.com/office/drawing/2014/main" id="{951FFBD0-2278-4CE7-BFC3-351028EFB81D}"/>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C312A609-7DCC-4883-8922-704F991CB3B2}"/>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35</a:t>
            </a:r>
          </a:p>
        </p:txBody>
      </p:sp>
      <p:sp>
        <p:nvSpPr>
          <p:cNvPr id="9" name="">
            <a:extLst xmlns:a="http://schemas.openxmlformats.org/drawingml/2006/main">
              <a:ext uri="{FF2B5EF4-FFF2-40B4-BE49-F238E27FC236}">
                <a16:creationId xmlns:a16="http://schemas.microsoft.com/office/drawing/2014/main" id="{CA8FB465-901F-468A-85CF-1D19EE3F167C}"/>
              </a:ext>
            </a:extLst>
          </p:cNvPr>
          <p:cNvSpPr>
            <a:spLocks xmlns:a="http://schemas.openxmlformats.org/drawingml/2006/main" noGrp="1"/>
          </p:cNvSpPr>
          <p:nvPr/>
        </p:nvSpPr>
        <p:spPr>
          <a:xfrm xmlns:a="http://schemas.openxmlformats.org/drawingml/2006/main">
            <a:off x="7905750" y="2076450"/>
            <a:ext cx="3543300" cy="3714750"/>
          </a:xfrm>
          <a:prstGeom xmlns:a="http://schemas.openxmlformats.org/drawingml/2006/main" prst="rect">
            <a:avLst/>
          </a:prstGeom>
          <a:solidFill xmlns:a="http://schemas.openxmlformats.org/drawingml/2006/main">
            <a:srgbClr val="0D1B2A"/>
          </a:solidFill>
          <a:ln xmlns:a="http://schemas.openxmlformats.org/drawingml/2006/main" w="0">
            <a:solidFill>
              <a:srgbClr val="0D1B2A"/>
            </a:solidFill>
            <a:prstDash val="solid"/>
          </a:ln>
        </p:spPr>
      </p:sp>
      <p:sp>
        <p:nvSpPr>
          <p:cNvPr id="10" name="">
            <a:extLst xmlns:a="http://schemas.openxmlformats.org/drawingml/2006/main">
              <a:ext uri="{FF2B5EF4-FFF2-40B4-BE49-F238E27FC236}">
                <a16:creationId xmlns:a16="http://schemas.microsoft.com/office/drawing/2014/main" id="{5CE83208-ADFD-43AD-8913-88146F1AE241}"/>
              </a:ext>
            </a:extLst>
          </p:cNvPr>
          <p:cNvSpPr>
            <a:spLocks xmlns:a="http://schemas.openxmlformats.org/drawingml/2006/main" noGrp="1"/>
          </p:cNvSpPr>
          <p:nvPr/>
        </p:nvSpPr>
        <p:spPr>
          <a:xfrm xmlns:a="http://schemas.openxmlformats.org/drawingml/2006/main">
            <a:off x="8172450" y="2266950"/>
            <a:ext cx="3009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p>
        </p:txBody>
      </p:sp>
      <p:sp>
        <p:nvSpPr>
          <p:cNvPr id="11" name="">
            <a:extLst xmlns:a="http://schemas.openxmlformats.org/drawingml/2006/main">
              <a:ext uri="{FF2B5EF4-FFF2-40B4-BE49-F238E27FC236}">
                <a16:creationId xmlns:a16="http://schemas.microsoft.com/office/drawing/2014/main" id="{086913F2-5DFB-4C0B-B601-AA04A7839B33}"/>
              </a:ext>
            </a:extLst>
          </p:cNvPr>
          <p:cNvSpPr>
            <a:spLocks xmlns:a="http://schemas.openxmlformats.org/drawingml/2006/main" noGrp="1"/>
          </p:cNvSpPr>
          <p:nvPr/>
        </p:nvSpPr>
        <p:spPr>
          <a:xfrm xmlns:a="http://schemas.openxmlformats.org/drawingml/2006/main">
            <a:off x="8172450" y="2762250"/>
            <a:ext cx="2743200" cy="628650"/>
          </a:xfrm>
          <a:prstGeom xmlns:a="http://schemas.openxmlformats.org/drawingml/2006/main" prst="rect">
            <a:avLst/>
          </a:prstGeom>
          <a:ln xmlns:a="http://schemas.openxmlformats.org/drawingml/2006/main" w="9525">
            <a:prstDash val="solid"/>
          </a:ln>
        </p:spPr>
      </p:sp>
      <p:sp>
        <p:nvSpPr>
          <p:cNvPr id="12" name="">
            <a:extLst xmlns:a="http://schemas.openxmlformats.org/drawingml/2006/main">
              <a:ext uri="{FF2B5EF4-FFF2-40B4-BE49-F238E27FC236}">
                <a16:creationId xmlns:a16="http://schemas.microsoft.com/office/drawing/2014/main" id="{47DB20D9-6460-4862-A2B4-4ED8F1111310}"/>
              </a:ext>
            </a:extLst>
          </p:cNvPr>
          <p:cNvSpPr>
            <a:spLocks xmlns:a="http://schemas.openxmlformats.org/drawingml/2006/main" noGrp="1"/>
          </p:cNvSpPr>
          <p:nvPr/>
        </p:nvSpPr>
        <p:spPr>
          <a:xfrm xmlns:a="http://schemas.openxmlformats.org/drawingml/2006/main">
            <a:off x="8362950" y="29337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约 3 分钟</a:t>
            </a:r>
          </a:p>
        </p:txBody>
      </p:sp>
      <p:sp>
        <p:nvSpPr>
          <p:cNvPr id="13" name="">
            <a:extLst xmlns:a="http://schemas.openxmlformats.org/drawingml/2006/main">
              <a:ext uri="{FF2B5EF4-FFF2-40B4-BE49-F238E27FC236}">
                <a16:creationId xmlns:a16="http://schemas.microsoft.com/office/drawing/2014/main" id="{AA6BBB24-F208-4651-B1FB-135924A4F92E}"/>
              </a:ext>
            </a:extLst>
          </p:cNvPr>
          <p:cNvSpPr>
            <a:spLocks xmlns:a="http://schemas.openxmlformats.org/drawingml/2006/main" noGrp="1"/>
          </p:cNvSpPr>
          <p:nvPr/>
        </p:nvSpPr>
        <p:spPr>
          <a:xfrm xmlns:a="http://schemas.openxmlformats.org/drawingml/2006/main">
            <a:off x="8172450" y="5295900"/>
            <a:ext cx="2971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p>
        </p:txBody>
      </p:sp>
      <p:sp>
        <p:nvSpPr>
          <p:cNvPr id="14" name="">
            <a:extLst xmlns:a="http://schemas.openxmlformats.org/drawingml/2006/main">
              <a:ext uri="{FF2B5EF4-FFF2-40B4-BE49-F238E27FC236}">
                <a16:creationId xmlns:a16="http://schemas.microsoft.com/office/drawing/2014/main" id="{1507D822-FF6A-41FB-9869-7FAD630BB2A2}"/>
              </a:ext>
            </a:extLst>
          </p:cNvPr>
          <p:cNvSpPr>
            <a:spLocks xmlns:a="http://schemas.openxmlformats.org/drawingml/2006/main" noGrp="1"/>
          </p:cNvSpPr>
          <p:nvPr/>
        </p:nvSpPr>
        <p:spPr>
          <a:xfrm xmlns:a="http://schemas.openxmlformats.org/drawingml/2006/main">
            <a:off x="685800" y="20955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0DD8BC9D-2AB2-465E-A633-C797E41B08F0}"/>
              </a:ext>
            </a:extLst>
          </p:cNvPr>
          <p:cNvSpPr>
            <a:spLocks xmlns:a="http://schemas.openxmlformats.org/drawingml/2006/main" noGrp="1"/>
          </p:cNvSpPr>
          <p:nvPr/>
        </p:nvSpPr>
        <p:spPr>
          <a:xfrm xmlns:a="http://schemas.openxmlformats.org/drawingml/2006/main">
            <a:off x="838200" y="2247900"/>
            <a:ext cx="65532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投资审计涉及立项、决策、合同、付款、投后管理、收益测算等大量资料，材料类型复杂、时间跨度长、人工审阅成本高。</a:t>
            </a:r>
          </a:p>
        </p:txBody>
      </p:sp>
      <p:sp>
        <p:nvSpPr>
          <p:cNvPr id="16" name="">
            <a:extLst xmlns:a="http://schemas.openxmlformats.org/drawingml/2006/main">
              <a:ext uri="{FF2B5EF4-FFF2-40B4-BE49-F238E27FC236}">
                <a16:creationId xmlns:a16="http://schemas.microsoft.com/office/drawing/2014/main" id="{C3B5EA54-7CF3-4ADC-84F1-20764E1A55EC}"/>
              </a:ext>
            </a:extLst>
          </p:cNvPr>
          <p:cNvSpPr>
            <a:spLocks xmlns:a="http://schemas.openxmlformats.org/drawingml/2006/main" noGrp="1"/>
          </p:cNvSpPr>
          <p:nvPr/>
        </p:nvSpPr>
        <p:spPr>
          <a:xfrm xmlns:a="http://schemas.openxmlformats.org/drawingml/2006/main">
            <a:off x="685800" y="3067050"/>
            <a:ext cx="6858000" cy="962597"/>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7" name="">
            <a:extLst xmlns:a="http://schemas.openxmlformats.org/drawingml/2006/main">
              <a:ext uri="{FF2B5EF4-FFF2-40B4-BE49-F238E27FC236}">
                <a16:creationId xmlns:a16="http://schemas.microsoft.com/office/drawing/2014/main" id="{CCB6C24F-C282-4335-AAB8-4C98E06DAC60}"/>
              </a:ext>
            </a:extLst>
          </p:cNvPr>
          <p:cNvSpPr>
            <a:spLocks xmlns:a="http://schemas.openxmlformats.org/drawingml/2006/main" noGrp="1"/>
          </p:cNvSpPr>
          <p:nvPr/>
        </p:nvSpPr>
        <p:spPr>
          <a:xfrm xmlns:a="http://schemas.openxmlformats.org/drawingml/2006/main">
            <a:off x="838200" y="320040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传统痛点</a:t>
            </a:r>
          </a:p>
        </p:txBody>
      </p:sp>
      <p:sp>
        <p:nvSpPr>
          <p:cNvPr id="18" name="">
            <a:extLst xmlns:a="http://schemas.openxmlformats.org/drawingml/2006/main">
              <a:ext uri="{FF2B5EF4-FFF2-40B4-BE49-F238E27FC236}">
                <a16:creationId xmlns:a16="http://schemas.microsoft.com/office/drawing/2014/main" id="{11443B44-BA0B-44C3-8DA9-1F0EB80FC5D5}"/>
              </a:ext>
            </a:extLst>
          </p:cNvPr>
          <p:cNvSpPr>
            <a:spLocks xmlns:a="http://schemas.openxmlformats.org/drawingml/2006/main" noGrp="1"/>
          </p:cNvSpPr>
          <p:nvPr/>
        </p:nvSpPr>
        <p:spPr>
          <a:xfrm xmlns:a="http://schemas.openxmlformats.org/drawingml/2006/main">
            <a:off x="838200" y="3448050"/>
            <a:ext cx="6553200" cy="486347"/>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审计人员需要在大量投资项目资料中反复查找关键信息。</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需要核对决策程序、投资依据、合同条款、资金支付、收益测算和投后管理情况。</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资料类型多、审计口径复杂、人工比对耗时。</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项目初筛阶段难以快速形成统一判断。</a:t>
            </a:r>
          </a:p>
        </p:txBody>
      </p:sp>
      <p:sp>
        <p:nvSpPr>
          <p:cNvPr id="19" name="">
            <a:extLst xmlns:a="http://schemas.openxmlformats.org/drawingml/2006/main">
              <a:ext uri="{FF2B5EF4-FFF2-40B4-BE49-F238E27FC236}">
                <a16:creationId xmlns:a16="http://schemas.microsoft.com/office/drawing/2014/main" id="{213FDA08-18C3-4D79-9C14-62558932FDDA}"/>
              </a:ext>
            </a:extLst>
          </p:cNvPr>
          <p:cNvSpPr>
            <a:spLocks xmlns:a="http://schemas.openxmlformats.org/drawingml/2006/main" noGrp="1"/>
          </p:cNvSpPr>
          <p:nvPr/>
        </p:nvSpPr>
        <p:spPr>
          <a:xfrm xmlns:a="http://schemas.openxmlformats.org/drawingml/2006/main">
            <a:off x="685800" y="4143947"/>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0" name="">
            <a:extLst xmlns:a="http://schemas.openxmlformats.org/drawingml/2006/main">
              <a:ext uri="{FF2B5EF4-FFF2-40B4-BE49-F238E27FC236}">
                <a16:creationId xmlns:a16="http://schemas.microsoft.com/office/drawing/2014/main" id="{15F47009-8D25-4C54-BDC3-36E9C16E79C5}"/>
              </a:ext>
            </a:extLst>
          </p:cNvPr>
          <p:cNvSpPr>
            <a:spLocks xmlns:a="http://schemas.openxmlformats.org/drawingml/2006/main" noGrp="1"/>
          </p:cNvSpPr>
          <p:nvPr/>
        </p:nvSpPr>
        <p:spPr>
          <a:xfrm xmlns:a="http://schemas.openxmlformats.org/drawingml/2006/main">
            <a:off x="838200" y="4277297"/>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AI 做法</a:t>
            </a:r>
          </a:p>
        </p:txBody>
      </p:sp>
      <p:sp>
        <p:nvSpPr>
          <p:cNvPr id="21" name="">
            <a:extLst xmlns:a="http://schemas.openxmlformats.org/drawingml/2006/main">
              <a:ext uri="{FF2B5EF4-FFF2-40B4-BE49-F238E27FC236}">
                <a16:creationId xmlns:a16="http://schemas.microsoft.com/office/drawing/2014/main" id="{730909E2-C7DC-4505-A157-31B87530ADAE}"/>
              </a:ext>
            </a:extLst>
          </p:cNvPr>
          <p:cNvSpPr>
            <a:spLocks xmlns:a="http://schemas.openxmlformats.org/drawingml/2006/main" noGrp="1"/>
          </p:cNvSpPr>
          <p:nvPr/>
        </p:nvSpPr>
        <p:spPr>
          <a:xfrm xmlns:a="http://schemas.openxmlformats.org/drawingml/2006/main">
            <a:off x="838200" y="4524947"/>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基于沉淀的投资审计技能，大模型可围绕指定项目自动执行：</a:t>
            </a:r>
          </a:p>
        </p:txBody>
      </p:sp>
      <p:sp>
        <p:nvSpPr>
          <p:cNvPr id="22" name="">
            <a:extLst xmlns:a="http://schemas.openxmlformats.org/drawingml/2006/main">
              <a:ext uri="{FF2B5EF4-FFF2-40B4-BE49-F238E27FC236}">
                <a16:creationId xmlns:a16="http://schemas.microsoft.com/office/drawing/2014/main" id="{A4A56FC1-56BC-40A5-A148-6CED9F998962}"/>
              </a:ext>
            </a:extLst>
          </p:cNvPr>
          <p:cNvSpPr>
            <a:spLocks xmlns:a="http://schemas.openxmlformats.org/drawingml/2006/main" noGrp="1"/>
          </p:cNvSpPr>
          <p:nvPr/>
        </p:nvSpPr>
        <p:spPr>
          <a:xfrm xmlns:a="http://schemas.openxmlformats.org/drawingml/2006/main">
            <a:off x="685800" y="5115496"/>
            <a:ext cx="6858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3" name="">
            <a:extLst xmlns:a="http://schemas.openxmlformats.org/drawingml/2006/main">
              <a:ext uri="{FF2B5EF4-FFF2-40B4-BE49-F238E27FC236}">
                <a16:creationId xmlns:a16="http://schemas.microsoft.com/office/drawing/2014/main" id="{C6D022AF-18F1-4682-ABE6-773F6BAC85FD}"/>
              </a:ext>
            </a:extLst>
          </p:cNvPr>
          <p:cNvSpPr>
            <a:spLocks xmlns:a="http://schemas.openxmlformats.org/drawingml/2006/main" noGrp="1"/>
          </p:cNvSpPr>
          <p:nvPr/>
        </p:nvSpPr>
        <p:spPr>
          <a:xfrm xmlns:a="http://schemas.openxmlformats.org/drawingml/2006/main">
            <a:off x="838200" y="5267896"/>
            <a:ext cx="65532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读取项目资料</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抽取关键要素</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识别立项与决策过程</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匹配审计规则</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比对合同、付款和收益测算信息</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提示疑点线索</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生成初步分析结果和复核清单</a:t>
            </a:r>
          </a:p>
        </p:txBody>
      </p:sp>
      <p:sp>
        <p:nvSpPr>
          <p:cNvPr id="24" name="">
            <a:extLst xmlns:a="http://schemas.openxmlformats.org/drawingml/2006/main">
              <a:ext uri="{FF2B5EF4-FFF2-40B4-BE49-F238E27FC236}">
                <a16:creationId xmlns:a16="http://schemas.microsoft.com/office/drawing/2014/main" id="{2CE865C6-FEC4-4637-8C8C-96133C4232F9}"/>
              </a:ext>
            </a:extLst>
          </p:cNvPr>
          <p:cNvSpPr>
            <a:spLocks xmlns:a="http://schemas.openxmlformats.org/drawingml/2006/main" noGrp="1"/>
          </p:cNvSpPr>
          <p:nvPr/>
        </p:nvSpPr>
        <p:spPr>
          <a:xfrm xmlns:a="http://schemas.openxmlformats.org/drawingml/2006/main">
            <a:off x="685800" y="6087046"/>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1F11A8F6-FB64-4A8E-A6C1-FE7606E0D32C}"/>
              </a:ext>
            </a:extLst>
          </p:cNvPr>
          <p:cNvSpPr>
            <a:spLocks xmlns:a="http://schemas.openxmlformats.org/drawingml/2006/main" noGrp="1"/>
          </p:cNvSpPr>
          <p:nvPr/>
        </p:nvSpPr>
        <p:spPr>
          <a:xfrm xmlns:a="http://schemas.openxmlformats.org/drawingml/2006/main">
            <a:off x="838200" y="6220396"/>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应用成效</a:t>
            </a:r>
          </a:p>
        </p:txBody>
      </p:sp>
      <p:sp>
        <p:nvSpPr>
          <p:cNvPr id="26" name="">
            <a:extLst xmlns:a="http://schemas.openxmlformats.org/drawingml/2006/main">
              <a:ext uri="{FF2B5EF4-FFF2-40B4-BE49-F238E27FC236}">
                <a16:creationId xmlns:a16="http://schemas.microsoft.com/office/drawing/2014/main" id="{25DAA793-0799-4099-BD53-1DD36D4DB512}"/>
              </a:ext>
            </a:extLst>
          </p:cNvPr>
          <p:cNvSpPr>
            <a:spLocks xmlns:a="http://schemas.openxmlformats.org/drawingml/2006/main" noGrp="1"/>
          </p:cNvSpPr>
          <p:nvPr/>
        </p:nvSpPr>
        <p:spPr>
          <a:xfrm xmlns:a="http://schemas.openxmlformats.org/drawingml/2006/main">
            <a:off x="838200" y="6468046"/>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基于沉淀的技能，约 3 分钟跑出分析结果，帮助审计人员快速形成项目初步判断，将工作重点转向疑点复核、风险定性和管理建议。</a:t>
            </a:r>
          </a:p>
        </p:txBody>
      </p:sp>
    </p:spTree>
    <p:extLst>
      <p:ext uri="{BB962C8B-B14F-4D97-AF65-F5344CB8AC3E}">
        <p14:creationId xmlns:p14="http://schemas.microsoft.com/office/powerpoint/2010/main" val="45454857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3D5A0E-15CF-4AB0-B568-601BD9A0505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CF20370-1003-48CE-930B-7E73831754A7}"/>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F4093AA-C1FA-4197-BDB5-687CF3DE502A}"/>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FF8A3D"/>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69D761B-C898-4D82-839D-D011D3B32094}"/>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案例：大批量材料自动化批量审计</a:t>
            </a:r>
          </a:p>
        </p:txBody>
      </p:sp>
      <p:sp>
        <p:nvSpPr>
          <p:cNvPr id="5" name="">
            <a:extLst xmlns:a="http://schemas.openxmlformats.org/drawingml/2006/main">
              <a:ext uri="{FF2B5EF4-FFF2-40B4-BE49-F238E27FC236}">
                <a16:creationId xmlns:a16="http://schemas.microsoft.com/office/drawing/2014/main" id="{358B028A-500E-48C0-BB6D-94FFF25859E9}"/>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EDB58522-03F9-4C65-9140-06A0B4A0EF59}"/>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用批量材料审计案例证明平台具备大批量资料处理、任务规划和报告产出的规模化执行能力。</a:t>
            </a:r>
          </a:p>
        </p:txBody>
      </p:sp>
      <p:sp>
        <p:nvSpPr>
          <p:cNvPr id="7" name="">
            <a:extLst xmlns:a="http://schemas.openxmlformats.org/drawingml/2006/main">
              <a:ext uri="{FF2B5EF4-FFF2-40B4-BE49-F238E27FC236}">
                <a16:creationId xmlns:a16="http://schemas.microsoft.com/office/drawing/2014/main" id="{2D05491F-E6F2-42B5-96CC-4CB761A3724D}"/>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A0567A0D-37DF-4715-B4B0-2B010D43B5BA}"/>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36</a:t>
            </a:r>
          </a:p>
        </p:txBody>
      </p:sp>
      <p:sp>
        <p:nvSpPr>
          <p:cNvPr id="9" name="">
            <a:extLst xmlns:a="http://schemas.openxmlformats.org/drawingml/2006/main">
              <a:ext uri="{FF2B5EF4-FFF2-40B4-BE49-F238E27FC236}">
                <a16:creationId xmlns:a16="http://schemas.microsoft.com/office/drawing/2014/main" id="{81C408EE-7379-4CBB-8020-E6F6313C9D18}"/>
              </a:ext>
            </a:extLst>
          </p:cNvPr>
          <p:cNvSpPr>
            <a:spLocks xmlns:a="http://schemas.openxmlformats.org/drawingml/2006/main" noGrp="1"/>
          </p:cNvSpPr>
          <p:nvPr/>
        </p:nvSpPr>
        <p:spPr>
          <a:xfrm xmlns:a="http://schemas.openxmlformats.org/drawingml/2006/main">
            <a:off x="7905750" y="2076450"/>
            <a:ext cx="3543300" cy="3714750"/>
          </a:xfrm>
          <a:prstGeom xmlns:a="http://schemas.openxmlformats.org/drawingml/2006/main" prst="rect">
            <a:avLst/>
          </a:prstGeom>
          <a:solidFill xmlns:a="http://schemas.openxmlformats.org/drawingml/2006/main">
            <a:srgbClr val="0D1B2A"/>
          </a:solidFill>
          <a:ln xmlns:a="http://schemas.openxmlformats.org/drawingml/2006/main" w="0">
            <a:solidFill>
              <a:srgbClr val="0D1B2A"/>
            </a:solidFill>
            <a:prstDash val="solid"/>
          </a:ln>
        </p:spPr>
      </p:sp>
      <p:sp>
        <p:nvSpPr>
          <p:cNvPr id="10" name="">
            <a:extLst xmlns:a="http://schemas.openxmlformats.org/drawingml/2006/main">
              <a:ext uri="{FF2B5EF4-FFF2-40B4-BE49-F238E27FC236}">
                <a16:creationId xmlns:a16="http://schemas.microsoft.com/office/drawing/2014/main" id="{F54709FF-5ABF-4D83-ACCE-9616C27F9AE0}"/>
              </a:ext>
            </a:extLst>
          </p:cNvPr>
          <p:cNvSpPr>
            <a:spLocks xmlns:a="http://schemas.openxmlformats.org/drawingml/2006/main" noGrp="1"/>
          </p:cNvSpPr>
          <p:nvPr/>
        </p:nvSpPr>
        <p:spPr>
          <a:xfrm xmlns:a="http://schemas.openxmlformats.org/drawingml/2006/main">
            <a:off x="8172450" y="2266950"/>
            <a:ext cx="3009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结果高光</a:t>
            </a:r>
          </a:p>
        </p:txBody>
      </p:sp>
      <p:sp>
        <p:nvSpPr>
          <p:cNvPr id="11" name="">
            <a:extLst xmlns:a="http://schemas.openxmlformats.org/drawingml/2006/main">
              <a:ext uri="{FF2B5EF4-FFF2-40B4-BE49-F238E27FC236}">
                <a16:creationId xmlns:a16="http://schemas.microsoft.com/office/drawing/2014/main" id="{35D5D81A-B017-424E-8E64-A0267B6457A1}"/>
              </a:ext>
            </a:extLst>
          </p:cNvPr>
          <p:cNvSpPr>
            <a:spLocks xmlns:a="http://schemas.openxmlformats.org/drawingml/2006/main" noGrp="1"/>
          </p:cNvSpPr>
          <p:nvPr/>
        </p:nvSpPr>
        <p:spPr>
          <a:xfrm xmlns:a="http://schemas.openxmlformats.org/drawingml/2006/main">
            <a:off x="8172450" y="2762250"/>
            <a:ext cx="2743200" cy="628650"/>
          </a:xfrm>
          <a:prstGeom xmlns:a="http://schemas.openxmlformats.org/drawingml/2006/main" prst="rect">
            <a:avLst/>
          </a:prstGeom>
          <a:ln xmlns:a="http://schemas.openxmlformats.org/drawingml/2006/main" w="9525">
            <a:prstDash val="solid"/>
          </a:ln>
        </p:spPr>
      </p:sp>
      <p:sp>
        <p:nvSpPr>
          <p:cNvPr id="12" name="">
            <a:extLst xmlns:a="http://schemas.openxmlformats.org/drawingml/2006/main">
              <a:ext uri="{FF2B5EF4-FFF2-40B4-BE49-F238E27FC236}">
                <a16:creationId xmlns:a16="http://schemas.microsoft.com/office/drawing/2014/main" id="{9CE837DD-4221-4500-9A85-D59C0F3B6CE5}"/>
              </a:ext>
            </a:extLst>
          </p:cNvPr>
          <p:cNvSpPr>
            <a:spLocks xmlns:a="http://schemas.openxmlformats.org/drawingml/2006/main" noGrp="1"/>
          </p:cNvSpPr>
          <p:nvPr/>
        </p:nvSpPr>
        <p:spPr>
          <a:xfrm xmlns:a="http://schemas.openxmlformats.org/drawingml/2006/main">
            <a:off x="8362950" y="2933700"/>
            <a:ext cx="2362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Aptos"/>
                <a:ea typeface="Aptos"/>
                <a:cs typeface="Aptos"/>
              </a:defRPr>
            </a:pPr>
            <a:r>
              <a:rPr sz="1950" b="1">
                <a:solidFill>
                  <a:srgbClr val="FFFFFF"/>
                </a:solidFill>
                <a:latin typeface="Aptos"/>
                <a:ea typeface="Aptos"/>
                <a:cs typeface="Aptos"/>
              </a:rPr>
              <a:t>3 小时</a:t>
            </a:r>
          </a:p>
        </p:txBody>
      </p:sp>
      <p:sp>
        <p:nvSpPr>
          <p:cNvPr id="13" name="">
            <a:extLst xmlns:a="http://schemas.openxmlformats.org/drawingml/2006/main">
              <a:ext uri="{FF2B5EF4-FFF2-40B4-BE49-F238E27FC236}">
                <a16:creationId xmlns:a16="http://schemas.microsoft.com/office/drawing/2014/main" id="{8D7FFC26-DA28-4702-8DDC-4BB3F334FBB0}"/>
              </a:ext>
            </a:extLst>
          </p:cNvPr>
          <p:cNvSpPr>
            <a:spLocks xmlns:a="http://schemas.openxmlformats.org/drawingml/2006/main" noGrp="1"/>
          </p:cNvSpPr>
          <p:nvPr/>
        </p:nvSpPr>
        <p:spPr>
          <a:xfrm xmlns:a="http://schemas.openxmlformats.org/drawingml/2006/main">
            <a:off x="8172450" y="5295900"/>
            <a:ext cx="2971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C7D6E7"/>
                </a:solidFill>
                <a:latin typeface="Aptos"/>
                <a:ea typeface="Aptos"/>
                <a:cs typeface="Aptos"/>
              </a:defRPr>
            </a:pPr>
            <a:r>
              <a:rPr sz="1050" b="0">
                <a:solidFill>
                  <a:srgbClr val="C7D6E7"/>
                </a:solidFill>
                <a:latin typeface="Aptos"/>
                <a:ea typeface="Aptos"/>
                <a:cs typeface="Aptos"/>
              </a:rPr>
              <a:t>围绕特定审计目标组织数据、规则、工具与任务执行。</a:t>
            </a:r>
          </a:p>
        </p:txBody>
      </p:sp>
      <p:sp>
        <p:nvSpPr>
          <p:cNvPr id="14" name="">
            <a:extLst xmlns:a="http://schemas.openxmlformats.org/drawingml/2006/main">
              <a:ext uri="{FF2B5EF4-FFF2-40B4-BE49-F238E27FC236}">
                <a16:creationId xmlns:a16="http://schemas.microsoft.com/office/drawing/2014/main" id="{D97B9DFE-7E4C-4DF0-9F07-DE3943478BDF}"/>
              </a:ext>
            </a:extLst>
          </p:cNvPr>
          <p:cNvSpPr>
            <a:spLocks xmlns:a="http://schemas.openxmlformats.org/drawingml/2006/main" noGrp="1"/>
          </p:cNvSpPr>
          <p:nvPr/>
        </p:nvSpPr>
        <p:spPr>
          <a:xfrm xmlns:a="http://schemas.openxmlformats.org/drawingml/2006/main">
            <a:off x="685800" y="20955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3FC19D25-7BAF-4CBC-844C-4F913C31441A}"/>
              </a:ext>
            </a:extLst>
          </p:cNvPr>
          <p:cNvSpPr>
            <a:spLocks xmlns:a="http://schemas.openxmlformats.org/drawingml/2006/main" noGrp="1"/>
          </p:cNvSpPr>
          <p:nvPr/>
        </p:nvSpPr>
        <p:spPr>
          <a:xfrm xmlns:a="http://schemas.openxmlformats.org/drawingml/2006/main">
            <a:off x="838200" y="2247900"/>
            <a:ext cx="65532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近百份项目资料，如招标文件、合同文件、项目说明、评审材料、付款资料等，传统方式依赖人工翻阅进行关键信息查询、比对、判断，并人工整理审计分析报告。</a:t>
            </a:r>
          </a:p>
        </p:txBody>
      </p:sp>
      <p:sp>
        <p:nvSpPr>
          <p:cNvPr id="16" name="">
            <a:extLst xmlns:a="http://schemas.openxmlformats.org/drawingml/2006/main">
              <a:ext uri="{FF2B5EF4-FFF2-40B4-BE49-F238E27FC236}">
                <a16:creationId xmlns:a16="http://schemas.microsoft.com/office/drawing/2014/main" id="{8D45559A-06AC-48EE-8844-16B22D4501A0}"/>
              </a:ext>
            </a:extLst>
          </p:cNvPr>
          <p:cNvSpPr>
            <a:spLocks xmlns:a="http://schemas.openxmlformats.org/drawingml/2006/main" noGrp="1"/>
          </p:cNvSpPr>
          <p:nvPr/>
        </p:nvSpPr>
        <p:spPr>
          <a:xfrm xmlns:a="http://schemas.openxmlformats.org/drawingml/2006/main">
            <a:off x="685800" y="3067050"/>
            <a:ext cx="6858000" cy="8913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7" name="">
            <a:extLst xmlns:a="http://schemas.openxmlformats.org/drawingml/2006/main">
              <a:ext uri="{FF2B5EF4-FFF2-40B4-BE49-F238E27FC236}">
                <a16:creationId xmlns:a16="http://schemas.microsoft.com/office/drawing/2014/main" id="{9E91D3AF-0212-4A89-AF21-F821D891BFD0}"/>
              </a:ext>
            </a:extLst>
          </p:cNvPr>
          <p:cNvSpPr>
            <a:spLocks xmlns:a="http://schemas.openxmlformats.org/drawingml/2006/main" noGrp="1"/>
          </p:cNvSpPr>
          <p:nvPr/>
        </p:nvSpPr>
        <p:spPr>
          <a:xfrm xmlns:a="http://schemas.openxmlformats.org/drawingml/2006/main">
            <a:off x="838200" y="320040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传统问题</a:t>
            </a:r>
          </a:p>
        </p:txBody>
      </p:sp>
      <p:sp>
        <p:nvSpPr>
          <p:cNvPr id="18" name="">
            <a:extLst xmlns:a="http://schemas.openxmlformats.org/drawingml/2006/main">
              <a:ext uri="{FF2B5EF4-FFF2-40B4-BE49-F238E27FC236}">
                <a16:creationId xmlns:a16="http://schemas.microsoft.com/office/drawing/2014/main" id="{2E1B035F-9CE6-46F8-9F48-63E41A43F09D}"/>
              </a:ext>
            </a:extLst>
          </p:cNvPr>
          <p:cNvSpPr>
            <a:spLocks xmlns:a="http://schemas.openxmlformats.org/drawingml/2006/main" noGrp="1"/>
          </p:cNvSpPr>
          <p:nvPr/>
        </p:nvSpPr>
        <p:spPr>
          <a:xfrm xmlns:a="http://schemas.openxmlformats.org/drawingml/2006/main">
            <a:off x="838200" y="3448050"/>
            <a:ext cx="6553200" cy="415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材料数量大，人工阅读耗时长。</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同类信息分散在不同文件中，人工比对容易遗漏。</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不同项目之间标准不一，审计结果难以统一。</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报告整理依赖人工，难以快速形成批量成果。</a:t>
            </a:r>
          </a:p>
        </p:txBody>
      </p:sp>
      <p:sp>
        <p:nvSpPr>
          <p:cNvPr id="19" name="">
            <a:extLst xmlns:a="http://schemas.openxmlformats.org/drawingml/2006/main">
              <a:ext uri="{FF2B5EF4-FFF2-40B4-BE49-F238E27FC236}">
                <a16:creationId xmlns:a16="http://schemas.microsoft.com/office/drawing/2014/main" id="{1FC4B144-560C-4271-A06B-96DECBD1D65A}"/>
              </a:ext>
            </a:extLst>
          </p:cNvPr>
          <p:cNvSpPr>
            <a:spLocks xmlns:a="http://schemas.openxmlformats.org/drawingml/2006/main" noGrp="1"/>
          </p:cNvSpPr>
          <p:nvPr/>
        </p:nvSpPr>
        <p:spPr>
          <a:xfrm xmlns:a="http://schemas.openxmlformats.org/drawingml/2006/main">
            <a:off x="685800" y="4072700"/>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0" name="">
            <a:extLst xmlns:a="http://schemas.openxmlformats.org/drawingml/2006/main">
              <a:ext uri="{FF2B5EF4-FFF2-40B4-BE49-F238E27FC236}">
                <a16:creationId xmlns:a16="http://schemas.microsoft.com/office/drawing/2014/main" id="{F5DA7360-83DA-44FF-BDB4-4AC4EE7E21B1}"/>
              </a:ext>
            </a:extLst>
          </p:cNvPr>
          <p:cNvSpPr>
            <a:spLocks xmlns:a="http://schemas.openxmlformats.org/drawingml/2006/main" noGrp="1"/>
          </p:cNvSpPr>
          <p:nvPr/>
        </p:nvSpPr>
        <p:spPr>
          <a:xfrm xmlns:a="http://schemas.openxmlformats.org/drawingml/2006/main">
            <a:off x="838200" y="4206050"/>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技术路径</a:t>
            </a:r>
          </a:p>
        </p:txBody>
      </p:sp>
      <p:sp>
        <p:nvSpPr>
          <p:cNvPr id="21" name="">
            <a:extLst xmlns:a="http://schemas.openxmlformats.org/drawingml/2006/main">
              <a:ext uri="{FF2B5EF4-FFF2-40B4-BE49-F238E27FC236}">
                <a16:creationId xmlns:a16="http://schemas.microsoft.com/office/drawing/2014/main" id="{EAB1076B-7EB0-4DE3-B95F-0F4DF811887D}"/>
              </a:ext>
            </a:extLst>
          </p:cNvPr>
          <p:cNvSpPr>
            <a:spLocks xmlns:a="http://schemas.openxmlformats.org/drawingml/2006/main" noGrp="1"/>
          </p:cNvSpPr>
          <p:nvPr/>
        </p:nvSpPr>
        <p:spPr>
          <a:xfrm xmlns:a="http://schemas.openxmlformats.org/drawingml/2006/main">
            <a:off x="838200" y="4453700"/>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通过“对话 + 审计技能 + 批量任务”为大模型提供具体审计思路，大模型利用各类查询、解析、抽取、分析和比对工具，自规划完成大批量审计任务。</a:t>
            </a:r>
          </a:p>
        </p:txBody>
      </p:sp>
      <p:sp>
        <p:nvSpPr>
          <p:cNvPr id="22" name="">
            <a:extLst xmlns:a="http://schemas.openxmlformats.org/drawingml/2006/main">
              <a:ext uri="{FF2B5EF4-FFF2-40B4-BE49-F238E27FC236}">
                <a16:creationId xmlns:a16="http://schemas.microsoft.com/office/drawing/2014/main" id="{F61CAD64-E196-40FF-AC62-D61ADC062457}"/>
              </a:ext>
            </a:extLst>
          </p:cNvPr>
          <p:cNvSpPr>
            <a:spLocks xmlns:a="http://schemas.openxmlformats.org/drawingml/2006/main" noGrp="1"/>
          </p:cNvSpPr>
          <p:nvPr/>
        </p:nvSpPr>
        <p:spPr>
          <a:xfrm xmlns:a="http://schemas.openxmlformats.org/drawingml/2006/main">
            <a:off x="685800" y="5044249"/>
            <a:ext cx="6858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3" name="">
            <a:extLst xmlns:a="http://schemas.openxmlformats.org/drawingml/2006/main">
              <a:ext uri="{FF2B5EF4-FFF2-40B4-BE49-F238E27FC236}">
                <a16:creationId xmlns:a16="http://schemas.microsoft.com/office/drawing/2014/main" id="{91E16937-8CB5-4A0D-A1DA-751BB9ED48DD}"/>
              </a:ext>
            </a:extLst>
          </p:cNvPr>
          <p:cNvSpPr>
            <a:spLocks xmlns:a="http://schemas.openxmlformats.org/drawingml/2006/main" noGrp="1"/>
          </p:cNvSpPr>
          <p:nvPr/>
        </p:nvSpPr>
        <p:spPr>
          <a:xfrm xmlns:a="http://schemas.openxmlformats.org/drawingml/2006/main">
            <a:off x="838200" y="5177599"/>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执行链路：</a:t>
            </a:r>
          </a:p>
        </p:txBody>
      </p:sp>
      <p:sp>
        <p:nvSpPr>
          <p:cNvPr id="24" name="">
            <a:extLst xmlns:a="http://schemas.openxmlformats.org/drawingml/2006/main">
              <a:ext uri="{FF2B5EF4-FFF2-40B4-BE49-F238E27FC236}">
                <a16:creationId xmlns:a16="http://schemas.microsoft.com/office/drawing/2014/main" id="{CACD8200-B521-4A64-9CFB-8CB9D709AA8D}"/>
              </a:ext>
            </a:extLst>
          </p:cNvPr>
          <p:cNvSpPr>
            <a:spLocks xmlns:a="http://schemas.openxmlformats.org/drawingml/2006/main" noGrp="1"/>
          </p:cNvSpPr>
          <p:nvPr/>
        </p:nvSpPr>
        <p:spPr>
          <a:xfrm xmlns:a="http://schemas.openxmlformats.org/drawingml/2006/main">
            <a:off x="838200" y="5425249"/>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资料上传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OCR / 文档解析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要素抽取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技能挂载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批量任务执行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疑点识别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结果复核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报告生成</a:t>
            </a:r>
          </a:p>
        </p:txBody>
      </p:sp>
      <p:sp>
        <p:nvSpPr>
          <p:cNvPr id="25" name="">
            <a:extLst xmlns:a="http://schemas.openxmlformats.org/drawingml/2006/main">
              <a:ext uri="{FF2B5EF4-FFF2-40B4-BE49-F238E27FC236}">
                <a16:creationId xmlns:a16="http://schemas.microsoft.com/office/drawing/2014/main" id="{82E4227F-F3A6-4DA1-8F7F-D481F1E18182}"/>
              </a:ext>
            </a:extLst>
          </p:cNvPr>
          <p:cNvSpPr>
            <a:spLocks xmlns:a="http://schemas.openxmlformats.org/drawingml/2006/main" noGrp="1"/>
          </p:cNvSpPr>
          <p:nvPr/>
        </p:nvSpPr>
        <p:spPr>
          <a:xfrm xmlns:a="http://schemas.openxmlformats.org/drawingml/2006/main">
            <a:off x="685800" y="6015799"/>
            <a:ext cx="68580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6" name="">
            <a:extLst xmlns:a="http://schemas.openxmlformats.org/drawingml/2006/main">
              <a:ext uri="{FF2B5EF4-FFF2-40B4-BE49-F238E27FC236}">
                <a16:creationId xmlns:a16="http://schemas.microsoft.com/office/drawing/2014/main" id="{599022D5-DE51-4391-8AA4-1F75ABEED03D}"/>
              </a:ext>
            </a:extLst>
          </p:cNvPr>
          <p:cNvSpPr>
            <a:spLocks xmlns:a="http://schemas.openxmlformats.org/drawingml/2006/main" noGrp="1"/>
          </p:cNvSpPr>
          <p:nvPr/>
        </p:nvSpPr>
        <p:spPr>
          <a:xfrm xmlns:a="http://schemas.openxmlformats.org/drawingml/2006/main">
            <a:off x="838200" y="6149149"/>
            <a:ext cx="655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应用成效</a:t>
            </a:r>
          </a:p>
        </p:txBody>
      </p:sp>
      <p:sp>
        <p:nvSpPr>
          <p:cNvPr id="27" name="">
            <a:extLst xmlns:a="http://schemas.openxmlformats.org/drawingml/2006/main">
              <a:ext uri="{FF2B5EF4-FFF2-40B4-BE49-F238E27FC236}">
                <a16:creationId xmlns:a16="http://schemas.microsoft.com/office/drawing/2014/main" id="{69452724-DCFD-4BBF-B4F1-C55DAE5CC8DF}"/>
              </a:ext>
            </a:extLst>
          </p:cNvPr>
          <p:cNvSpPr>
            <a:spLocks xmlns:a="http://schemas.openxmlformats.org/drawingml/2006/main" noGrp="1"/>
          </p:cNvSpPr>
          <p:nvPr/>
        </p:nvSpPr>
        <p:spPr>
          <a:xfrm xmlns:a="http://schemas.openxmlformats.org/drawingml/2006/main">
            <a:off x="838200" y="6396799"/>
            <a:ext cx="65532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耗时 3 小时，自动审计上百份资料，自动产出数十份审计分析报告。</a:t>
            </a:r>
          </a:p>
        </p:txBody>
      </p:sp>
    </p:spTree>
    <p:extLst>
      <p:ext uri="{BB962C8B-B14F-4D97-AF65-F5344CB8AC3E}">
        <p14:creationId xmlns:p14="http://schemas.microsoft.com/office/powerpoint/2010/main" val="141574329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97DDB6-4919-4454-AB40-F6A612A69CD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1C6F910-B4C7-4979-8184-70093B17EA95}"/>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770419FB-98E2-4872-ACC9-3F9C4069FBB9}"/>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864DE2C-33C3-464D-9951-6CC59715A54C}"/>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重塑人机协同关系</a:t>
            </a:r>
          </a:p>
        </p:txBody>
      </p:sp>
      <p:sp>
        <p:nvSpPr>
          <p:cNvPr id="5" name="">
            <a:extLst xmlns:a="http://schemas.openxmlformats.org/drawingml/2006/main">
              <a:ext uri="{FF2B5EF4-FFF2-40B4-BE49-F238E27FC236}">
                <a16:creationId xmlns:a16="http://schemas.microsoft.com/office/drawing/2014/main" id="{A59685DD-B0C1-425F-A1AA-9BA5F3BDB85C}"/>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625995DA-5DAC-42D3-9160-3800B1E807A7}"/>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总结 AI 与审计人员的分工：机器负责速度和覆盖，人类负责判断和深度，平台负责能力沉淀。</a:t>
            </a:r>
          </a:p>
        </p:txBody>
      </p:sp>
      <p:sp>
        <p:nvSpPr>
          <p:cNvPr id="7" name="">
            <a:extLst xmlns:a="http://schemas.openxmlformats.org/drawingml/2006/main">
              <a:ext uri="{FF2B5EF4-FFF2-40B4-BE49-F238E27FC236}">
                <a16:creationId xmlns:a16="http://schemas.microsoft.com/office/drawing/2014/main" id="{5B46D2E0-FCC8-41A8-9598-CF64B9242854}"/>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1843236A-6827-435D-8C90-17433669F91E}"/>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37</a:t>
            </a:r>
          </a:p>
        </p:txBody>
      </p:sp>
      <p:sp>
        <p:nvSpPr>
          <p:cNvPr id="9" name="">
            <a:extLst xmlns:a="http://schemas.openxmlformats.org/drawingml/2006/main">
              <a:ext uri="{FF2B5EF4-FFF2-40B4-BE49-F238E27FC236}">
                <a16:creationId xmlns:a16="http://schemas.microsoft.com/office/drawing/2014/main" id="{AF481D2D-F012-4F14-82AB-560B052E8D81}"/>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484AD5E6-B758-47CE-802E-0171D73B09D7}"/>
              </a:ext>
            </a:extLst>
          </p:cNvPr>
          <p:cNvSpPr>
            <a:spLocks xmlns:a="http://schemas.openxmlformats.org/drawingml/2006/main" noGrp="1"/>
          </p:cNvSpPr>
          <p:nvPr/>
        </p:nvSpPr>
        <p:spPr>
          <a:xfrm xmlns:a="http://schemas.openxmlformats.org/drawingml/2006/main">
            <a:off x="8382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通过 AI 对海量文本、票据、合同、制度和跨系统数据进行快速读取、抽取、比对和关联分析，可压缩资料处理时间，提升审计覆盖范围，帮助审计人员从大量重复性工作中释放出来。</a:t>
            </a:r>
          </a:p>
        </p:txBody>
      </p:sp>
      <p:sp>
        <p:nvSpPr>
          <p:cNvPr id="11" name="">
            <a:extLst xmlns:a="http://schemas.openxmlformats.org/drawingml/2006/main">
              <a:ext uri="{FF2B5EF4-FFF2-40B4-BE49-F238E27FC236}">
                <a16:creationId xmlns:a16="http://schemas.microsoft.com/office/drawing/2014/main" id="{FC62064F-0BFA-4368-9256-A2A496C9C087}"/>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2" name="">
            <a:extLst xmlns:a="http://schemas.openxmlformats.org/drawingml/2006/main">
              <a:ext uri="{FF2B5EF4-FFF2-40B4-BE49-F238E27FC236}">
                <a16:creationId xmlns:a16="http://schemas.microsoft.com/office/drawing/2014/main" id="{24CCFFD1-A07D-42FD-A811-9F9216A69E6B}"/>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机器处理“存量”</a:t>
            </a:r>
          </a:p>
        </p:txBody>
      </p:sp>
      <p:sp>
        <p:nvSpPr>
          <p:cNvPr id="13" name="">
            <a:extLst xmlns:a="http://schemas.openxmlformats.org/drawingml/2006/main">
              <a:ext uri="{FF2B5EF4-FFF2-40B4-BE49-F238E27FC236}">
                <a16:creationId xmlns:a16="http://schemas.microsoft.com/office/drawing/2014/main" id="{260AB776-EC1C-4B53-ABF0-EA65389ED8F9}"/>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将高频、重复、规则明确、工作量大的任务交由平台辅助完成：</a:t>
            </a:r>
          </a:p>
        </p:txBody>
      </p:sp>
      <p:sp>
        <p:nvSpPr>
          <p:cNvPr id="14" name="">
            <a:extLst xmlns:a="http://schemas.openxmlformats.org/drawingml/2006/main">
              <a:ext uri="{FF2B5EF4-FFF2-40B4-BE49-F238E27FC236}">
                <a16:creationId xmlns:a16="http://schemas.microsoft.com/office/drawing/2014/main" id="{B24A5ABE-7C37-4A44-8FF7-D1F9A77B520B}"/>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5" name="">
            <a:extLst xmlns:a="http://schemas.openxmlformats.org/drawingml/2006/main">
              <a:ext uri="{FF2B5EF4-FFF2-40B4-BE49-F238E27FC236}">
                <a16:creationId xmlns:a16="http://schemas.microsoft.com/office/drawing/2014/main" id="{3D3A9EFD-50F0-4DD7-94F8-230E56EE3618}"/>
              </a:ext>
            </a:extLst>
          </p:cNvPr>
          <p:cNvSpPr>
            <a:spLocks xmlns:a="http://schemas.openxmlformats.org/drawingml/2006/main" noGrp="1"/>
          </p:cNvSpPr>
          <p:nvPr/>
        </p:nvSpPr>
        <p:spPr>
          <a:xfrm xmlns:a="http://schemas.openxmlformats.org/drawingml/2006/main">
            <a:off x="838200" y="41910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海量资料读取</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表格与文本抽取</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跨表核对</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规则匹配</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差异识别</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异常筛查</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图谱路径搜索</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批量报告初稿生成</a:t>
            </a:r>
          </a:p>
        </p:txBody>
      </p:sp>
      <p:sp>
        <p:nvSpPr>
          <p:cNvPr id="16" name="">
            <a:extLst xmlns:a="http://schemas.openxmlformats.org/drawingml/2006/main">
              <a:ext uri="{FF2B5EF4-FFF2-40B4-BE49-F238E27FC236}">
                <a16:creationId xmlns:a16="http://schemas.microsoft.com/office/drawing/2014/main" id="{6D5C86B2-B3EE-4EA6-AF7B-EE1D1579B246}"/>
              </a:ext>
            </a:extLst>
          </p:cNvPr>
          <p:cNvSpPr>
            <a:spLocks xmlns:a="http://schemas.openxmlformats.org/drawingml/2006/main" noGrp="1"/>
          </p:cNvSpPr>
          <p:nvPr/>
        </p:nvSpPr>
        <p:spPr>
          <a:xfrm xmlns:a="http://schemas.openxmlformats.org/drawingml/2006/main">
            <a:off x="6858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7" name="">
            <a:extLst xmlns:a="http://schemas.openxmlformats.org/drawingml/2006/main">
              <a:ext uri="{FF2B5EF4-FFF2-40B4-BE49-F238E27FC236}">
                <a16:creationId xmlns:a16="http://schemas.microsoft.com/office/drawing/2014/main" id="{ACFA12F9-2BA9-4CD8-BF46-06E270D78592}"/>
              </a:ext>
            </a:extLst>
          </p:cNvPr>
          <p:cNvSpPr>
            <a:spLocks xmlns:a="http://schemas.openxmlformats.org/drawingml/2006/main" noGrp="1"/>
          </p:cNvSpPr>
          <p:nvPr/>
        </p:nvSpPr>
        <p:spPr>
          <a:xfrm xmlns:a="http://schemas.openxmlformats.org/drawingml/2006/main">
            <a:off x="8382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人类定义“变量”</a:t>
            </a:r>
          </a:p>
        </p:txBody>
      </p:sp>
      <p:sp>
        <p:nvSpPr>
          <p:cNvPr id="18" name="">
            <a:extLst xmlns:a="http://schemas.openxmlformats.org/drawingml/2006/main">
              <a:ext uri="{FF2B5EF4-FFF2-40B4-BE49-F238E27FC236}">
                <a16:creationId xmlns:a16="http://schemas.microsoft.com/office/drawing/2014/main" id="{D4E3EE07-8AA6-4275-B9C3-B2EE0EB5CADE}"/>
              </a:ext>
            </a:extLst>
          </p:cNvPr>
          <p:cNvSpPr>
            <a:spLocks xmlns:a="http://schemas.openxmlformats.org/drawingml/2006/main" noGrp="1"/>
          </p:cNvSpPr>
          <p:nvPr/>
        </p:nvSpPr>
        <p:spPr>
          <a:xfrm xmlns:a="http://schemas.openxmlformats.org/drawingml/2006/main">
            <a:off x="8382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审计人员聚焦需要专业判断和责任把关的工作：</a:t>
            </a:r>
          </a:p>
        </p:txBody>
      </p:sp>
      <p:sp>
        <p:nvSpPr>
          <p:cNvPr id="19" name="">
            <a:extLst xmlns:a="http://schemas.openxmlformats.org/drawingml/2006/main">
              <a:ext uri="{FF2B5EF4-FFF2-40B4-BE49-F238E27FC236}">
                <a16:creationId xmlns:a16="http://schemas.microsoft.com/office/drawing/2014/main" id="{405EEAD4-10F9-4896-9499-EE61708DE7EC}"/>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0" name="">
            <a:extLst xmlns:a="http://schemas.openxmlformats.org/drawingml/2006/main">
              <a:ext uri="{FF2B5EF4-FFF2-40B4-BE49-F238E27FC236}">
                <a16:creationId xmlns:a16="http://schemas.microsoft.com/office/drawing/2014/main" id="{C1DEE6B2-988D-4DA5-AFEB-2A4753476201}"/>
              </a:ext>
            </a:extLst>
          </p:cNvPr>
          <p:cNvSpPr>
            <a:spLocks xmlns:a="http://schemas.openxmlformats.org/drawingml/2006/main" noGrp="1"/>
          </p:cNvSpPr>
          <p:nvPr/>
        </p:nvSpPr>
        <p:spPr>
          <a:xfrm xmlns:a="http://schemas.openxmlformats.org/drawingml/2006/main">
            <a:off x="6438900" y="2247900"/>
            <a:ext cx="49149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审计目标定义</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重点问题选择</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复杂疑点研判</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证据充分性判断</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问题定性</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整改建议</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 管理决策支持</a:t>
            </a:r>
          </a:p>
        </p:txBody>
      </p:sp>
      <p:sp>
        <p:nvSpPr>
          <p:cNvPr id="21" name="">
            <a:extLst xmlns:a="http://schemas.openxmlformats.org/drawingml/2006/main">
              <a:ext uri="{FF2B5EF4-FFF2-40B4-BE49-F238E27FC236}">
                <a16:creationId xmlns:a16="http://schemas.microsoft.com/office/drawing/2014/main" id="{A9DBE437-0523-46F0-A388-32F86A19B876}"/>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837D3D9A-AE47-4FE7-9887-29D8EADB22DC}"/>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平台沉淀“能力”</a:t>
            </a:r>
          </a:p>
        </p:txBody>
      </p:sp>
      <p:sp>
        <p:nvSpPr>
          <p:cNvPr id="23" name="">
            <a:extLst xmlns:a="http://schemas.openxmlformats.org/drawingml/2006/main">
              <a:ext uri="{FF2B5EF4-FFF2-40B4-BE49-F238E27FC236}">
                <a16:creationId xmlns:a16="http://schemas.microsoft.com/office/drawing/2014/main" id="{5004600D-743C-4D98-BBE6-474F3BB3BD8E}"/>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将成熟的审计规则、分析路径、核查逻辑、处置经验和典型案例持续沉淀，形成可复用、可推广、可迭代的数字审计能力。</a:t>
            </a:r>
          </a:p>
        </p:txBody>
      </p:sp>
      <p:sp>
        <p:nvSpPr>
          <p:cNvPr id="24" name="">
            <a:extLst xmlns:a="http://schemas.openxmlformats.org/drawingml/2006/main">
              <a:ext uri="{FF2B5EF4-FFF2-40B4-BE49-F238E27FC236}">
                <a16:creationId xmlns:a16="http://schemas.microsoft.com/office/drawing/2014/main" id="{2683E184-10B9-4939-B6D7-EC64131CDFCF}"/>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4158C725-D1C6-4F5D-9137-64D0B7800226}"/>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一句话表达：</a:t>
            </a:r>
          </a:p>
        </p:txBody>
      </p:sp>
      <p:sp>
        <p:nvSpPr>
          <p:cNvPr id="26" name="">
            <a:extLst xmlns:a="http://schemas.openxmlformats.org/drawingml/2006/main">
              <a:ext uri="{FF2B5EF4-FFF2-40B4-BE49-F238E27FC236}">
                <a16:creationId xmlns:a16="http://schemas.microsoft.com/office/drawing/2014/main" id="{419304C4-3611-4F2B-A215-9856FBB8D334}"/>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AI 不替代审计人员的专业判断，而是把重复劳动、资料处理和规模化核查交给平台，让审计人员回到判断、定性和决策支持的核心位置。</a:t>
            </a:r>
          </a:p>
        </p:txBody>
      </p:sp>
    </p:spTree>
    <p:extLst>
      <p:ext uri="{BB962C8B-B14F-4D97-AF65-F5344CB8AC3E}">
        <p14:creationId xmlns:p14="http://schemas.microsoft.com/office/powerpoint/2010/main" val="65220577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9C3269C-5CEF-4728-9743-EF3B35BEB6F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9FC"/>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5815AC3-A151-4946-B327-F6B2C939FB4F}"/>
              </a:ext>
            </a:extLst>
          </p:cNvPr>
          <p:cNvSpPr>
            <a:spLocks xmlns:a="http://schemas.openxmlformats.org/drawingml/2006/main" noGrp="1"/>
          </p:cNvSpPr>
          <p:nvPr/>
        </p:nvSpPr>
        <p:spPr>
          <a:xfrm xmlns:a="http://schemas.openxmlformats.org/drawingml/2006/main">
            <a:off x="0" y="0"/>
            <a:ext cx="12192000" cy="533400"/>
          </a:xfrm>
          <a:prstGeom xmlns:a="http://schemas.openxmlformats.org/drawingml/2006/main" prst="rect">
            <a:avLst/>
          </a:prstGeom>
          <a:solidFill xmlns:a="http://schemas.openxmlformats.org/drawingml/2006/main">
            <a:srgbClr val="0D1B2A"/>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B4A0007-84DF-4E63-8A70-16A770DBD2B4}"/>
              </a:ext>
            </a:extLst>
          </p:cNvPr>
          <p:cNvSpPr>
            <a:spLocks xmlns:a="http://schemas.openxmlformats.org/drawingml/2006/main" noGrp="1"/>
          </p:cNvSpPr>
          <p:nvPr/>
        </p:nvSpPr>
        <p:spPr>
          <a:xfrm xmlns:a="http://schemas.openxmlformats.org/drawingml/2006/main">
            <a:off x="0" y="533400"/>
            <a:ext cx="12192000" cy="57150"/>
          </a:xfrm>
          <a:prstGeom xmlns:a="http://schemas.openxmlformats.org/drawingml/2006/main" prst="rect">
            <a:avLst/>
          </a:prstGeom>
          <a:solidFill xmlns:a="http://schemas.openxmlformats.org/drawingml/2006/main">
            <a:srgbClr val="0F8EC7"/>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236819C-977B-42C8-9F76-9EB24A4E8F52}"/>
              </a:ext>
            </a:extLst>
          </p:cNvPr>
          <p:cNvSpPr>
            <a:spLocks xmlns:a="http://schemas.openxmlformats.org/drawingml/2006/main" noGrp="1"/>
          </p:cNvSpPr>
          <p:nvPr/>
        </p:nvSpPr>
        <p:spPr>
          <a:xfrm xmlns:a="http://schemas.openxmlformats.org/drawingml/2006/main">
            <a:off x="685800" y="876300"/>
            <a:ext cx="8953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10233F"/>
                </a:solidFill>
                <a:latin typeface="Aptos Display"/>
                <a:ea typeface="Aptos Display"/>
                <a:cs typeface="Aptos Display"/>
              </a:defRPr>
            </a:pPr>
            <a:r>
              <a:rPr sz="2100" b="1">
                <a:solidFill>
                  <a:srgbClr val="10233F"/>
                </a:solidFill>
                <a:latin typeface="Aptos Display"/>
                <a:ea typeface="Aptos Display"/>
                <a:cs typeface="Aptos Display"/>
              </a:rPr>
              <a:t>AI 原生审计产品体系的核心价值</a:t>
            </a:r>
          </a:p>
        </p:txBody>
      </p:sp>
      <p:sp>
        <p:nvSpPr>
          <p:cNvPr id="5" name="">
            <a:extLst xmlns:a="http://schemas.openxmlformats.org/drawingml/2006/main">
              <a:ext uri="{FF2B5EF4-FFF2-40B4-BE49-F238E27FC236}">
                <a16:creationId xmlns:a16="http://schemas.microsoft.com/office/drawing/2014/main" id="{9E37923F-3583-4689-BE18-82BF9AD9D69F}"/>
              </a:ext>
            </a:extLst>
          </p:cNvPr>
          <p:cNvSpPr>
            <a:spLocks xmlns:a="http://schemas.openxmlformats.org/drawingml/2006/main" noGrp="1"/>
          </p:cNvSpPr>
          <p:nvPr/>
        </p:nvSpPr>
        <p:spPr>
          <a:xfrm xmlns:a="http://schemas.openxmlformats.org/drawingml/2006/main">
            <a:off x="685800" y="1466850"/>
            <a:ext cx="43815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6" name="">
            <a:extLst xmlns:a="http://schemas.openxmlformats.org/drawingml/2006/main">
              <a:ext uri="{FF2B5EF4-FFF2-40B4-BE49-F238E27FC236}">
                <a16:creationId xmlns:a16="http://schemas.microsoft.com/office/drawing/2014/main" id="{29D605FE-673B-4889-9926-DE70C11C5DA7}"/>
              </a:ext>
            </a:extLst>
          </p:cNvPr>
          <p:cNvSpPr>
            <a:spLocks xmlns:a="http://schemas.openxmlformats.org/drawingml/2006/main" noGrp="1"/>
          </p:cNvSpPr>
          <p:nvPr/>
        </p:nvSpPr>
        <p:spPr>
          <a:xfrm xmlns:a="http://schemas.openxmlformats.org/drawingml/2006/main">
            <a:off x="838200" y="156210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27496D"/>
                </a:solidFill>
                <a:latin typeface="Aptos"/>
                <a:ea typeface="Aptos"/>
                <a:cs typeface="Aptos"/>
              </a:defRPr>
            </a:pPr>
            <a:r>
              <a:rPr sz="975" b="0">
                <a:solidFill>
                  <a:srgbClr val="27496D"/>
                </a:solidFill>
                <a:latin typeface="Aptos"/>
                <a:ea typeface="Aptos"/>
                <a:cs typeface="Aptos"/>
              </a:rPr>
              <a:t>最终收束为技术壁垒和合作价值：我们展示的是完整能力链路，不是单个 AI 问答入口或图谱工具。</a:t>
            </a:r>
          </a:p>
        </p:txBody>
      </p:sp>
      <p:sp>
        <p:nvSpPr>
          <p:cNvPr id="7" name="">
            <a:extLst xmlns:a="http://schemas.openxmlformats.org/drawingml/2006/main">
              <a:ext uri="{FF2B5EF4-FFF2-40B4-BE49-F238E27FC236}">
                <a16:creationId xmlns:a16="http://schemas.microsoft.com/office/drawing/2014/main" id="{AE39C6D5-10C0-4E93-B066-BC9E13AA9DB6}"/>
              </a:ext>
            </a:extLst>
          </p:cNvPr>
          <p:cNvSpPr>
            <a:spLocks xmlns:a="http://schemas.openxmlformats.org/drawingml/2006/main" noGrp="1"/>
          </p:cNvSpPr>
          <p:nvPr/>
        </p:nvSpPr>
        <p:spPr>
          <a:xfrm xmlns:a="http://schemas.openxmlformats.org/drawingml/2006/main">
            <a:off x="685800" y="6534150"/>
            <a:ext cx="2857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D728A"/>
                </a:solidFill>
                <a:latin typeface="Aptos"/>
                <a:ea typeface="Aptos"/>
                <a:cs typeface="Aptos"/>
              </a:defRPr>
            </a:pPr>
            <a:r>
              <a:rPr sz="750" b="0">
                <a:solidFill>
                  <a:srgbClr val="5D728A"/>
                </a:solidFill>
                <a:latin typeface="Aptos"/>
                <a:ea typeface="Aptos"/>
                <a:cs typeface="Aptos"/>
              </a:rPr>
              <a:t>AI原生审计技术体系</a:t>
            </a:r>
          </a:p>
        </p:txBody>
      </p:sp>
      <p:sp>
        <p:nvSpPr>
          <p:cNvPr id="8" name="">
            <a:extLst xmlns:a="http://schemas.openxmlformats.org/drawingml/2006/main">
              <a:ext uri="{FF2B5EF4-FFF2-40B4-BE49-F238E27FC236}">
                <a16:creationId xmlns:a16="http://schemas.microsoft.com/office/drawing/2014/main" id="{5E9C8674-568C-48B0-B41C-06EECC37D865}"/>
              </a:ext>
            </a:extLst>
          </p:cNvPr>
          <p:cNvSpPr>
            <a:spLocks xmlns:a="http://schemas.openxmlformats.org/drawingml/2006/main" noGrp="1"/>
          </p:cNvSpPr>
          <p:nvPr/>
        </p:nvSpPr>
        <p:spPr>
          <a:xfrm xmlns:a="http://schemas.openxmlformats.org/drawingml/2006/main">
            <a:off x="11125200" y="6496050"/>
            <a:ext cx="381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5D728A"/>
                </a:solidFill>
                <a:latin typeface="Aptos"/>
                <a:ea typeface="Aptos"/>
                <a:cs typeface="Aptos"/>
              </a:defRPr>
            </a:pPr>
            <a:r>
              <a:rPr sz="900" b="0">
                <a:solidFill>
                  <a:srgbClr val="5D728A"/>
                </a:solidFill>
                <a:latin typeface="Aptos"/>
                <a:ea typeface="Aptos"/>
                <a:cs typeface="Aptos"/>
              </a:rPr>
              <a:t>38</a:t>
            </a:r>
          </a:p>
        </p:txBody>
      </p:sp>
      <p:sp>
        <p:nvSpPr>
          <p:cNvPr id="9" name="">
            <a:extLst xmlns:a="http://schemas.openxmlformats.org/drawingml/2006/main">
              <a:ext uri="{FF2B5EF4-FFF2-40B4-BE49-F238E27FC236}">
                <a16:creationId xmlns:a16="http://schemas.microsoft.com/office/drawing/2014/main" id="{14EC056E-B60E-4FE9-BF11-B3EED92A982B}"/>
              </a:ext>
            </a:extLst>
          </p:cNvPr>
          <p:cNvSpPr>
            <a:spLocks xmlns:a="http://schemas.openxmlformats.org/drawingml/2006/main" noGrp="1"/>
          </p:cNvSpPr>
          <p:nvPr/>
        </p:nvSpPr>
        <p:spPr>
          <a:xfrm xmlns:a="http://schemas.openxmlformats.org/drawingml/2006/main">
            <a:off x="6858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0" name="">
            <a:extLst xmlns:a="http://schemas.openxmlformats.org/drawingml/2006/main">
              <a:ext uri="{FF2B5EF4-FFF2-40B4-BE49-F238E27FC236}">
                <a16:creationId xmlns:a16="http://schemas.microsoft.com/office/drawing/2014/main" id="{A15AFF4C-CA33-49EE-9D6D-94D219B25995}"/>
              </a:ext>
            </a:extLst>
          </p:cNvPr>
          <p:cNvSpPr>
            <a:spLocks xmlns:a="http://schemas.openxmlformats.org/drawingml/2006/main" noGrp="1"/>
          </p:cNvSpPr>
          <p:nvPr/>
        </p:nvSpPr>
        <p:spPr>
          <a:xfrm xmlns:a="http://schemas.openxmlformats.org/drawingml/2006/main">
            <a:off x="8382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智能体平台</a:t>
            </a:r>
          </a:p>
        </p:txBody>
      </p:sp>
      <p:sp>
        <p:nvSpPr>
          <p:cNvPr id="11" name="">
            <a:extLst xmlns:a="http://schemas.openxmlformats.org/drawingml/2006/main">
              <a:ext uri="{FF2B5EF4-FFF2-40B4-BE49-F238E27FC236}">
                <a16:creationId xmlns:a16="http://schemas.microsoft.com/office/drawing/2014/main" id="{81137727-2C82-4C85-A7C2-738069B2AC13}"/>
              </a:ext>
            </a:extLst>
          </p:cNvPr>
          <p:cNvSpPr>
            <a:spLocks xmlns:a="http://schemas.openxmlformats.org/drawingml/2006/main" noGrp="1"/>
          </p:cNvSpPr>
          <p:nvPr/>
        </p:nvSpPr>
        <p:spPr>
          <a:xfrm xmlns:a="http://schemas.openxmlformats.org/drawingml/2006/main">
            <a:off x="8382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提供 AI 能力底座，统一承接知识、数据、工具、模型和权限资源，支撑智能问数、知识问答、任务型智能体和专有智能体能力生产。</a:t>
            </a:r>
          </a:p>
        </p:txBody>
      </p:sp>
      <p:sp>
        <p:nvSpPr>
          <p:cNvPr id="12" name="">
            <a:extLst xmlns:a="http://schemas.openxmlformats.org/drawingml/2006/main">
              <a:ext uri="{FF2B5EF4-FFF2-40B4-BE49-F238E27FC236}">
                <a16:creationId xmlns:a16="http://schemas.microsoft.com/office/drawing/2014/main" id="{0B28F93B-1821-45CD-96DE-71D8189029FA}"/>
              </a:ext>
            </a:extLst>
          </p:cNvPr>
          <p:cNvSpPr>
            <a:spLocks xmlns:a="http://schemas.openxmlformats.org/drawingml/2006/main" noGrp="1"/>
          </p:cNvSpPr>
          <p:nvPr/>
        </p:nvSpPr>
        <p:spPr>
          <a:xfrm xmlns:a="http://schemas.openxmlformats.org/drawingml/2006/main">
            <a:off x="685800" y="306705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13" name="">
            <a:extLst xmlns:a="http://schemas.openxmlformats.org/drawingml/2006/main">
              <a:ext uri="{FF2B5EF4-FFF2-40B4-BE49-F238E27FC236}">
                <a16:creationId xmlns:a16="http://schemas.microsoft.com/office/drawing/2014/main" id="{156095C5-3279-44FE-8A3A-C03207CE4673}"/>
              </a:ext>
            </a:extLst>
          </p:cNvPr>
          <p:cNvSpPr>
            <a:spLocks xmlns:a="http://schemas.openxmlformats.org/drawingml/2006/main" noGrp="1"/>
          </p:cNvSpPr>
          <p:nvPr/>
        </p:nvSpPr>
        <p:spPr>
          <a:xfrm xmlns:a="http://schemas.openxmlformats.org/drawingml/2006/main">
            <a:off x="8382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数据治理平台</a:t>
            </a:r>
          </a:p>
        </p:txBody>
      </p:sp>
      <p:sp>
        <p:nvSpPr>
          <p:cNvPr id="14" name="">
            <a:extLst xmlns:a="http://schemas.openxmlformats.org/drawingml/2006/main">
              <a:ext uri="{FF2B5EF4-FFF2-40B4-BE49-F238E27FC236}">
                <a16:creationId xmlns:a16="http://schemas.microsoft.com/office/drawing/2014/main" id="{91B80712-2EC5-4090-9D48-79920F6007AF}"/>
              </a:ext>
            </a:extLst>
          </p:cNvPr>
          <p:cNvSpPr>
            <a:spLocks xmlns:a="http://schemas.openxmlformats.org/drawingml/2006/main" noGrp="1"/>
          </p:cNvSpPr>
          <p:nvPr/>
        </p:nvSpPr>
        <p:spPr>
          <a:xfrm xmlns:a="http://schemas.openxmlformats.org/drawingml/2006/main">
            <a:off x="8382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解决复杂数据可用性问题，让结构化数据更易理解，让非结构化资料真正转化为可查询、可分析、可入图、可复用的数据资产。</a:t>
            </a:r>
          </a:p>
        </p:txBody>
      </p:sp>
      <p:sp>
        <p:nvSpPr>
          <p:cNvPr id="15" name="">
            <a:extLst xmlns:a="http://schemas.openxmlformats.org/drawingml/2006/main">
              <a:ext uri="{FF2B5EF4-FFF2-40B4-BE49-F238E27FC236}">
                <a16:creationId xmlns:a16="http://schemas.microsoft.com/office/drawing/2014/main" id="{106AA654-F72C-436A-9E42-C50C06C3038C}"/>
              </a:ext>
            </a:extLst>
          </p:cNvPr>
          <p:cNvSpPr>
            <a:spLocks xmlns:a="http://schemas.openxmlformats.org/drawingml/2006/main" noGrp="1"/>
          </p:cNvSpPr>
          <p:nvPr/>
        </p:nvSpPr>
        <p:spPr>
          <a:xfrm xmlns:a="http://schemas.openxmlformats.org/drawingml/2006/main">
            <a:off x="685800" y="4038600"/>
            <a:ext cx="5219700" cy="857250"/>
          </a:xfrm>
          <a:prstGeom xmlns:a="http://schemas.openxmlformats.org/drawingml/2006/main" prst="rect">
            <a:avLst/>
          </a:prstGeom>
          <a:solidFill xmlns:a="http://schemas.openxmlformats.org/drawingml/2006/main">
            <a:srgbClr val="EEF7F3"/>
          </a:solidFill>
          <a:ln xmlns:a="http://schemas.openxmlformats.org/drawingml/2006/main" w="9525">
            <a:solidFill>
              <a:srgbClr val="D8E2EE"/>
            </a:solidFill>
            <a:prstDash val="solid"/>
          </a:ln>
        </p:spPr>
      </p:sp>
      <p:sp>
        <p:nvSpPr>
          <p:cNvPr id="16" name="">
            <a:extLst xmlns:a="http://schemas.openxmlformats.org/drawingml/2006/main">
              <a:ext uri="{FF2B5EF4-FFF2-40B4-BE49-F238E27FC236}">
                <a16:creationId xmlns:a16="http://schemas.microsoft.com/office/drawing/2014/main" id="{4BF354EF-B900-4EAF-95CF-60AA462D9A31}"/>
              </a:ext>
            </a:extLst>
          </p:cNvPr>
          <p:cNvSpPr>
            <a:spLocks xmlns:a="http://schemas.openxmlformats.org/drawingml/2006/main" noGrp="1"/>
          </p:cNvSpPr>
          <p:nvPr/>
        </p:nvSpPr>
        <p:spPr>
          <a:xfrm xmlns:a="http://schemas.openxmlformats.org/drawingml/2006/main">
            <a:off x="8382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数据图谱平台</a:t>
            </a:r>
          </a:p>
        </p:txBody>
      </p:sp>
      <p:sp>
        <p:nvSpPr>
          <p:cNvPr id="17" name="">
            <a:extLst xmlns:a="http://schemas.openxmlformats.org/drawingml/2006/main">
              <a:ext uri="{FF2B5EF4-FFF2-40B4-BE49-F238E27FC236}">
                <a16:creationId xmlns:a16="http://schemas.microsoft.com/office/drawing/2014/main" id="{D42B5748-73BF-4892-9073-2A3A0FDF5B32}"/>
              </a:ext>
            </a:extLst>
          </p:cNvPr>
          <p:cNvSpPr>
            <a:spLocks xmlns:a="http://schemas.openxmlformats.org/drawingml/2006/main" noGrp="1"/>
          </p:cNvSpPr>
          <p:nvPr/>
        </p:nvSpPr>
        <p:spPr>
          <a:xfrm xmlns:a="http://schemas.openxmlformats.org/drawingml/2006/main">
            <a:off x="8382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将治理结果组织为可穿透、可追溯、可分析、可推理的关系网络，支撑关联穿透、路径追溯、图上算法、AI 关系推理和批量线索发现。</a:t>
            </a:r>
          </a:p>
        </p:txBody>
      </p:sp>
      <p:sp>
        <p:nvSpPr>
          <p:cNvPr id="18" name="">
            <a:extLst xmlns:a="http://schemas.openxmlformats.org/drawingml/2006/main">
              <a:ext uri="{FF2B5EF4-FFF2-40B4-BE49-F238E27FC236}">
                <a16:creationId xmlns:a16="http://schemas.microsoft.com/office/drawing/2014/main" id="{345AF946-57BB-43C6-847E-AC49E1EA5D5F}"/>
              </a:ext>
            </a:extLst>
          </p:cNvPr>
          <p:cNvSpPr>
            <a:spLocks xmlns:a="http://schemas.openxmlformats.org/drawingml/2006/main" noGrp="1"/>
          </p:cNvSpPr>
          <p:nvPr/>
        </p:nvSpPr>
        <p:spPr>
          <a:xfrm xmlns:a="http://schemas.openxmlformats.org/drawingml/2006/main">
            <a:off x="6858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19" name="">
            <a:extLst xmlns:a="http://schemas.openxmlformats.org/drawingml/2006/main">
              <a:ext uri="{FF2B5EF4-FFF2-40B4-BE49-F238E27FC236}">
                <a16:creationId xmlns:a16="http://schemas.microsoft.com/office/drawing/2014/main" id="{C1608812-C9CD-4918-BBF1-55FAC0C92019}"/>
              </a:ext>
            </a:extLst>
          </p:cNvPr>
          <p:cNvSpPr>
            <a:spLocks xmlns:a="http://schemas.openxmlformats.org/drawingml/2006/main" noGrp="1"/>
          </p:cNvSpPr>
          <p:nvPr/>
        </p:nvSpPr>
        <p:spPr>
          <a:xfrm xmlns:a="http://schemas.openxmlformats.org/drawingml/2006/main">
            <a:off x="8382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综合分析平台</a:t>
            </a:r>
          </a:p>
        </p:txBody>
      </p:sp>
      <p:sp>
        <p:nvSpPr>
          <p:cNvPr id="20" name="">
            <a:extLst xmlns:a="http://schemas.openxmlformats.org/drawingml/2006/main">
              <a:ext uri="{FF2B5EF4-FFF2-40B4-BE49-F238E27FC236}">
                <a16:creationId xmlns:a16="http://schemas.microsoft.com/office/drawing/2014/main" id="{E9D0C5C2-8E3C-426A-AD7C-319B662BD034}"/>
              </a:ext>
            </a:extLst>
          </p:cNvPr>
          <p:cNvSpPr>
            <a:spLocks xmlns:a="http://schemas.openxmlformats.org/drawingml/2006/main" noGrp="1"/>
          </p:cNvSpPr>
          <p:nvPr/>
        </p:nvSpPr>
        <p:spPr>
          <a:xfrm xmlns:a="http://schemas.openxmlformats.org/drawingml/2006/main">
            <a:off x="8382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统一承接多源资源、审计助手、任务、技能和应用，形成面向审计作业的聚合工作入口和成果沉淀空间。</a:t>
            </a:r>
          </a:p>
        </p:txBody>
      </p:sp>
      <p:sp>
        <p:nvSpPr>
          <p:cNvPr id="21" name="">
            <a:extLst xmlns:a="http://schemas.openxmlformats.org/drawingml/2006/main">
              <a:ext uri="{FF2B5EF4-FFF2-40B4-BE49-F238E27FC236}">
                <a16:creationId xmlns:a16="http://schemas.microsoft.com/office/drawing/2014/main" id="{58E93D4F-EB93-4990-AD55-7D8C2CD80712}"/>
              </a:ext>
            </a:extLst>
          </p:cNvPr>
          <p:cNvSpPr>
            <a:spLocks xmlns:a="http://schemas.openxmlformats.org/drawingml/2006/main" noGrp="1"/>
          </p:cNvSpPr>
          <p:nvPr/>
        </p:nvSpPr>
        <p:spPr>
          <a:xfrm xmlns:a="http://schemas.openxmlformats.org/drawingml/2006/main">
            <a:off x="6286500" y="209550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22" name="">
            <a:extLst xmlns:a="http://schemas.openxmlformats.org/drawingml/2006/main">
              <a:ext uri="{FF2B5EF4-FFF2-40B4-BE49-F238E27FC236}">
                <a16:creationId xmlns:a16="http://schemas.microsoft.com/office/drawing/2014/main" id="{2843CAB4-989D-4836-B5DC-2E6C6C154F63}"/>
              </a:ext>
            </a:extLst>
          </p:cNvPr>
          <p:cNvSpPr>
            <a:spLocks xmlns:a="http://schemas.openxmlformats.org/drawingml/2006/main" noGrp="1"/>
          </p:cNvSpPr>
          <p:nvPr/>
        </p:nvSpPr>
        <p:spPr>
          <a:xfrm xmlns:a="http://schemas.openxmlformats.org/drawingml/2006/main">
            <a:off x="6438900" y="22288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体系壁垒</a:t>
            </a:r>
          </a:p>
        </p:txBody>
      </p:sp>
      <p:sp>
        <p:nvSpPr>
          <p:cNvPr id="23" name="">
            <a:extLst xmlns:a="http://schemas.openxmlformats.org/drawingml/2006/main">
              <a:ext uri="{FF2B5EF4-FFF2-40B4-BE49-F238E27FC236}">
                <a16:creationId xmlns:a16="http://schemas.microsoft.com/office/drawing/2014/main" id="{CAAEF6BB-EFBF-4415-8820-54015A1BF834}"/>
              </a:ext>
            </a:extLst>
          </p:cNvPr>
          <p:cNvSpPr>
            <a:spLocks xmlns:a="http://schemas.openxmlformats.org/drawingml/2006/main" noGrp="1"/>
          </p:cNvSpPr>
          <p:nvPr/>
        </p:nvSpPr>
        <p:spPr>
          <a:xfrm xmlns:a="http://schemas.openxmlformats.org/drawingml/2006/main">
            <a:off x="6438900" y="24765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复杂数据治理壁垒  </a:t>
            </a:r>
          </a:p>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覆盖结构化库表、非结构化资料、历史变更文本、长文档、扫描件和复杂表格。</a:t>
            </a:r>
          </a:p>
        </p:txBody>
      </p:sp>
      <p:sp>
        <p:nvSpPr>
          <p:cNvPr id="24" name="">
            <a:extLst xmlns:a="http://schemas.openxmlformats.org/drawingml/2006/main">
              <a:ext uri="{FF2B5EF4-FFF2-40B4-BE49-F238E27FC236}">
                <a16:creationId xmlns:a16="http://schemas.microsoft.com/office/drawing/2014/main" id="{253E0F97-650A-45E2-9818-C55EAFFF3EBC}"/>
              </a:ext>
            </a:extLst>
          </p:cNvPr>
          <p:cNvSpPr>
            <a:spLocks xmlns:a="http://schemas.openxmlformats.org/drawingml/2006/main" noGrp="1"/>
          </p:cNvSpPr>
          <p:nvPr/>
        </p:nvSpPr>
        <p:spPr>
          <a:xfrm xmlns:a="http://schemas.openxmlformats.org/drawingml/2006/main">
            <a:off x="6286500" y="3067050"/>
            <a:ext cx="5219700" cy="857250"/>
          </a:xfrm>
          <a:prstGeom xmlns:a="http://schemas.openxmlformats.org/drawingml/2006/main" prst="rect">
            <a:avLst/>
          </a:prstGeom>
          <a:solidFill xmlns:a="http://schemas.openxmlformats.org/drawingml/2006/main">
            <a:srgbClr val="FFF4E8"/>
          </a:solidFill>
          <a:ln xmlns:a="http://schemas.openxmlformats.org/drawingml/2006/main" w="9525">
            <a:solidFill>
              <a:srgbClr val="D8E2EE"/>
            </a:solidFill>
            <a:prstDash val="solid"/>
          </a:ln>
        </p:spPr>
      </p:sp>
      <p:sp>
        <p:nvSpPr>
          <p:cNvPr id="25" name="">
            <a:extLst xmlns:a="http://schemas.openxmlformats.org/drawingml/2006/main">
              <a:ext uri="{FF2B5EF4-FFF2-40B4-BE49-F238E27FC236}">
                <a16:creationId xmlns:a16="http://schemas.microsoft.com/office/drawing/2014/main" id="{CAFA1AB4-622D-49F7-8BD8-3FDF9FDBB5E9}"/>
              </a:ext>
            </a:extLst>
          </p:cNvPr>
          <p:cNvSpPr>
            <a:spLocks xmlns:a="http://schemas.openxmlformats.org/drawingml/2006/main" noGrp="1"/>
          </p:cNvSpPr>
          <p:nvPr/>
        </p:nvSpPr>
        <p:spPr>
          <a:xfrm xmlns:a="http://schemas.openxmlformats.org/drawingml/2006/main">
            <a:off x="6438900" y="32004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AI + 图谱融合壁垒</a:t>
            </a:r>
          </a:p>
        </p:txBody>
      </p:sp>
      <p:sp>
        <p:nvSpPr>
          <p:cNvPr id="26" name="">
            <a:extLst xmlns:a="http://schemas.openxmlformats.org/drawingml/2006/main">
              <a:ext uri="{FF2B5EF4-FFF2-40B4-BE49-F238E27FC236}">
                <a16:creationId xmlns:a16="http://schemas.microsoft.com/office/drawing/2014/main" id="{DED86304-4840-44A0-8CC4-0EA1C6B460EA}"/>
              </a:ext>
            </a:extLst>
          </p:cNvPr>
          <p:cNvSpPr>
            <a:spLocks xmlns:a="http://schemas.openxmlformats.org/drawingml/2006/main" noGrp="1"/>
          </p:cNvSpPr>
          <p:nvPr/>
        </p:nvSpPr>
        <p:spPr>
          <a:xfrm xmlns:a="http://schemas.openxmlformats.org/drawingml/2006/main">
            <a:off x="6438900" y="34480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不是简单图谱展示，而是本体建模、多源入图、路径分析、图上算法、关系推理和批量任务一体化。</a:t>
            </a:r>
          </a:p>
        </p:txBody>
      </p:sp>
      <p:sp>
        <p:nvSpPr>
          <p:cNvPr id="27" name="">
            <a:extLst xmlns:a="http://schemas.openxmlformats.org/drawingml/2006/main">
              <a:ext uri="{FF2B5EF4-FFF2-40B4-BE49-F238E27FC236}">
                <a16:creationId xmlns:a16="http://schemas.microsoft.com/office/drawing/2014/main" id="{0A31CA53-EC32-4F0D-BF8F-61DCB6263A84}"/>
              </a:ext>
            </a:extLst>
          </p:cNvPr>
          <p:cNvSpPr>
            <a:spLocks xmlns:a="http://schemas.openxmlformats.org/drawingml/2006/main" noGrp="1"/>
          </p:cNvSpPr>
          <p:nvPr/>
        </p:nvSpPr>
        <p:spPr>
          <a:xfrm xmlns:a="http://schemas.openxmlformats.org/drawingml/2006/main">
            <a:off x="6286500" y="4038600"/>
            <a:ext cx="5219700" cy="857250"/>
          </a:xfrm>
          <a:prstGeom xmlns:a="http://schemas.openxmlformats.org/drawingml/2006/main" prst="rect">
            <a:avLst/>
          </a:prstGeom>
          <a:solidFill xmlns:a="http://schemas.openxmlformats.org/drawingml/2006/main">
            <a:srgbClr val="EAF6FB"/>
          </a:solidFill>
          <a:ln xmlns:a="http://schemas.openxmlformats.org/drawingml/2006/main" w="9525">
            <a:solidFill>
              <a:srgbClr val="D8E2EE"/>
            </a:solidFill>
            <a:prstDash val="solid"/>
          </a:ln>
        </p:spPr>
      </p:sp>
      <p:sp>
        <p:nvSpPr>
          <p:cNvPr id="28" name="">
            <a:extLst xmlns:a="http://schemas.openxmlformats.org/drawingml/2006/main">
              <a:ext uri="{FF2B5EF4-FFF2-40B4-BE49-F238E27FC236}">
                <a16:creationId xmlns:a16="http://schemas.microsoft.com/office/drawing/2014/main" id="{EB30C40A-6D75-4CFE-A0F5-80399D5C2777}"/>
              </a:ext>
            </a:extLst>
          </p:cNvPr>
          <p:cNvSpPr>
            <a:spLocks xmlns:a="http://schemas.openxmlformats.org/drawingml/2006/main" noGrp="1"/>
          </p:cNvSpPr>
          <p:nvPr/>
        </p:nvSpPr>
        <p:spPr>
          <a:xfrm xmlns:a="http://schemas.openxmlformats.org/drawingml/2006/main">
            <a:off x="6438900" y="417195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智能体工程化壁垒</a:t>
            </a:r>
          </a:p>
        </p:txBody>
      </p:sp>
      <p:sp>
        <p:nvSpPr>
          <p:cNvPr id="29" name="">
            <a:extLst xmlns:a="http://schemas.openxmlformats.org/drawingml/2006/main">
              <a:ext uri="{FF2B5EF4-FFF2-40B4-BE49-F238E27FC236}">
                <a16:creationId xmlns:a16="http://schemas.microsoft.com/office/drawing/2014/main" id="{8464C0CF-47EE-41A3-A428-4E478F453191}"/>
              </a:ext>
            </a:extLst>
          </p:cNvPr>
          <p:cNvSpPr>
            <a:spLocks xmlns:a="http://schemas.openxmlformats.org/drawingml/2006/main" noGrp="1"/>
          </p:cNvSpPr>
          <p:nvPr/>
        </p:nvSpPr>
        <p:spPr>
          <a:xfrm xmlns:a="http://schemas.openxmlformats.org/drawingml/2006/main">
            <a:off x="6438900" y="441960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统一纳管模型、知识、数据库、工具和权限，支撑任务型智能体和专有智能体能力沉淀。</a:t>
            </a:r>
          </a:p>
        </p:txBody>
      </p:sp>
      <p:sp>
        <p:nvSpPr>
          <p:cNvPr id="30" name="">
            <a:extLst xmlns:a="http://schemas.openxmlformats.org/drawingml/2006/main">
              <a:ext uri="{FF2B5EF4-FFF2-40B4-BE49-F238E27FC236}">
                <a16:creationId xmlns:a16="http://schemas.microsoft.com/office/drawing/2014/main" id="{5F83CCAF-3A59-4F6E-A58E-74BA922B06D0}"/>
              </a:ext>
            </a:extLst>
          </p:cNvPr>
          <p:cNvSpPr>
            <a:spLocks xmlns:a="http://schemas.openxmlformats.org/drawingml/2006/main" noGrp="1"/>
          </p:cNvSpPr>
          <p:nvPr/>
        </p:nvSpPr>
        <p:spPr>
          <a:xfrm xmlns:a="http://schemas.openxmlformats.org/drawingml/2006/main">
            <a:off x="6286500" y="5010150"/>
            <a:ext cx="52197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D8E2EE"/>
            </a:solidFill>
            <a:prstDash val="solid"/>
          </a:ln>
        </p:spPr>
      </p:sp>
      <p:sp>
        <p:nvSpPr>
          <p:cNvPr id="31" name="">
            <a:extLst xmlns:a="http://schemas.openxmlformats.org/drawingml/2006/main">
              <a:ext uri="{FF2B5EF4-FFF2-40B4-BE49-F238E27FC236}">
                <a16:creationId xmlns:a16="http://schemas.microsoft.com/office/drawing/2014/main" id="{57911A68-2E3C-435F-9F62-008464A9D983}"/>
              </a:ext>
            </a:extLst>
          </p:cNvPr>
          <p:cNvSpPr>
            <a:spLocks xmlns:a="http://schemas.openxmlformats.org/drawingml/2006/main" noGrp="1"/>
          </p:cNvSpPr>
          <p:nvPr/>
        </p:nvSpPr>
        <p:spPr>
          <a:xfrm xmlns:a="http://schemas.openxmlformats.org/drawingml/2006/main">
            <a:off x="6438900" y="5143500"/>
            <a:ext cx="49149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0233F"/>
                </a:solidFill>
                <a:latin typeface="Aptos"/>
                <a:ea typeface="Aptos"/>
                <a:cs typeface="Aptos"/>
              </a:defRPr>
            </a:pPr>
            <a:r>
              <a:rPr sz="1200" b="1">
                <a:solidFill>
                  <a:srgbClr val="10233F"/>
                </a:solidFill>
                <a:latin typeface="Aptos"/>
                <a:ea typeface="Aptos"/>
                <a:cs typeface="Aptos"/>
              </a:rPr>
              <a:t>审计作业闭环壁垒</a:t>
            </a:r>
          </a:p>
        </p:txBody>
      </p:sp>
      <p:sp>
        <p:nvSpPr>
          <p:cNvPr id="32" name="">
            <a:extLst xmlns:a="http://schemas.openxmlformats.org/drawingml/2006/main">
              <a:ext uri="{FF2B5EF4-FFF2-40B4-BE49-F238E27FC236}">
                <a16:creationId xmlns:a16="http://schemas.microsoft.com/office/drawing/2014/main" id="{D27985D0-757A-4C50-B7C2-EE0E02992A31}"/>
              </a:ext>
            </a:extLst>
          </p:cNvPr>
          <p:cNvSpPr>
            <a:spLocks xmlns:a="http://schemas.openxmlformats.org/drawingml/2006/main" noGrp="1"/>
          </p:cNvSpPr>
          <p:nvPr/>
        </p:nvSpPr>
        <p:spPr>
          <a:xfrm xmlns:a="http://schemas.openxmlformats.org/drawingml/2006/main">
            <a:off x="6438900" y="5391150"/>
            <a:ext cx="49149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324D"/>
                </a:solidFill>
                <a:latin typeface="Aptos"/>
                <a:ea typeface="Aptos"/>
                <a:cs typeface="Aptos"/>
              </a:defRPr>
            </a:pPr>
            <a:r>
              <a:rPr sz="975" b="0">
                <a:solidFill>
                  <a:srgbClr val="17324D"/>
                </a:solidFill>
                <a:latin typeface="Aptos"/>
                <a:ea typeface="Aptos"/>
                <a:cs typeface="Aptos"/>
              </a:rPr>
              <a:t>从数据理解、关系发现、任务执行到证据复核和能力沉淀，形成可进入真实审计作业的闭环能力。</a:t>
            </a:r>
          </a:p>
        </p:txBody>
      </p:sp>
    </p:spTree>
    <p:extLst>
      <p:ext uri="{BB962C8B-B14F-4D97-AF65-F5344CB8AC3E}">
        <p14:creationId xmlns:p14="http://schemas.microsoft.com/office/powerpoint/2010/main" val="18618893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2026-06-07T03:55:12.7890000Z</dcterms:created>
  <dcterms:modified xsi:type="dcterms:W3CDTF">2026-06-07T03:55:12.7890000Z</dcterms:modified>
</coreProperties>
</file>