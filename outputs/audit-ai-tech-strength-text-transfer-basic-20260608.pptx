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22b56f6165484b" /><Relationship Type="http://schemas.openxmlformats.org/officeDocument/2006/relationships/extended-properties" Target="/docProps/app.xml" Id="R46bedf28d0424727" /><Relationship Type="http://schemas.openxmlformats.org/officeDocument/2006/relationships/officeDocument" Target="/ppt/presentation.xml" Id="Rb1ec060301af4b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7aa5077cc142fe"/>
  </p:sldMasterIdLst>
  <p:notesMasterIdLst>
    <p:notesMasterId xmlns:r="http://schemas.openxmlformats.org/officeDocument/2006/relationships" r:id="Rdc08176a1e184193"/>
  </p:notesMasterIdLst>
  <p:sldIdLst>
    <p:sldId xmlns:r="http://schemas.openxmlformats.org/officeDocument/2006/relationships" id="256" r:id="R27ed70c1b67e49a4"/>
    <p:sldId xmlns:r="http://schemas.openxmlformats.org/officeDocument/2006/relationships" id="257" r:id="Ra3f97dbc5fba469b"/>
    <p:sldId xmlns:r="http://schemas.openxmlformats.org/officeDocument/2006/relationships" id="258" r:id="R74d556561ac04738"/>
    <p:sldId xmlns:r="http://schemas.openxmlformats.org/officeDocument/2006/relationships" id="259" r:id="R4a70619bc34149b5"/>
    <p:sldId xmlns:r="http://schemas.openxmlformats.org/officeDocument/2006/relationships" id="260" r:id="R41c13794b3e94980"/>
    <p:sldId xmlns:r="http://schemas.openxmlformats.org/officeDocument/2006/relationships" id="261" r:id="R29c658d6dc4a4d3d"/>
    <p:sldId xmlns:r="http://schemas.openxmlformats.org/officeDocument/2006/relationships" id="262" r:id="Rf2597ce8597f4125"/>
    <p:sldId xmlns:r="http://schemas.openxmlformats.org/officeDocument/2006/relationships" id="263" r:id="R5d3d8c1ecaea4fec"/>
    <p:sldId xmlns:r="http://schemas.openxmlformats.org/officeDocument/2006/relationships" id="264" r:id="R0ab1378065b04f62"/>
    <p:sldId xmlns:r="http://schemas.openxmlformats.org/officeDocument/2006/relationships" id="265" r:id="Rae27e0b6659d4616"/>
    <p:sldId xmlns:r="http://schemas.openxmlformats.org/officeDocument/2006/relationships" id="266" r:id="R6db2fbb5986548be"/>
    <p:sldId xmlns:r="http://schemas.openxmlformats.org/officeDocument/2006/relationships" id="267" r:id="R0a811d3980d74d2c"/>
    <p:sldId xmlns:r="http://schemas.openxmlformats.org/officeDocument/2006/relationships" id="268" r:id="R216733535dbb4a8d"/>
    <p:sldId xmlns:r="http://schemas.openxmlformats.org/officeDocument/2006/relationships" id="269" r:id="Rb90fe809ef794ceb"/>
    <p:sldId xmlns:r="http://schemas.openxmlformats.org/officeDocument/2006/relationships" id="270" r:id="R812be883cbcb40f3"/>
    <p:sldId xmlns:r="http://schemas.openxmlformats.org/officeDocument/2006/relationships" id="271" r:id="R4e1783a17e514edc"/>
    <p:sldId xmlns:r="http://schemas.openxmlformats.org/officeDocument/2006/relationships" id="272" r:id="R1866b4a8e2f7439d"/>
    <p:sldId xmlns:r="http://schemas.openxmlformats.org/officeDocument/2006/relationships" id="273" r:id="R239ff4926ec6403e"/>
    <p:sldId xmlns:r="http://schemas.openxmlformats.org/officeDocument/2006/relationships" id="274" r:id="R1d49c9b8faef48fc"/>
    <p:sldId xmlns:r="http://schemas.openxmlformats.org/officeDocument/2006/relationships" id="275" r:id="R7ee876ab3d6b49a1"/>
    <p:sldId xmlns:r="http://schemas.openxmlformats.org/officeDocument/2006/relationships" id="276" r:id="R4ad506f82d4a4a70"/>
    <p:sldId xmlns:r="http://schemas.openxmlformats.org/officeDocument/2006/relationships" id="277" r:id="R090ca82f20e244ff"/>
    <p:sldId xmlns:r="http://schemas.openxmlformats.org/officeDocument/2006/relationships" id="278" r:id="R3938831640994b23"/>
    <p:sldId xmlns:r="http://schemas.openxmlformats.org/officeDocument/2006/relationships" id="279" r:id="R28bd936ca42d40dc"/>
    <p:sldId xmlns:r="http://schemas.openxmlformats.org/officeDocument/2006/relationships" id="280" r:id="Rde73adb5c4484fbb"/>
    <p:sldId xmlns:r="http://schemas.openxmlformats.org/officeDocument/2006/relationships" id="281" r:id="R58290b000ccc4f0b"/>
    <p:sldId xmlns:r="http://schemas.openxmlformats.org/officeDocument/2006/relationships" id="282" r:id="R57eeb336ed9b4a2a"/>
    <p:sldId xmlns:r="http://schemas.openxmlformats.org/officeDocument/2006/relationships" id="283" r:id="R6d9391003b724817"/>
    <p:sldId xmlns:r="http://schemas.openxmlformats.org/officeDocument/2006/relationships" id="284" r:id="R150017c2b8e64969"/>
    <p:sldId xmlns:r="http://schemas.openxmlformats.org/officeDocument/2006/relationships" id="285" r:id="R1f2936f00b044e3b"/>
    <p:sldId xmlns:r="http://schemas.openxmlformats.org/officeDocument/2006/relationships" id="286" r:id="R985e950425634b6e"/>
    <p:sldId xmlns:r="http://schemas.openxmlformats.org/officeDocument/2006/relationships" id="287" r:id="R945f252b0ed84271"/>
    <p:sldId xmlns:r="http://schemas.openxmlformats.org/officeDocument/2006/relationships" id="288" r:id="R82ea147b02a1402b"/>
    <p:sldId xmlns:r="http://schemas.openxmlformats.org/officeDocument/2006/relationships" id="289" r:id="R7e0e237356164a81"/>
    <p:sldId xmlns:r="http://schemas.openxmlformats.org/officeDocument/2006/relationships" id="290" r:id="R5388475efe2241b0"/>
    <p:sldId xmlns:r="http://schemas.openxmlformats.org/officeDocument/2006/relationships" id="291" r:id="R7551e20dca7b460c"/>
    <p:sldId xmlns:r="http://schemas.openxmlformats.org/officeDocument/2006/relationships" id="292" r:id="R5d209e0de16e4418"/>
    <p:sldId xmlns:r="http://schemas.openxmlformats.org/officeDocument/2006/relationships" id="293" r:id="Rbd0d81b179d8450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1b2d9ebfc44cd2" /><Relationship Type="http://schemas.openxmlformats.org/officeDocument/2006/relationships/slideMaster" Target="/ppt/slideMasters/slideMaster1.xml" Id="R177aa5077cc142fe" /><Relationship Type="http://schemas.openxmlformats.org/officeDocument/2006/relationships/notesMaster" Target="/ppt/notesMasters/notesMaster1.xml" Id="Rdc08176a1e184193" /><Relationship Type="http://schemas.openxmlformats.org/officeDocument/2006/relationships/presProps" Target="/ppt/presProps.xml" Id="R370ca15ccf8b40f8" /><Relationship Type="http://schemas.openxmlformats.org/officeDocument/2006/relationships/viewProps" Target="/ppt/viewProps.xml" Id="R565ef0a157274a8c" /><Relationship Type="http://schemas.openxmlformats.org/officeDocument/2006/relationships/tableStyles" Target="/ppt/tableStyles.xml" Id="R7d2c85208f3544e8" /><Relationship Type="http://schemas.openxmlformats.org/officeDocument/2006/relationships/slide" Target="/ppt/slides/slide1.xml" Id="R27ed70c1b67e49a4" /><Relationship Type="http://schemas.openxmlformats.org/officeDocument/2006/relationships/slide" Target="/ppt/slides/slide2.xml" Id="Ra3f97dbc5fba469b" /><Relationship Type="http://schemas.openxmlformats.org/officeDocument/2006/relationships/slide" Target="/ppt/slides/slide3.xml" Id="R74d556561ac04738" /><Relationship Type="http://schemas.openxmlformats.org/officeDocument/2006/relationships/slide" Target="/ppt/slides/slide4.xml" Id="R4a70619bc34149b5" /><Relationship Type="http://schemas.openxmlformats.org/officeDocument/2006/relationships/slide" Target="/ppt/slides/slide5.xml" Id="R41c13794b3e94980" /><Relationship Type="http://schemas.openxmlformats.org/officeDocument/2006/relationships/slide" Target="/ppt/slides/slide6.xml" Id="R29c658d6dc4a4d3d" /><Relationship Type="http://schemas.openxmlformats.org/officeDocument/2006/relationships/slide" Target="/ppt/slides/slide7.xml" Id="Rf2597ce8597f4125" /><Relationship Type="http://schemas.openxmlformats.org/officeDocument/2006/relationships/slide" Target="/ppt/slides/slide8.xml" Id="R5d3d8c1ecaea4fec" /><Relationship Type="http://schemas.openxmlformats.org/officeDocument/2006/relationships/slide" Target="/ppt/slides/slide9.xml" Id="R0ab1378065b04f62" /><Relationship Type="http://schemas.openxmlformats.org/officeDocument/2006/relationships/slide" Target="/ppt/slides/slide10.xml" Id="Rae27e0b6659d4616" /><Relationship Type="http://schemas.openxmlformats.org/officeDocument/2006/relationships/slide" Target="/ppt/slides/slide11.xml" Id="R6db2fbb5986548be" /><Relationship Type="http://schemas.openxmlformats.org/officeDocument/2006/relationships/slide" Target="/ppt/slides/slide12.xml" Id="R0a811d3980d74d2c" /><Relationship Type="http://schemas.openxmlformats.org/officeDocument/2006/relationships/slide" Target="/ppt/slides/slide13.xml" Id="R216733535dbb4a8d" /><Relationship Type="http://schemas.openxmlformats.org/officeDocument/2006/relationships/slide" Target="/ppt/slides/slide14.xml" Id="Rb90fe809ef794ceb" /><Relationship Type="http://schemas.openxmlformats.org/officeDocument/2006/relationships/slide" Target="/ppt/slides/slide15.xml" Id="R812be883cbcb40f3" /><Relationship Type="http://schemas.openxmlformats.org/officeDocument/2006/relationships/slide" Target="/ppt/slides/slide16.xml" Id="R4e1783a17e514edc" /><Relationship Type="http://schemas.openxmlformats.org/officeDocument/2006/relationships/slide" Target="/ppt/slides/slide17.xml" Id="R1866b4a8e2f7439d" /><Relationship Type="http://schemas.openxmlformats.org/officeDocument/2006/relationships/slide" Target="/ppt/slides/slide18.xml" Id="R239ff4926ec6403e" /><Relationship Type="http://schemas.openxmlformats.org/officeDocument/2006/relationships/slide" Target="/ppt/slides/slide19.xml" Id="R1d49c9b8faef48fc" /><Relationship Type="http://schemas.openxmlformats.org/officeDocument/2006/relationships/slide" Target="/ppt/slides/slide20.xml" Id="R7ee876ab3d6b49a1" /><Relationship Type="http://schemas.openxmlformats.org/officeDocument/2006/relationships/slide" Target="/ppt/slides/slide21.xml" Id="R4ad506f82d4a4a70" /><Relationship Type="http://schemas.openxmlformats.org/officeDocument/2006/relationships/slide" Target="/ppt/slides/slide22.xml" Id="R090ca82f20e244ff" /><Relationship Type="http://schemas.openxmlformats.org/officeDocument/2006/relationships/slide" Target="/ppt/slides/slide23.xml" Id="R3938831640994b23" /><Relationship Type="http://schemas.openxmlformats.org/officeDocument/2006/relationships/slide" Target="/ppt/slides/slide24.xml" Id="R28bd936ca42d40dc" /><Relationship Type="http://schemas.openxmlformats.org/officeDocument/2006/relationships/slide" Target="/ppt/slides/slide25.xml" Id="Rde73adb5c4484fbb" /><Relationship Type="http://schemas.openxmlformats.org/officeDocument/2006/relationships/slide" Target="/ppt/slides/slide26.xml" Id="R58290b000ccc4f0b" /><Relationship Type="http://schemas.openxmlformats.org/officeDocument/2006/relationships/slide" Target="/ppt/slides/slide27.xml" Id="R57eeb336ed9b4a2a" /><Relationship Type="http://schemas.openxmlformats.org/officeDocument/2006/relationships/slide" Target="/ppt/slides/slide28.xml" Id="R6d9391003b724817" /><Relationship Type="http://schemas.openxmlformats.org/officeDocument/2006/relationships/slide" Target="/ppt/slides/slide29.xml" Id="R150017c2b8e64969" /><Relationship Type="http://schemas.openxmlformats.org/officeDocument/2006/relationships/slide" Target="/ppt/slides/slide30.xml" Id="R1f2936f00b044e3b" /><Relationship Type="http://schemas.openxmlformats.org/officeDocument/2006/relationships/slide" Target="/ppt/slides/slide31.xml" Id="R985e950425634b6e" /><Relationship Type="http://schemas.openxmlformats.org/officeDocument/2006/relationships/slide" Target="/ppt/slides/slide32.xml" Id="R945f252b0ed84271" /><Relationship Type="http://schemas.openxmlformats.org/officeDocument/2006/relationships/slide" Target="/ppt/slides/slide33.xml" Id="R82ea147b02a1402b" /><Relationship Type="http://schemas.openxmlformats.org/officeDocument/2006/relationships/slide" Target="/ppt/slides/slide34.xml" Id="R7e0e237356164a81" /><Relationship Type="http://schemas.openxmlformats.org/officeDocument/2006/relationships/slide" Target="/ppt/slides/slide35.xml" Id="R5388475efe2241b0" /><Relationship Type="http://schemas.openxmlformats.org/officeDocument/2006/relationships/slide" Target="/ppt/slides/slide36.xml" Id="R7551e20dca7b460c" /><Relationship Type="http://schemas.openxmlformats.org/officeDocument/2006/relationships/slide" Target="/ppt/slides/slide37.xml" Id="R5d209e0de16e4418" /><Relationship Type="http://schemas.openxmlformats.org/officeDocument/2006/relationships/slide" Target="/ppt/slides/slide38.xml" Id="Rbd0d81b179d845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1585a78e4443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db76177b834d0c" /><Relationship Type="http://schemas.openxmlformats.org/officeDocument/2006/relationships/notesMaster" Target="/ppt/notesMasters/notesMaster1.xml" Id="Rcff1d035662840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74b6313e2e43ee" /><Relationship Type="http://schemas.openxmlformats.org/officeDocument/2006/relationships/notesMaster" Target="/ppt/notesMasters/notesMaster1.xml" Id="Rd61c1b82525b425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0b3322cebd4c3a" /><Relationship Type="http://schemas.openxmlformats.org/officeDocument/2006/relationships/notesMaster" Target="/ppt/notesMasters/notesMaster1.xml" Id="R3a780b792e0d41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10024558564006" /><Relationship Type="http://schemas.openxmlformats.org/officeDocument/2006/relationships/notesMaster" Target="/ppt/notesMasters/notesMaster1.xml" Id="R5e894219782143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fa76477bb04e54" /><Relationship Type="http://schemas.openxmlformats.org/officeDocument/2006/relationships/notesMaster" Target="/ppt/notesMasters/notesMaster1.xml" Id="R420258719c314b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356bd5532ce4997" /><Relationship Type="http://schemas.openxmlformats.org/officeDocument/2006/relationships/notesMaster" Target="/ppt/notesMasters/notesMaster1.xml" Id="R8798f90cd53c45e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367ab3788449d5" /><Relationship Type="http://schemas.openxmlformats.org/officeDocument/2006/relationships/notesMaster" Target="/ppt/notesMasters/notesMaster1.xml" Id="Rcabf32696e0a46f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3a9e5180f3a44e6" /><Relationship Type="http://schemas.openxmlformats.org/officeDocument/2006/relationships/notesMaster" Target="/ppt/notesMasters/notesMaster1.xml" Id="R7dea552f05bc40a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77b107c03af4805" /><Relationship Type="http://schemas.openxmlformats.org/officeDocument/2006/relationships/notesMaster" Target="/ppt/notesMasters/notesMaster1.xml" Id="Rd39e89a7bb54448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5cc9cea1d064736" /><Relationship Type="http://schemas.openxmlformats.org/officeDocument/2006/relationships/notesMaster" Target="/ppt/notesMasters/notesMaster1.xml" Id="Rc58ed18cfcc443b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f68940d124649c5" /><Relationship Type="http://schemas.openxmlformats.org/officeDocument/2006/relationships/notesMaster" Target="/ppt/notesMasters/notesMaster1.xml" Id="Re45f6109c171461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b2e8a928db24f99" /><Relationship Type="http://schemas.openxmlformats.org/officeDocument/2006/relationships/notesMaster" Target="/ppt/notesMasters/notesMaster1.xml" Id="R14752f4920cb4d1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5dac36bea854e0e" /><Relationship Type="http://schemas.openxmlformats.org/officeDocument/2006/relationships/notesMaster" Target="/ppt/notesMasters/notesMaster1.xml" Id="Re3faf38ccdd446e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22a849d487f4693" /><Relationship Type="http://schemas.openxmlformats.org/officeDocument/2006/relationships/notesMaster" Target="/ppt/notesMasters/notesMaster1.xml" Id="R086c5105820c466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abbab298ee848bf" /><Relationship Type="http://schemas.openxmlformats.org/officeDocument/2006/relationships/notesMaster" Target="/ppt/notesMasters/notesMaster1.xml" Id="R74d59958ddf44b8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8787e63be0f4b34" /><Relationship Type="http://schemas.openxmlformats.org/officeDocument/2006/relationships/notesMaster" Target="/ppt/notesMasters/notesMaster1.xml" Id="R29994fcca27842f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1473b3e00be40b7" /><Relationship Type="http://schemas.openxmlformats.org/officeDocument/2006/relationships/notesMaster" Target="/ppt/notesMasters/notesMaster1.xml" Id="R1f5800edf292406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6fb893eef604a4b" /><Relationship Type="http://schemas.openxmlformats.org/officeDocument/2006/relationships/notesMaster" Target="/ppt/notesMasters/notesMaster1.xml" Id="R67ddd0590300445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acfcfc22c1645d3" /><Relationship Type="http://schemas.openxmlformats.org/officeDocument/2006/relationships/notesMaster" Target="/ppt/notesMasters/notesMaster1.xml" Id="Rf69c446c3667460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4b60f403d334a3f" /><Relationship Type="http://schemas.openxmlformats.org/officeDocument/2006/relationships/notesMaster" Target="/ppt/notesMasters/notesMaster1.xml" Id="R69f13f5cd09d45c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d075228b638461b" /><Relationship Type="http://schemas.openxmlformats.org/officeDocument/2006/relationships/notesMaster" Target="/ppt/notesMasters/notesMaster1.xml" Id="R4b49f56b8275465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4557ae049c84039" /><Relationship Type="http://schemas.openxmlformats.org/officeDocument/2006/relationships/notesMaster" Target="/ppt/notesMasters/notesMaster1.xml" Id="Reef4bf87b3f2462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1e5408b823e4114" /><Relationship Type="http://schemas.openxmlformats.org/officeDocument/2006/relationships/notesMaster" Target="/ppt/notesMasters/notesMaster1.xml" Id="R3e8ed8e75ccf4f2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ad4f446353f42b4" /><Relationship Type="http://schemas.openxmlformats.org/officeDocument/2006/relationships/notesMaster" Target="/ppt/notesMasters/notesMaster1.xml" Id="Re94b0550c89c4d4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d0512ff80b0433e" /><Relationship Type="http://schemas.openxmlformats.org/officeDocument/2006/relationships/notesMaster" Target="/ppt/notesMasters/notesMaster1.xml" Id="Rd67a1f35358a4b7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424333ee07242f8" /><Relationship Type="http://schemas.openxmlformats.org/officeDocument/2006/relationships/notesMaster" Target="/ppt/notesMasters/notesMaster1.xml" Id="R168187dcd8024ac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65ec558014148b3" /><Relationship Type="http://schemas.openxmlformats.org/officeDocument/2006/relationships/notesMaster" Target="/ppt/notesMasters/notesMaster1.xml" Id="R22bf255375064c7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4d24aacbe7141a8" /><Relationship Type="http://schemas.openxmlformats.org/officeDocument/2006/relationships/notesMaster" Target="/ppt/notesMasters/notesMaster1.xml" Id="R2964d6fe616d4c8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c1a709a59fd460d" /><Relationship Type="http://schemas.openxmlformats.org/officeDocument/2006/relationships/notesMaster" Target="/ppt/notesMasters/notesMaster1.xml" Id="R92a88b248f2f417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9e1025cd70043aa" /><Relationship Type="http://schemas.openxmlformats.org/officeDocument/2006/relationships/notesMaster" Target="/ppt/notesMasters/notesMaster1.xml" Id="Rc567c26970614ca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eabdf7c598a400d" /><Relationship Type="http://schemas.openxmlformats.org/officeDocument/2006/relationships/notesMaster" Target="/ppt/notesMasters/notesMaster1.xml" Id="Re642adfdda34456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57b981e92f147e9" /><Relationship Type="http://schemas.openxmlformats.org/officeDocument/2006/relationships/notesMaster" Target="/ppt/notesMasters/notesMaster1.xml" Id="R175742ffce374419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ba583ee13ec48d8" /><Relationship Type="http://schemas.openxmlformats.org/officeDocument/2006/relationships/notesMaster" Target="/ppt/notesMasters/notesMaster1.xml" Id="R8330d11036ff43e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22b546796054eca" /><Relationship Type="http://schemas.openxmlformats.org/officeDocument/2006/relationships/notesMaster" Target="/ppt/notesMasters/notesMaster1.xml" Id="R01264cea279142d6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bc83f06d9e94e2e" /><Relationship Type="http://schemas.openxmlformats.org/officeDocument/2006/relationships/notesMaster" Target="/ppt/notesMasters/notesMaster1.xml" Id="Rd4d932cdbca74f61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e0c391d684ee4648" /><Relationship Type="http://schemas.openxmlformats.org/officeDocument/2006/relationships/notesMaster" Target="/ppt/notesMasters/notesMaster1.xml" Id="Rb8577ef5ad4e4b3f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e19f6672a7804fc0" /><Relationship Type="http://schemas.openxmlformats.org/officeDocument/2006/relationships/notesMaster" Target="/ppt/notesMasters/notesMaster1.xml" Id="Raa3a7c57fb0345c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fe8372e820344bff" /><Relationship Type="http://schemas.openxmlformats.org/officeDocument/2006/relationships/notesMaster" Target="/ppt/notesMasters/notesMaster1.xml" Id="Rd3b73ad814c242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41b4f3d8a7494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17080eb45740d4" /><Relationship Type="http://schemas.openxmlformats.org/officeDocument/2006/relationships/slideLayout" Target="/ppt/slideLayouts/slideLayout1.xml" Id="R6fc65cd4dde845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c65cd4dde845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b36ba20f864778" /><Relationship Type="http://schemas.openxmlformats.org/officeDocument/2006/relationships/notesSlide" Target="/ppt/notesSlides/notesSlide1.xml" Id="Re343e70e11554b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44ac6e24c34987" /><Relationship Type="http://schemas.openxmlformats.org/officeDocument/2006/relationships/notesSlide" Target="/ppt/notesSlides/notesSlide2.xml" Id="R7caed319556347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7b56598b5f415e" /><Relationship Type="http://schemas.openxmlformats.org/officeDocument/2006/relationships/notesSlide" Target="/ppt/notesSlides/notesSlide3.xml" Id="R1f0112a1ddbc45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d1765c93814319" /><Relationship Type="http://schemas.openxmlformats.org/officeDocument/2006/relationships/notesSlide" Target="/ppt/notesSlides/notesSlide4.xml" Id="Ra0c8f690acc14e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e419887a5b4495" /><Relationship Type="http://schemas.openxmlformats.org/officeDocument/2006/relationships/notesSlide" Target="/ppt/notesSlides/notesSlide5.xml" Id="Re0c318a5e02f41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691dbf367c427f" /><Relationship Type="http://schemas.openxmlformats.org/officeDocument/2006/relationships/notesSlide" Target="/ppt/notesSlides/notesSlide6.xml" Id="R94fc6cd71fad44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6ed196add3442a" /><Relationship Type="http://schemas.openxmlformats.org/officeDocument/2006/relationships/notesSlide" Target="/ppt/notesSlides/notesSlide7.xml" Id="R3969a9290d2b486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064d174b2b4c31" /><Relationship Type="http://schemas.openxmlformats.org/officeDocument/2006/relationships/notesSlide" Target="/ppt/notesSlides/notesSlide8.xml" Id="Rc7e613fa284645a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17a8ecfdb84de7" /><Relationship Type="http://schemas.openxmlformats.org/officeDocument/2006/relationships/notesSlide" Target="/ppt/notesSlides/notesSlide9.xml" Id="Re39a3ad921be490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1a7e7024cb43d2" /><Relationship Type="http://schemas.openxmlformats.org/officeDocument/2006/relationships/notesSlide" Target="/ppt/notesSlides/notesSlide10.xml" Id="Rd799c9d459ce42d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ff42acd3d34057" /><Relationship Type="http://schemas.openxmlformats.org/officeDocument/2006/relationships/notesSlide" Target="/ppt/notesSlides/notesSlide11.xml" Id="Rcca211983ca84b4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31fe369e2f4a6c" /><Relationship Type="http://schemas.openxmlformats.org/officeDocument/2006/relationships/notesSlide" Target="/ppt/notesSlides/notesSlide12.xml" Id="Racfe7cadfc1545b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0c86b9f03b41a0" /><Relationship Type="http://schemas.openxmlformats.org/officeDocument/2006/relationships/notesSlide" Target="/ppt/notesSlides/notesSlide13.xml" Id="R0769ff372a544d4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c8eaef40604325" /><Relationship Type="http://schemas.openxmlformats.org/officeDocument/2006/relationships/notesSlide" Target="/ppt/notesSlides/notesSlide14.xml" Id="Rc3df08907aee45d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c3acc978e646c9" /><Relationship Type="http://schemas.openxmlformats.org/officeDocument/2006/relationships/notesSlide" Target="/ppt/notesSlides/notesSlide15.xml" Id="R17371663644342f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3d8fb0a46746db" /><Relationship Type="http://schemas.openxmlformats.org/officeDocument/2006/relationships/notesSlide" Target="/ppt/notesSlides/notesSlide16.xml" Id="R4a1220935cbe4c1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8ea412fa284238" /><Relationship Type="http://schemas.openxmlformats.org/officeDocument/2006/relationships/notesSlide" Target="/ppt/notesSlides/notesSlide17.xml" Id="Rd87256921e1b495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0858a016ab4ff4" /><Relationship Type="http://schemas.openxmlformats.org/officeDocument/2006/relationships/notesSlide" Target="/ppt/notesSlides/notesSlide18.xml" Id="Rac7a924cba5848b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feca9e3d7549c4" /><Relationship Type="http://schemas.openxmlformats.org/officeDocument/2006/relationships/notesSlide" Target="/ppt/notesSlides/notesSlide19.xml" Id="R0505497019ce4be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75e0ec618047fd" /><Relationship Type="http://schemas.openxmlformats.org/officeDocument/2006/relationships/notesSlide" Target="/ppt/notesSlides/notesSlide20.xml" Id="R9295b8d0e87743c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47bf20af6249bb" /><Relationship Type="http://schemas.openxmlformats.org/officeDocument/2006/relationships/notesSlide" Target="/ppt/notesSlides/notesSlide21.xml" Id="Rd04ff33a018448c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73528459e44e4d" /><Relationship Type="http://schemas.openxmlformats.org/officeDocument/2006/relationships/notesSlide" Target="/ppt/notesSlides/notesSlide22.xml" Id="R5a2e35d757f7420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abecdbabf34abe" /><Relationship Type="http://schemas.openxmlformats.org/officeDocument/2006/relationships/notesSlide" Target="/ppt/notesSlides/notesSlide23.xml" Id="Rf67061e6a11c47e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5f1ae84433442a" /><Relationship Type="http://schemas.openxmlformats.org/officeDocument/2006/relationships/notesSlide" Target="/ppt/notesSlides/notesSlide24.xml" Id="R275e399824a34cc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359899b37b40b1" /><Relationship Type="http://schemas.openxmlformats.org/officeDocument/2006/relationships/notesSlide" Target="/ppt/notesSlides/notesSlide25.xml" Id="R558f717b3ba343a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8497300e5d47f2" /><Relationship Type="http://schemas.openxmlformats.org/officeDocument/2006/relationships/notesSlide" Target="/ppt/notesSlides/notesSlide26.xml" Id="R5687220d2af64bf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0fb4e775944865" /><Relationship Type="http://schemas.openxmlformats.org/officeDocument/2006/relationships/notesSlide" Target="/ppt/notesSlides/notesSlide27.xml" Id="Rc1280da479bb4ba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a618c136f44e39" /><Relationship Type="http://schemas.openxmlformats.org/officeDocument/2006/relationships/notesSlide" Target="/ppt/notesSlides/notesSlide28.xml" Id="R1757547372bc426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bb5b1a19ba41da" /><Relationship Type="http://schemas.openxmlformats.org/officeDocument/2006/relationships/notesSlide" Target="/ppt/notesSlides/notesSlide29.xml" Id="Rb3b9ef3c65414c0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ad536efd534791" /><Relationship Type="http://schemas.openxmlformats.org/officeDocument/2006/relationships/notesSlide" Target="/ppt/notesSlides/notesSlide30.xml" Id="Raafad221ea964ff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5e9c60d0e74077" /><Relationship Type="http://schemas.openxmlformats.org/officeDocument/2006/relationships/notesSlide" Target="/ppt/notesSlides/notesSlide31.xml" Id="R9fa1534c639846d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ade8670ce347bf" /><Relationship Type="http://schemas.openxmlformats.org/officeDocument/2006/relationships/notesSlide" Target="/ppt/notesSlides/notesSlide32.xml" Id="Rad632a612c434dd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ab8c884c284e83" /><Relationship Type="http://schemas.openxmlformats.org/officeDocument/2006/relationships/notesSlide" Target="/ppt/notesSlides/notesSlide33.xml" Id="Rb30358c9566641c2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177b59b5a04b60" /><Relationship Type="http://schemas.openxmlformats.org/officeDocument/2006/relationships/notesSlide" Target="/ppt/notesSlides/notesSlide34.xml" Id="R110f6ab9ad0b4fa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52bc7f1e364116" /><Relationship Type="http://schemas.openxmlformats.org/officeDocument/2006/relationships/notesSlide" Target="/ppt/notesSlides/notesSlide35.xml" Id="R61ae6bfb879c4f3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33f9a5d68a4c63" /><Relationship Type="http://schemas.openxmlformats.org/officeDocument/2006/relationships/notesSlide" Target="/ppt/notesSlides/notesSlide36.xml" Id="R255f6c06de8a4f9f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cf6ce8a3d64d60" /><Relationship Type="http://schemas.openxmlformats.org/officeDocument/2006/relationships/notesSlide" Target="/ppt/notesSlides/notesSlide37.xml" Id="Rcbc052b31365431b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e7eebb77e741d5" /><Relationship Type="http://schemas.openxmlformats.org/officeDocument/2006/relationships/notesSlide" Target="/ppt/notesSlides/notesSlide38.xml" Id="R1e8caa6191414b7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867D68-2105-44A6-B805-3BE120EA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69EF1A-5845-4EB0-AF6C-D3C8ABD3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FFCE08-C88E-42E5-8017-83B5956D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E7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5E75"/>
                </a:solidFill>
                <a:latin typeface="Aptos"/>
                <a:ea typeface="Aptos"/>
                <a:cs typeface="Aptos"/>
              </a:rPr>
              <a:t>第01页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277CFB-CECE-4C23-B99D-21F2367D5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9075"/>
            <a:ext cx="981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封面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689648-2FAB-4E5B-94FB-CBA259C9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19150"/>
            <a:ext cx="1104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14AAC1-C737-4B26-B398-290421FB3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03632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9050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人工智能 + 审计综合解决方案产品介绍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AI 原生审计技术体系与产品能力交流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关键词：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数据理解</a:t>
            </a:r>
          </a:p>
          <a:p xmlns:a="http://schemas.openxmlformats.org/drawingml/2006/main">
            <a:pPr algn="l">
              <a:defRPr sz="13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图谱推理</a:t>
            </a:r>
          </a:p>
          <a:p xmlns:a="http://schemas.openxmlformats.org/drawingml/2006/main">
            <a:pPr algn="l">
              <a:defRPr sz="13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智能编排</a:t>
            </a:r>
          </a:p>
          <a:p xmlns:a="http://schemas.openxmlformats.org/drawingml/2006/main">
            <a:pPr algn="l">
              <a:defRPr sz="13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作业闭环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2D98FD-8EFA-4D0F-97A8-ED11E40A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4389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01 / 38</a:t>
            </a:r>
          </a:p>
        </p:txBody>
      </p:sp>
    </p:spTree>
    <p:extLst>
      <p:ext uri="{BB962C8B-B14F-4D97-AF65-F5344CB8AC3E}">
        <p14:creationId xmlns:p14="http://schemas.microsoft.com/office/powerpoint/2010/main" val="27021090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F85991-A191-44AE-99FB-371F0448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E5C23E-EB33-43BF-8C9B-1DC4944E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743990-D8D3-4F35-AA8F-5BCFEE3E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E7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5E75"/>
                </a:solidFill>
                <a:latin typeface="Aptos"/>
                <a:ea typeface="Aptos"/>
                <a:cs typeface="Aptos"/>
              </a:rPr>
              <a:t>第02页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E6C93C-95B0-4BD7-AAAA-562C81AE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9075"/>
            <a:ext cx="981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目录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B62780-809C-46F4-BFF8-FDB93F8A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19150"/>
            <a:ext cx="1104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7291D8-7BF2-4F68-9EDA-B08784AD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03632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9050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01 审计智能化演进与关键问题</a:t>
            </a:r>
          </a:p>
          <a:p xmlns:a="http://schemas.openxmlformats.org/drawingml/2006/main">
            <a:pPr algn="l">
              <a:defRPr sz="13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02 AI 原生产品底座与能力链路</a:t>
            </a:r>
          </a:p>
          <a:p xmlns:a="http://schemas.openxmlformats.org/drawingml/2006/main">
            <a:pPr algn="l">
              <a:defRPr sz="13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03 智能体平台：AI 能力生产与编排底座</a:t>
            </a:r>
          </a:p>
          <a:p xmlns:a="http://schemas.openxmlformats.org/drawingml/2006/main">
            <a:pPr algn="l">
              <a:defRPr sz="13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04 数据治理平台：复杂数据可用性治理</a:t>
            </a:r>
          </a:p>
          <a:p xmlns:a="http://schemas.openxmlformats.org/drawingml/2006/main">
            <a:pPr algn="l">
              <a:defRPr sz="13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05 数据图谱平台：关系建模、图计算与线索挖掘</a:t>
            </a:r>
          </a:p>
          <a:p xmlns:a="http://schemas.openxmlformats.org/drawingml/2006/main">
            <a:pPr algn="l">
              <a:defRPr sz="13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06 综合分析平台：任务执行、技能沉淀与应用承接</a:t>
            </a:r>
          </a:p>
          <a:p xmlns:a="http://schemas.openxmlformats.org/drawingml/2006/main">
            <a:pPr algn="l">
              <a:defRPr sz="13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07 总结：从单点能力到 AI 原生审计闭环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EB6571-52A9-4B61-B0A5-98AA42C5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4389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02 / 38</a:t>
            </a:r>
          </a:p>
        </p:txBody>
      </p:sp>
    </p:spTree>
    <p:extLst>
      <p:ext uri="{BB962C8B-B14F-4D97-AF65-F5344CB8AC3E}">
        <p14:creationId xmlns:p14="http://schemas.microsoft.com/office/powerpoint/2010/main" val="55226121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B4BA5D-B2B9-4690-BE3F-7D276FF7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9CE1B7-0990-4A91-981A-A6033C78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E7C505-1A25-470F-8698-E513C4AF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E7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5E75"/>
                </a:solidFill>
                <a:latin typeface="Aptos"/>
                <a:ea typeface="Aptos"/>
                <a:cs typeface="Aptos"/>
              </a:rPr>
              <a:t>第03页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1B16CF-09F5-4C12-9DFF-2FB030C7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9075"/>
            <a:ext cx="981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审计信息化已经奠定基础，但正在进入智能化深水区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D135FE-E50B-4F35-A136-02AB7414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19150"/>
            <a:ext cx="1104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E01E82-F989-4024-B459-73C4A420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52197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7145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审计信息化经过多年建设，已在数据、流程和成果管理上形成较成熟支撑。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已有建设已经解决了三类基础问题：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数据归集与规则分析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通过 SQL、指标模型、规则脚本和定时任务，完成明确口径下的数据筛查和统计。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审计流程与项目管理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支撑项目立项、方案制定、任务分派、过程流转和成果归档。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底稿与成果管理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支撑取证、底稿编写、报告生成和成果沉淀。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CCA178-E138-4708-A006-C5EFCB0C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0287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5C1DD6-2478-4E1E-BB99-005F7E0E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028700"/>
            <a:ext cx="52197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714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但随着审计对象、数据类型和业务关系持续复杂化，传统方式正在进入深水区：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数据可见，但难用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数据虽已汇聚，但字段语义、表间关系和资料格式仍高度依赖人工理解。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线索存在，但难穿透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人、企、单位、项目、资金、票据分散在不同系统和资料中，单点查询难以还原关系链条。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经验成熟，但难复制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专家经验、核查路径和判断规则更多沉淀在个人层面，难以跨项目复用。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1CFB63-049E-4748-B787-6079DB00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4389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03 / 38</a:t>
            </a:r>
          </a:p>
        </p:txBody>
      </p:sp>
    </p:spTree>
    <p:extLst>
      <p:ext uri="{BB962C8B-B14F-4D97-AF65-F5344CB8AC3E}">
        <p14:creationId xmlns:p14="http://schemas.microsoft.com/office/powerpoint/2010/main" val="98946075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ED2D18-AC23-4522-8047-22973DED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FDCCE3-19A3-4863-A074-893FC457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D43D18-583B-4AB6-B420-F9A8A04D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E7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5E75"/>
                </a:solidFill>
                <a:latin typeface="Aptos"/>
                <a:ea typeface="Aptos"/>
                <a:cs typeface="Aptos"/>
              </a:rPr>
              <a:t>第04页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EF9295-41EA-4642-9764-6E2E21FC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9075"/>
            <a:ext cx="981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大模型带来新可能，但通用 AI 难以直接承接审计作业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B246FD-FD52-45E6-AA89-29D88996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19150"/>
            <a:ext cx="1104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641149-1851-4837-9611-C9FD2847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52197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7145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大模型为审计带来了新的能力空间：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快速阅读大量资料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辅助提取关键信息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理解制度、法规和案例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生成分析摘要和报告初稿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降低系统使用门槛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但通用 AI 不能直接等同于审计 AI，真实场景至少存在四类门槛：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安全边界门槛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审计数据涉及财政资金、国资、公共资源交易、重大项目、社保医保、企业经营和人员关系，必须满足数据不出域、权限可控、过程可记录、结果可复核。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D41940-99D3-4147-90A8-F5E43C68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0287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2C21F3-8845-4531-8694-51817878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028700"/>
            <a:ext cx="52197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7145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真实数据接入门槛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如果 AI 不能连接数据库、业务系统、图数据库、文档资料和法规案例库，就只能停留在文本问答层面。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专业任务执行门槛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审计不是一次问答，而是连续的资料读取、要素抽取、数据探查、关系比对和结果生成过程。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证据链闭环门槛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AI 结论必须回到原始资料、原始数据、图谱路径和执行日志，不能只是无法验证的答案。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498552-0E52-496A-8739-1CD85585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4389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04 / 38</a:t>
            </a:r>
          </a:p>
        </p:txBody>
      </p:sp>
    </p:spTree>
    <p:extLst>
      <p:ext uri="{BB962C8B-B14F-4D97-AF65-F5344CB8AC3E}">
        <p14:creationId xmlns:p14="http://schemas.microsoft.com/office/powerpoint/2010/main" val="184432689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709156-63B6-4654-8FE1-5CDC0D29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A5D33A-8FC4-443F-87F1-CE6875EF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50D171-0618-4F87-A276-84A15515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E7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5E75"/>
                </a:solidFill>
                <a:latin typeface="Aptos"/>
                <a:ea typeface="Aptos"/>
                <a:cs typeface="Aptos"/>
              </a:rPr>
              <a:t>第05页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973F52-CA7E-4912-87A3-7B91168C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9075"/>
            <a:ext cx="981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AI + 审计真正要解决的是完整作业链路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D3714E-80F6-4488-8FC8-7347638F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19150"/>
            <a:ext cx="1104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483757-05D8-464E-8742-0CD313A2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52197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7145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AI + 审计的核心，不是接入大模型或增加问答入口，而是让 AI 进入完整作业链路。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传统大数据解决的是“跑数”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依赖人工理解字段、编写 SQL、维护规则和脚本，适合处理明确口径下的查询、统计和筛查。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通用 AI 解决的是“问答”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擅长文本理解、知识问答和内容生成，但缺少对真实审计数据和作业链路的深度承接。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AI + 审计真正要解决的是“从数据到任务的闭环”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1. 数据理解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让 AI 理解字段、资料、实体和业务语义。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F68FCA-1D85-40FD-910E-66C03190C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0287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EC8D95-6482-428E-815E-C4B88A49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028700"/>
            <a:ext cx="52197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714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2. 关系发现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让 AI 发现人员、企业、单位、项目、资金、票据之间的显性关系和隐含关系。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3. 任务执行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让 AI 围绕审计目标执行探查、抽取、比对、核验和结果生成。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4. 证据复核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让 AI 结论回到原始资料、原始数据、图谱路径和任务记录。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5. 能力沉淀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让审计思路、核查路径和判断规则沉淀为可复用能力。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B03FED-85E1-44AA-BACA-A4040E17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4389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05 / 38</a:t>
            </a:r>
          </a:p>
        </p:txBody>
      </p:sp>
    </p:spTree>
    <p:extLst>
      <p:ext uri="{BB962C8B-B14F-4D97-AF65-F5344CB8AC3E}">
        <p14:creationId xmlns:p14="http://schemas.microsoft.com/office/powerpoint/2010/main" val="198081235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35B618-57BE-4A0E-9B0B-574E7965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E1F4A2-F396-431A-ADAF-BDBF6277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D61307-C543-4212-B026-107E62A3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E7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5E75"/>
                </a:solidFill>
                <a:latin typeface="Aptos"/>
                <a:ea typeface="Aptos"/>
                <a:cs typeface="Aptos"/>
              </a:rPr>
              <a:t>第06页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5DB3EF-8B70-492D-AE72-290A9204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9075"/>
            <a:ext cx="981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我们的解法：AI 原生审计产品体系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E8130E-0A01-4D59-A994-2498BFC8C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19150"/>
            <a:ext cx="1104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896155-3762-4827-829D-752B5B9F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52197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7145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我们的解法不是在传统系统外层增加 AI 问答入口，而是围绕审计作业链路重新组织数据、智能体、图谱和综合分析能力。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这套产品体系围绕三类核心问题展开：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如何避免大模型幻觉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通过原文引用、数据溯源、图谱路径、SQL 和任务记录，让 AI 结论具备可追溯、可复核的依据链条。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如何让大模型具备审计思路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将核查路径、判断规则和分析步骤转化为智能体、技能、模板和应用，使 AI 按照审计逻辑执行任务。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CD6E8E-1215-4E7F-99AF-37030FCA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0287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CC5996-F319-46DD-9AA6-90793329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028700"/>
            <a:ext cx="52197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7145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如何让大模型与审计人员协作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通过项目工作台、任务过程展示和结果复核，让 AI 处理高频重复工作，让审计人员聚焦疑点判断和问题定性。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产品体系的底层设计原则：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数据在域内，权限可控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能力可编排，任务可监控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结果有依据，结论可复核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经验可沉淀，能力可复用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6A9D16-2259-4C54-BC91-B7C5FB2A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4389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06 / 38</a:t>
            </a:r>
          </a:p>
        </p:txBody>
      </p:sp>
    </p:spTree>
    <p:extLst>
      <p:ext uri="{BB962C8B-B14F-4D97-AF65-F5344CB8AC3E}">
        <p14:creationId xmlns:p14="http://schemas.microsoft.com/office/powerpoint/2010/main" val="157126004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4B1AA0-D3D0-4832-89D2-9202EF80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9B4C82-DEB1-4202-9E88-5448AE86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063D8C-B8E0-44B5-8CED-A709920D9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E7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5E75"/>
                </a:solidFill>
                <a:latin typeface="Aptos"/>
                <a:ea typeface="Aptos"/>
                <a:cs typeface="Aptos"/>
              </a:rPr>
              <a:t>第07页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4F5E07-9680-4C13-9B21-1B89769F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9075"/>
            <a:ext cx="981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解法路径：连接存量数据、实际业务与智能体能力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C903CC-7395-4E7C-A0F2-F1CD2562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19150"/>
            <a:ext cx="1104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376280-D843-48B2-8B89-ED192F33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52197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7145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在具体路径上，我们不替代现有业务系统，也不重复建设传统数据平台，而是在已有数据、资料、系统和知识基础上，建立“存量数据 - 实际业务 - 智能体能力”的桥梁。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已有基础：政务数据与审计数据底座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包括数据归集、数据目录、库表管理、指标模型、业务系统和项目资料。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增量能力一：AI 数据理解层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通过数据漫游、字段识别、文档解析、实体识别和结构化抽取，让数据和资料能被 AI 稳定调用。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增量能力二：图谱关系贯通层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围绕人、企、单位、项目、资金、合同、发票等对象，建立跨系统、跨表、跨资料的关系网络。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8A364-FC9B-4CD0-AADD-660C2EB1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0287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94E9F5-1CAD-4291-9B1D-B7CC2BA3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028700"/>
            <a:ext cx="52197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7145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增量能力三：智能审计作业层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把审计规则、核查路径和专家经验封装为智能体、技能、任务和应用，支撑批量核查和成果沉淀。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这套产品体系重点解决五类问题：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海量非结构化资料的数据治理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多源数据贯通与隐含价值挖掘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人、企、单位、项目、资金图谱搭建与疑点挖掘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大批量审计核查任务自动化执行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审计思路沉淀与团队共享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99B8E7-B8CC-41DB-926A-D57BE8A22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4389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07 / 38</a:t>
            </a:r>
          </a:p>
        </p:txBody>
      </p:sp>
    </p:spTree>
    <p:extLst>
      <p:ext uri="{BB962C8B-B14F-4D97-AF65-F5344CB8AC3E}">
        <p14:creationId xmlns:p14="http://schemas.microsoft.com/office/powerpoint/2010/main" val="202068547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FE0EAF-47BF-4352-826B-B776DFE5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44EF6E-64C9-45DC-9605-6E480448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1526AD-44FF-4E29-B813-4AC84E46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E7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5E75"/>
                </a:solidFill>
                <a:latin typeface="Aptos"/>
                <a:ea typeface="Aptos"/>
                <a:cs typeface="Aptos"/>
              </a:rPr>
              <a:t>第08页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1024DA-C9B4-4874-81DF-79D120C9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9075"/>
            <a:ext cx="981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本章收束：从单点工具走向 AI 原生审计技术体系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8CFC62-D0B3-416F-9303-4DDFCEAC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19150"/>
            <a:ext cx="1104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9304FF-2B7A-4BCB-B275-37D3D148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03632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9050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AI + 审计的核心不是单点工具，而是形成可持续演进的技术体系。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从单点工具到体系化能力：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从 AI 问答 → 智能体任务执行</a:t>
            </a:r>
          </a:p>
          <a:p xmlns:a="http://schemas.openxmlformats.org/drawingml/2006/main">
            <a:pPr algn="l">
              <a:defRPr sz="13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AI 不只回答问题，还能围绕审计目标执行多步骤任务。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从数据查询 → 数据理解与关系发现</a:t>
            </a:r>
          </a:p>
          <a:p xmlns:a="http://schemas.openxmlformats.org/drawingml/2006/main">
            <a:pPr algn="l">
              <a:defRPr sz="13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系统不只查表和跑数，还要理解字段、识别实体、发现关系。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从单次分析 → 证据复核与成果沉淀</a:t>
            </a:r>
          </a:p>
          <a:p xmlns:a="http://schemas.openxmlformats.org/drawingml/2006/main">
            <a:pPr algn="l">
              <a:defRPr sz="13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分析结果要能回到原始依据，并沉淀为后续可复用能力。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从个人经验 → 组织级审计能力复用</a:t>
            </a:r>
          </a:p>
          <a:p xmlns:a="http://schemas.openxmlformats.org/drawingml/2006/main">
            <a:pPr algn="l">
              <a:defRPr sz="13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把优秀审计人员的核查方法和判断逻辑转化为组织级数字能力。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9F2A98-3682-484B-9B9E-9A8C76A2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4389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08 / 38</a:t>
            </a:r>
          </a:p>
        </p:txBody>
      </p:sp>
    </p:spTree>
    <p:extLst>
      <p:ext uri="{BB962C8B-B14F-4D97-AF65-F5344CB8AC3E}">
        <p14:creationId xmlns:p14="http://schemas.microsoft.com/office/powerpoint/2010/main" val="157405515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77A50E-57EC-40AF-A7F9-9EAEFCA1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954B86-B9A9-47F0-8733-DA374DC4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0C2702-9063-4EA4-92C0-C46F640AF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E7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5E75"/>
                </a:solidFill>
                <a:latin typeface="Aptos"/>
                <a:ea typeface="Aptos"/>
                <a:cs typeface="Aptos"/>
              </a:rPr>
              <a:t>第09页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6A2142-35E2-42D6-97DE-5B78E3A8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9075"/>
            <a:ext cx="981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3+1 AI 原生审计技术底座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1F070C-1C4C-4E65-91FB-621924F0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19150"/>
            <a:ext cx="1104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A176E7-81EF-4E1C-A1D0-218C05CD5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03632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9050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“3”：三类底座能力平台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智能体平台：AI 能力生产与编排底座</a:t>
            </a:r>
          </a:p>
          <a:p xmlns:a="http://schemas.openxmlformats.org/drawingml/2006/main">
            <a:pPr algn="l">
              <a:defRPr sz="13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统一承载模型、知识库、数据库连接、MCP 工具、智能问数、法规问答、文档抽取和智能体编排能力。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数据治理平台：复杂数据可用性治理底座</a:t>
            </a:r>
          </a:p>
          <a:p xmlns:a="http://schemas.openxmlformats.org/drawingml/2006/main">
            <a:pPr algn="l">
              <a:defRPr sz="13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围绕结构化数据库和非结构化资料，完成数据探查、数据漫游、实体识别、结构化抽取和结果沉淀。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数据图谱平台：关系资产化与线索挖掘底座</a:t>
            </a:r>
          </a:p>
          <a:p xmlns:a="http://schemas.openxmlformats.org/drawingml/2006/main">
            <a:pPr algn="l">
              <a:defRPr sz="13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承接治理形成的实体、关系和线索结果，完成图谱建模、关系穿透、路径追溯、图计算和 AI 推理。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“1”：一个综合作业平台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综合分析平台：审计任务执行与能力沉淀平台</a:t>
            </a:r>
          </a:p>
          <a:p xmlns:a="http://schemas.openxmlformats.org/drawingml/2006/main">
            <a:pPr algn="l">
              <a:defRPr sz="13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聚合结构化数据、图谱关系、知识库、文档资料、审计技能和智能体能力，支撑项目作业、报告生成和能力复用。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B43C04-625A-4F67-83AF-AC76EC53C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4389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09 / 38</a:t>
            </a:r>
          </a:p>
        </p:txBody>
      </p:sp>
    </p:spTree>
    <p:extLst>
      <p:ext uri="{BB962C8B-B14F-4D97-AF65-F5344CB8AC3E}">
        <p14:creationId xmlns:p14="http://schemas.microsoft.com/office/powerpoint/2010/main" val="123303087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369CF0-ADD8-4EB7-9C2A-5EAA228F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B3685C-68D2-4B57-BF38-4A972069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A5CDBB-3335-48A4-91F3-2291BD1F4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E7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5E75"/>
                </a:solidFill>
                <a:latin typeface="Aptos"/>
                <a:ea typeface="Aptos"/>
                <a:cs typeface="Aptos"/>
              </a:rPr>
              <a:t>第10页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2EFBEC-B2F5-4EB0-80A5-3EA181A5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9075"/>
            <a:ext cx="981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四层能力破局：从数据到作业闭环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73B546-68F1-4E3D-9943-49C18648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19150"/>
            <a:ext cx="1104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A84DF6-A882-4250-B211-D2BE215F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52197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7145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“3+1”产品体系背后，是从数据到作业闭环的四层技术能力。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第一层：治理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解决“数据看得见、用不了”。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通过数据探查、数据漫游、结构化抽取和实体识别，把结构化数据和非结构化资料转化为可用资产。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第二层：贯通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解决“线索查得到、穿不透”。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围绕人、企、单位、项目、资金、合同、发票等对象，建立跨系统、跨表、跨资料的实体关系网络。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B6D63B-3E03-43EB-9037-F29B3032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0287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7D35D2-5981-427E-860C-D0E82DED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028700"/>
            <a:ext cx="52197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7145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第三层：编排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解决“审计任务难执行、难批量”。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将审计规则、核查路径和任务流程封装为智能体、技能和任务，使平台能够连续执行探查、抽取、比对和结果生成。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第四层：协同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解决“过程难复核、能力难沉淀”。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将数据、知识、图谱、智能体、审计线索和分析成果统一收口，形成可操作、可沉淀的人机协同工作台。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039960-7374-4D48-BF0D-72EDA774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4389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10 / 38</a:t>
            </a:r>
          </a:p>
        </p:txBody>
      </p:sp>
    </p:spTree>
    <p:extLst>
      <p:ext uri="{BB962C8B-B14F-4D97-AF65-F5344CB8AC3E}">
        <p14:creationId xmlns:p14="http://schemas.microsoft.com/office/powerpoint/2010/main" val="126677266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A5DA93-438C-48FE-AF78-A86A2851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78B5BA-37CD-4F1B-99F8-508A4704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9BF01A-A05A-45DA-81E3-CB658B189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E7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5E75"/>
                </a:solidFill>
                <a:latin typeface="Aptos"/>
                <a:ea typeface="Aptos"/>
                <a:cs typeface="Aptos"/>
              </a:rPr>
              <a:t>第11页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F30A62-AD5F-4917-AD3D-696D5644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9075"/>
            <a:ext cx="981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平台定位与能力底座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A3BD21-DC38-4D68-97C2-07F5396B8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19150"/>
            <a:ext cx="1104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C91F56-0CF4-4EF2-A9ED-4105F0BF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52197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7145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智能体平台：统一纳管知识、数据、工具和模型的 AI 能力底座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MindJunc 智能体平台是一款以大模型知识库为核心的智能体应用平台，支持多源知识库管理、RAG 增强检索、MCP 工具集成、数据库连接、应用组装和精细化权限管控。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知识与资源纳管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支持创建多类型知识库，上传 Docx、PDF、TXT、Excel、CSV 等资料，配置切片、向量化、召回测试和引用溯源。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模型与算法资源管理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支持大语言模型、Embedding 模型、Rerank 模型等多模型配置，支持不同模型组合调用。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24047C-0FBF-451A-AC26-F1EA60B5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0287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6F5703-255D-46D8-BA7A-1AC45F95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028700"/>
            <a:ext cx="52197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7145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数据与工具连接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支持数据库连接、MCP 服务、API 工具和第三方能力接入。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应用组装能力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基于知识库、数据库、MCP 工具和模型能力组装知识问答、智能问数、文档处理等应用。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权限与安全控制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支持部门、用户、知识库、应用和数据资源级权限控制。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838A70-5950-426A-A1ED-7E0F48FA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4389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11 / 38</a:t>
            </a:r>
          </a:p>
        </p:txBody>
      </p:sp>
    </p:spTree>
    <p:extLst>
      <p:ext uri="{BB962C8B-B14F-4D97-AF65-F5344CB8AC3E}">
        <p14:creationId xmlns:p14="http://schemas.microsoft.com/office/powerpoint/2010/main" val="106952665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466D70-355E-498A-900E-84309A68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7DF829-5A99-4D4C-8AD9-DB1A3896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5839AE-11C2-4BB7-B5DD-3963EAF6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E7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5E75"/>
                </a:solidFill>
                <a:latin typeface="Aptos"/>
                <a:ea typeface="Aptos"/>
                <a:cs typeface="Aptos"/>
              </a:rPr>
              <a:t>第12页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F4C3DB-1BF1-499B-8A2E-6B8444DB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9075"/>
            <a:ext cx="981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基础智能应用能力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9A772F-6CDA-4355-B114-0EA714FD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19150"/>
            <a:ext cx="1104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CA9BC6-91CD-47C1-8434-C44511E9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52197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7145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基础智能应用能力：让审计人员直接使用 AI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核心能力：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知识库问答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将制度文件、审计案例、业务材料、项目资料构建为知识库问答应用，支撑审计知识问答、资料检索、依据查找和内容总结。回答可关联原文片段，降低无依据生成风险。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智能问数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支持自然语言提问、库表识别、SQL 自动生成、查询执行、结果总结和可视化展示，把结构化数据查询从“写 SQL”转化为“提问题”。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同时保留 SQL 语句和查询结果，便于审计人员复核数据口径。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7D6C0F-2918-46C5-93AD-3438BCDA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0287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E54355-33F5-425A-9E66-7D161669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028700"/>
            <a:ext cx="52197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714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内容生成与文档处理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支持将数据库、知识库和模型能力组合为内容生成、资料问答、文档比对和要素抽取类应用。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工具调用与资源连接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支持数据库连接、MCP 工具接入、API 调用和权限控制。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结果依据与过程留痕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关键输出可以关联知识来源、查询语句、数据结果和任务过程。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智能问数应用已具备产品形态，支持数据库配置、知识构建、问答验证、SQL 执行和结果展示。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4C2DF4-B5F2-4CA8-8A7D-F1DA8D9D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4389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12 / 38</a:t>
            </a:r>
          </a:p>
        </p:txBody>
      </p:sp>
    </p:spTree>
    <p:extLst>
      <p:ext uri="{BB962C8B-B14F-4D97-AF65-F5344CB8AC3E}">
        <p14:creationId xmlns:p14="http://schemas.microsoft.com/office/powerpoint/2010/main" val="55424401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67C375-1F79-4AEF-9173-E9BC38D8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0AB06B-04C2-455B-8CC7-D2FC0D0E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A2187B-3F56-4967-8C93-17C0CA32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E7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5E75"/>
                </a:solidFill>
                <a:latin typeface="Aptos"/>
                <a:ea typeface="Aptos"/>
                <a:cs typeface="Aptos"/>
              </a:rPr>
              <a:t>第13页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21CA7E-C5B6-4CDA-AED3-B1231940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9075"/>
            <a:ext cx="981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票据溯源与供应链追查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2C0F7D-3009-47B7-B8EF-E6AC82AB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19150"/>
            <a:ext cx="1104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E2E8A2-5BD6-4A90-A7C1-3E0337A0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52197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7145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典型场景：票据溯源与供应链追查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针对某个大额发票，追查上级经销商进货发票，直至生产商或进口商，分析是否存在加价过大、链路过长或关联交易。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传统问题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发票链路涉及多个主体、多个层级和多张票据。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人工追溯需要反复查询、比对、整理和画链路。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容易遗漏关键节点，难以快速识别异常加价和异常流转路径。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单次分析结果难以沉淀为可复用任务能力。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AI 做法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8FA231-300C-4139-B35A-DC92EEC3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0287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F54B2F-ED47-4E8C-B94C-BD603FE66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028700"/>
            <a:ext cx="52197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7145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识别发票、货物、供应商、经销商、生产商、金额、时间等关键对象。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通过数据库查询、文本抽取和关系匹配，自动组织销售链路。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对链路层级、价格变化、主体关系和异常节点进行分析。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输出链路结构、价格变化表、疑点说明和可复核依据。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应用成效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系统可梳理完整销售链路，并分析销售加价情况，辅助开展合规评估和异常识别。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9FAD82-7F5D-4675-9E92-C3699B8A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4389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13 / 38</a:t>
            </a:r>
          </a:p>
        </p:txBody>
      </p:sp>
    </p:spTree>
    <p:extLst>
      <p:ext uri="{BB962C8B-B14F-4D97-AF65-F5344CB8AC3E}">
        <p14:creationId xmlns:p14="http://schemas.microsoft.com/office/powerpoint/2010/main" val="154404211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C696C9-4ECC-4986-AFA4-B19EB9CD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900E40-AF81-42A9-BEC4-32030B0A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86665E-DD44-42DA-8B88-B7181D93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E7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5E75"/>
                </a:solidFill>
                <a:latin typeface="Aptos"/>
                <a:ea typeface="Aptos"/>
                <a:cs typeface="Aptos"/>
              </a:rPr>
              <a:t>第14页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96D1F7-651E-40D9-867F-9D8110B4C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9075"/>
            <a:ext cx="981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向后赋能的数据治理与图谱智能体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F7DF85-1258-4366-8E75-AD7726C9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19150"/>
            <a:ext cx="1104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17E8C4-67EF-40FC-ACBA-F273C7F6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52197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7145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向后赋能的数据治理与图谱智能体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除直接面向审计人员的基础应用外，智能体平台还沉淀了一组面向后续平台的专有智能体能力。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面向数据治理平台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数据漫游实体搜集智能体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自动探查库表和字段，识别身份证号、手机号、银行卡号、统一社会信用代码等重点实体，形成实体分布视图和后续取证线索。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数据贯通智能体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围绕人员、企业、单位、项目、资金等对象，辅助发现跨表、跨库、跨系统之间的潜在关联关系，生成可复核的数据关联依据。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8321EB-E49B-471F-9A21-A9378A286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0287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B449C4-4432-4937-858B-C11BCD11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028700"/>
            <a:ext cx="52197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7145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历史变更结构化智能体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面向工商变更、股权变更、高管变更、法定代表人变更等非结构化文本，自动抽取时间、主体、变更事项、变更前后内容和关键数值。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面向数据图谱平台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隐含关系挖掘智能体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通过关系定义、图谱查询模板和大模型推理，辅助发现未显式存在的潜在关系。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关系推理与线索发现智能体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围绕关联交易、利益输送、资金回路、供应链异常等问题执行多跳查询、路径分析和线索生成。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83CB4-652F-4FB7-AC82-A38F95DA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4389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14 / 38</a:t>
            </a:r>
          </a:p>
        </p:txBody>
      </p:sp>
    </p:spTree>
    <p:extLst>
      <p:ext uri="{BB962C8B-B14F-4D97-AF65-F5344CB8AC3E}">
        <p14:creationId xmlns:p14="http://schemas.microsoft.com/office/powerpoint/2010/main" val="172272799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0880DE-D41B-4B8A-AE45-5ABE9D5E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96A891-9514-4F73-A080-FA8EE4EC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7E9114-8CBC-4E31-8FBA-971B0E6D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E7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5E75"/>
                </a:solidFill>
                <a:latin typeface="Aptos"/>
                <a:ea typeface="Aptos"/>
                <a:cs typeface="Aptos"/>
              </a:rPr>
              <a:t>第15页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865ECD-5233-4AFA-A089-F6114FB8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9075"/>
            <a:ext cx="981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本章收束：智能体平台向后赋能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825A24-D41D-4DCA-BD00-6C9F31CF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19150"/>
            <a:ext cx="1104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E5CF77-97F1-405E-BAA0-A06F1880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03632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9050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智能体平台通过三类能力，构成后续产品体系的 AI 原生底座。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第一类：资源纳管能力</a:t>
            </a:r>
          </a:p>
          <a:p xmlns:a="http://schemas.openxmlformats.org/drawingml/2006/main">
            <a:pPr algn="l">
              <a:defRPr sz="13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统一管理模型、知识库、数据库、文档资料、MCP 工具、API 工具和权限体系。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第二类：基础智能应用能力</a:t>
            </a:r>
          </a:p>
          <a:p xmlns:a="http://schemas.openxmlformats.org/drawingml/2006/main">
            <a:pPr algn="l">
              <a:defRPr sz="13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直接面向审计人员，支撑知识问答、智能问数、文档处理和内容生成。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第三类：向后赋能的专有智能体</a:t>
            </a:r>
          </a:p>
          <a:p xmlns:a="http://schemas.openxmlformats.org/drawingml/2006/main">
            <a:pPr algn="l">
              <a:defRPr sz="13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支撑数据探查、数据漫游、历史变更结构化、隐含关系挖掘和线索发现，并由后续平台进一步承接。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知识 / 数据 / 工具 / 模型</a:t>
            </a:r>
          </a:p>
          <a:p xmlns:a="http://schemas.openxmlformats.org/drawingml/2006/main">
            <a:pPr algn="l">
              <a:defRPr sz="13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→ 智能体编排</a:t>
            </a:r>
          </a:p>
          <a:p xmlns:a="http://schemas.openxmlformats.org/drawingml/2006/main">
            <a:pPr algn="l">
              <a:defRPr sz="13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→ 数据治理 / 图谱智能体</a:t>
            </a:r>
          </a:p>
          <a:p xmlns:a="http://schemas.openxmlformats.org/drawingml/2006/main">
            <a:pPr algn="l">
              <a:defRPr sz="13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→ 综合分析任务执行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5A5316-BAA2-4BA8-A402-405A73E2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4389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15 / 38</a:t>
            </a:r>
          </a:p>
        </p:txBody>
      </p:sp>
    </p:spTree>
    <p:extLst>
      <p:ext uri="{BB962C8B-B14F-4D97-AF65-F5344CB8AC3E}">
        <p14:creationId xmlns:p14="http://schemas.microsoft.com/office/powerpoint/2010/main" val="203774298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074204-7741-4481-9989-38ED4FDF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F3DD3A-EF39-48B0-B952-E308045E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5FC77D-0BB4-4743-9FED-6CFA770B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E7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5E75"/>
                </a:solidFill>
                <a:latin typeface="Aptos"/>
                <a:ea typeface="Aptos"/>
                <a:cs typeface="Aptos"/>
              </a:rPr>
              <a:t>第16页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90FB15-1355-463F-9E82-1B806960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9075"/>
            <a:ext cx="981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产品架构与功能模块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6ED14E-797E-4255-A314-72DD9B22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19150"/>
            <a:ext cx="1104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A5F15B-993A-4C31-B538-26803CBF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52197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7145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数据治理平台：面向审计数据治理作业的产品架构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平台围绕审计数据治理作业，形成四类核心功能模块：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数据资源管理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承接结构化数据的资源目录、数据探查、数据地图、标准管理、质量评估和清洗比对能力，为后续治理作业提供基础数据视图。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重点不是重建数据中台，而是让已有数据资源能被 AI、图谱和审计任务使用。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治理任务调度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通过任务创建、队列执行、定时调度、过程监控、异常记录和结果管理，将数据漫游、文本结构化、实体识别、关系挖掘等能力组织成可执行、可复用、可追溯的治理作业。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71FEAF-851D-4AC3-B86D-942BD11B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0287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1CA72A-DEB1-4193-9775-45FDCB5B1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028700"/>
            <a:ext cx="52197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7145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智能治理能力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围绕数据漫游、文本结构化、重点实体识别、潜在关系发现、历史变更治理等复杂场景，调用智能体完成自动化处理。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治理结果沉淀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将治理结果回流结构化数据库，或输出至图数据库和综合分析平台，支撑后续图谱构建、线索挖掘和审计任务执行。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530F93-4C71-4171-9AE5-BBF2F61F0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4389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16 / 38</a:t>
            </a:r>
          </a:p>
        </p:txBody>
      </p:sp>
    </p:spTree>
    <p:extLst>
      <p:ext uri="{BB962C8B-B14F-4D97-AF65-F5344CB8AC3E}">
        <p14:creationId xmlns:p14="http://schemas.microsoft.com/office/powerpoint/2010/main" val="121466366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A07F5D-432E-4B67-BBAB-E88091A6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F8D9FA-4739-4AA0-B80E-EF373066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EBAE2B-325C-430B-A899-50FA5C81D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E7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5E75"/>
                </a:solidFill>
                <a:latin typeface="Aptos"/>
                <a:ea typeface="Aptos"/>
                <a:cs typeface="Aptos"/>
              </a:rPr>
              <a:t>第17页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5C54EF-16D8-41AB-8AC2-BE5D30D9E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9075"/>
            <a:ext cx="981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重点解决的真实数据问题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718E43-6DB2-4E30-B675-F62B1FA1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19150"/>
            <a:ext cx="1104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629D7D-A723-4D75-A0EE-5A6D2444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52197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7145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平台真正要解决的，不只是传统数据管理问题，而是审计数据在真实场景中的可用性问题。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结构化数据的问题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数据量大，但语义弱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面对百亿级数据、万张级库表，字段命名不统一、表说明不完整、业务语义不清，难以快速判断哪些数据与审计目标相关。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数据分散，但关系隐蔽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人、企、单位、项目、资金、票据分散在不同系统和表中，缺少统一实体视图和跨表关系识别能力。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人工找数成本高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传统方式依赖熟悉库表结构的技术或业务人员，审计人员需要反复沟通、试查和改 SQL。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非结构化数据的问题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7AED63-AE2B-49D7-9A18-49BBDB99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0287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913305-0D62-433E-B5F3-A6A9F7F1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028700"/>
            <a:ext cx="52197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714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资料重要，但不可计算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工商变更、招股书、合同、制度文件、会议纪要、扫描件等资料长期停留在“可阅读、不可计算”的状态。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格式复杂，人工抽取成本高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长文档、多表格、跨页内容、扫描图像、历史变更文本仅靠规则解析难以稳定处理。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难以进入后续链路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如果不能结构化，就难以进入批量分析、图谱构建、穿透分析和全量审查流程。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治理平台的核心目标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让结构化数据更易被理解和调用。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让非结构化资料真正转化为可查询、可分析、可复用的数据资产。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让治理结果持续输出给图谱平台和综合分析平台。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04B3F6-65E7-4E04-B56E-74A74A8C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4389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17 / 38</a:t>
            </a:r>
          </a:p>
        </p:txBody>
      </p:sp>
    </p:spTree>
    <p:extLst>
      <p:ext uri="{BB962C8B-B14F-4D97-AF65-F5344CB8AC3E}">
        <p14:creationId xmlns:p14="http://schemas.microsoft.com/office/powerpoint/2010/main" val="25262719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ED7978-8166-4F8D-BECA-A24679AF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E71A00-6DC0-4B86-91FC-DA0B1F6A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046BAC-73C8-412F-ADE3-D04750EBF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E7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5E75"/>
                </a:solidFill>
                <a:latin typeface="Aptos"/>
                <a:ea typeface="Aptos"/>
                <a:cs typeface="Aptos"/>
              </a:rPr>
              <a:t>第18页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B618A0-4531-4332-8A48-E1D48195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9075"/>
            <a:ext cx="981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任务调度与作业机制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BD5566-B6AF-4D63-A282-BDE0CE13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19150"/>
            <a:ext cx="1104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E795AE-A576-42BF-BFAB-ADC9CD43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52197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7145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数据治理任务调度：用任务化方式驱动智能体批量执行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数据治理平台不是传统数据中台，而是面向审计数据治理作业的任务调度入口，通过任务管理机制组织数据探查、数据漫游、结构化抽取和关系挖掘。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任务创建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用户选择数据源、目标库表、探查范围、实体类型、执行策略和输出目标，形成标准化治理任务。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队列执行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平台将任务按队列批量执行，支持大规模库表、文档和实体数据分批处理。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定时调度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支持按周期或指定时间触发治理任务，适配定期数据更新、增量数据探查、常态化数据巡检等场景。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D22080-3C04-4F4C-BB23-33CADA41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0287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452678-1B4F-4885-804B-9067DC4D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028700"/>
            <a:ext cx="52197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7145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过程监控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展示任务状态、执行进度、处理批次、异常记录和质量校验情况。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结果校验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对抽取结果、实体识别结果和结构化输出进行抽样复核、质量检查和异常标注。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结果沉淀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任务结果可进入结构化数据库、图数据库或后续审计分析流程。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6EA98D-B1EE-4D0D-81F6-2B6A2D6D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4389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18 / 38</a:t>
            </a:r>
          </a:p>
        </p:txBody>
      </p:sp>
    </p:spTree>
    <p:extLst>
      <p:ext uri="{BB962C8B-B14F-4D97-AF65-F5344CB8AC3E}">
        <p14:creationId xmlns:p14="http://schemas.microsoft.com/office/powerpoint/2010/main" val="70015279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26C22B-1EC8-48AA-9217-C912C8673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AF847C-A6B0-42E4-B61A-E9FF03CF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E36056-BA9B-454C-8D99-7126481C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E7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5E75"/>
                </a:solidFill>
                <a:latin typeface="Aptos"/>
                <a:ea typeface="Aptos"/>
                <a:cs typeface="Aptos"/>
              </a:rPr>
              <a:t>第19页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E90972-FED6-44D5-923B-E1D04BF2C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9075"/>
            <a:ext cx="981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核心能力：数据漫游与文本结构化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390159-1855-43E6-8813-0C9F704A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19150"/>
            <a:ext cx="1104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2DC52B-3BC4-469E-92DA-6AC1A507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52197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7145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数据漫游与文本结构化：两类核心治理能力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数据漫游：从数据库中自动发现有价值的数据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全量库表探查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基于大模型和字段识别规则，对库表进行全量探查，形成数据库表资产视图。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字段语义理解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自动推断字段含义、业务主题和潜在用途，降低人工读表成本。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重点实体识别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自动识别身份证号、银行卡号、手机号、统一社会信用代码、企业名称等重点实体字段。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多表关系发现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辅助发现人员、企业、单位、项目等对象在多张表之间的潜在关联关系。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2DE041-7250-4101-89D1-FB89BCA2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0287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6E98C3-6C40-4391-B2A7-11698EFA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028700"/>
            <a:ext cx="52197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7145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取证 SQL 生成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围绕发现的实体和关系生成可执行 SQL，为审计取证和后续复核提供依据。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文本结构化：把资料转化为可计算数据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复杂资料解析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面向股权变更、招股书、合同、制度文件、扫描件等非结构化资料自动提取关键要素。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结构化结果输出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将原本只能人工阅读的资料转化为可查询、可分析、可复用的数据资产。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下游链路承接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为后续图谱构建、历史追溯、批量核查和综合分析提供输入。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5B271A-178D-49A3-9856-C6E23344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4389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19 / 38</a:t>
            </a:r>
          </a:p>
        </p:txBody>
      </p:sp>
    </p:spTree>
    <p:extLst>
      <p:ext uri="{BB962C8B-B14F-4D97-AF65-F5344CB8AC3E}">
        <p14:creationId xmlns:p14="http://schemas.microsoft.com/office/powerpoint/2010/main" val="1737011073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07DA95-4B12-43C7-A192-BDCBE2477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DEB932-AC07-445F-B6DC-E595F6B0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62C8C1-F5F4-4EDC-88BD-E1FD536A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E7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5E75"/>
                </a:solidFill>
                <a:latin typeface="Aptos"/>
                <a:ea typeface="Aptos"/>
                <a:cs typeface="Aptos"/>
              </a:rPr>
              <a:t>第20页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8B740E-5268-40AB-BCD4-FF77FE9C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9075"/>
            <a:ext cx="981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工商变更治理与企业历史股权治理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993BCE-37BF-49FE-8BA8-DD1A3390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19150"/>
            <a:ext cx="1104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7DEAA1-50F3-4DA8-80C4-EF6E7A4A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52197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7145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典型场景：工商变更治理与企业历史股权治理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某省会 184 万家企业累计数百万条工商变更记录，历史股权信息长期以非结构化文本形式存在，过去主要依赖人工阅读、摘录和局部核查。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传统问题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资料能看到，但无法计算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工商变更文本中包含大量股东、出资额、持股比例、法定代表人、高管等信息，但文本格式不统一，难以直接进入数据库分析。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历史链条难还原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股权变化涉及多个时间点、多个股东和多轮变更，人工整理历史时间线成本高、遗漏风险大。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无法支撑全量审查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传统方式很难对海量企业历史变更进行批量计算、股权穿透、关联识别和全量审查。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AI 做法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042C74-A472-4377-B6CB-0D1EB95C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0287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5D51B7-724E-414F-A5BB-A919DD53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028700"/>
            <a:ext cx="52197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714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通过数据治理平台自动解析历史工商变更和股权变更文本，提取：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变更时间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股东信息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投资额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持股比例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法定代表人变化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高管变化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变更前后内容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形成结构化股东清单、企业历史股权时间线和后续可入图的数据资产。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应用成效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30 小时解析超百万家企业、1300 万条历史工商变更存量数据。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过去只能阅看的数据，被转化为可计算、可分析、可入图的数据资产。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F260E5-9E05-45EA-BE68-F81E1CC7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4389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20 / 38</a:t>
            </a:r>
          </a:p>
        </p:txBody>
      </p:sp>
    </p:spTree>
    <p:extLst>
      <p:ext uri="{BB962C8B-B14F-4D97-AF65-F5344CB8AC3E}">
        <p14:creationId xmlns:p14="http://schemas.microsoft.com/office/powerpoint/2010/main" val="714155464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99F152-3DE8-4975-98C3-4D89309C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92B931-7EBE-4D3E-A7A6-9FE2C9DC0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63D1E8-9DB4-41DB-AAE4-A347795B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E7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5E75"/>
                </a:solidFill>
                <a:latin typeface="Aptos"/>
                <a:ea typeface="Aptos"/>
                <a:cs typeface="Aptos"/>
              </a:rPr>
              <a:t>第21页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F78DB8-F2E4-465E-A96A-D831C51E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9075"/>
            <a:ext cx="981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招股书提取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3C7312-FA60-4586-B112-67F4BB1F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19150"/>
            <a:ext cx="1104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B52C50-C3B2-4AA3-A927-EE1BA75F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52197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7145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典型场景：招股书智能提取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面对数百页的招股书 PDF / Word，传统方式依赖人工翻阅、定位章节、摘录表格和整理股权结构，耗时长、易遗漏、难复用。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技术难点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文档篇幅长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招股书往往包含数百页内容，章节结构复杂，信息分散在正文、表格、附注和跨页内容中。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表格结构复杂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股东信息、股权结构、历史沿革、董监高履历等内容常以复杂表格呈现，存在跨页、合并单元格和格式不统一等问题。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专业语义要求高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59DA1D-7279-43A9-A9E5-0A601101E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0287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051B9B-E907-4383-AE52-BC7FBC7DF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028700"/>
            <a:ext cx="52197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714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需要区分发行人、控股股东、实际控制人、历史股东、关联方、董监高等不同主体和关系。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AI 做法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自动识别释义、发行人基本情况、股权结构、历史沿革等关键章节。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自动解析正文和表格，提取股东名称、持股数量、持股比例、股东类型、履历信息等核心要素。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自动生成结构化股权结构表、股东履历表和后续图谱构建输入。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核心价值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为后续股东穿透、关联关系识别和投资审计提供结构化数据基础。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26A8E2-1AB0-40AC-9002-63B12055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4389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21 / 38</a:t>
            </a:r>
          </a:p>
        </p:txBody>
      </p:sp>
    </p:spTree>
    <p:extLst>
      <p:ext uri="{BB962C8B-B14F-4D97-AF65-F5344CB8AC3E}">
        <p14:creationId xmlns:p14="http://schemas.microsoft.com/office/powerpoint/2010/main" val="1856119366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1F6188-5885-4906-BB30-C6193EC1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449671-8960-4A8C-98CD-9D229E1A2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8AF53C-6A6D-4D2B-9F85-6C2EF486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E7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5E75"/>
                </a:solidFill>
                <a:latin typeface="Aptos"/>
                <a:ea typeface="Aptos"/>
                <a:cs typeface="Aptos"/>
              </a:rPr>
              <a:t>第22页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793D9E-7577-45D6-85CD-B30CA374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9075"/>
            <a:ext cx="981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实体漫游搜集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58E77C-C03F-421B-90CA-C085F626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19150"/>
            <a:ext cx="1104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17C9A2-8CF3-4347-B577-0DDF8A1D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52197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7145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典型场景：实体漫游搜集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关键审计信息，如电话、银行卡号、身份证号、统一社会信用代码、企业名称、项目编号等，往往散落在多张数据表、多个业务系统中。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传统问题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实体分布不清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同一类实体可能出现在不同系统、不同库、不同表和不同字段中，人工很难快速掌握全貌。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字段含义不明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大量字段缺少清晰注释，仅凭字段名难以判断其业务含义和审计价值。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多表关系难发现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缺乏统一的实体关联视图，人工难以发现多表之间的深层逻辑联系。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02649F-6459-49F4-B98A-3CEF9DB5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0287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59F5CB-0415-4602-8CA2-704D1F0F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028700"/>
            <a:ext cx="52197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7145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AI 做法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自动探查并汇总实体在各系统、各表中的分布情况和出现频次。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自动推断字段含义并生成单表业务摘要。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识别身份证号、手机号、银行卡号、统一社会信用代码等重点实体。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挖掘多表之间的潜在关联关系。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生成对应 SQL 作为审计取证和后续复核依据。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核心价值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把分散在数据库中的实体信息转化为可追踪、可关联的数据基础。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7474FB-2A28-495C-97AD-CA0D6266B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4389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22 / 38</a:t>
            </a:r>
          </a:p>
        </p:txBody>
      </p:sp>
    </p:spTree>
    <p:extLst>
      <p:ext uri="{BB962C8B-B14F-4D97-AF65-F5344CB8AC3E}">
        <p14:creationId xmlns:p14="http://schemas.microsoft.com/office/powerpoint/2010/main" val="688093914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51660D-8662-4DA5-9550-46825D4D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AC76A2-25B0-463F-A0F1-25382E80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9CEF33-8402-4C14-8F9C-B5A7E969C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E7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5E75"/>
                </a:solidFill>
                <a:latin typeface="Aptos"/>
                <a:ea typeface="Aptos"/>
                <a:cs typeface="Aptos"/>
              </a:rPr>
              <a:t>第23页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CC4B26-D1AA-45B9-A264-A3B349F8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9075"/>
            <a:ext cx="981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数据图谱平台：关系建模与线索挖掘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6E7038-03A0-4B87-8947-63BA8705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19150"/>
            <a:ext cx="1104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D54FAB-2110-4A61-8834-BF6DC968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52197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7145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数据图谱平台：构建审计实体全息穿透网络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审计线索往往不在单张表、单份资料或单个系统中，而隐藏在人、企业、单位、项目、资金、票据等对象之间的多跳关系中。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从“孤立点查”走向“全息网查”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本体建模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通过本体建模，将人员、企业、行政事业单位、项目、资金、合同、发票等对象定义为可计算实体。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多源映射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通过数据库、治理结果、文档抽取结果和外部数据源映射，将实体和关系持续写入图谱。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关系穿透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围绕股权关系、任职关系、业务往来、资金往来、项目关联、票据链路等关系进行多跳穿透。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0FE78E-4984-4326-AFBF-CEE2DDF3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0287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5A044E-A251-428F-962C-ECFB643E9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028700"/>
            <a:ext cx="52197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7145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图上分析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通过路径分析、最短路径、环检测、邻居高亮、社区布局等方式识别复杂关联结构。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AI 推理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基于大模型问图、关系语义定义和推理模板，发现图谱中未显式存在的隐含关系。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场景落地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审计人企机关全息图谱构建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隐含关系深度计算与发现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工程项目供应链关系贯通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资金回路、关联交易和利益共同体识别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038504-52B4-46E3-8C80-FBBD5D4C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4389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23 / 38</a:t>
            </a:r>
          </a:p>
        </p:txBody>
      </p:sp>
    </p:spTree>
    <p:extLst>
      <p:ext uri="{BB962C8B-B14F-4D97-AF65-F5344CB8AC3E}">
        <p14:creationId xmlns:p14="http://schemas.microsoft.com/office/powerpoint/2010/main" val="1518384185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384C8B-4BC0-41B4-831A-CCE0AA08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AA7886-9FCF-4195-A2EA-3DDAC17E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6CA244-7976-472A-908F-A707A0B5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E7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5E75"/>
                </a:solidFill>
                <a:latin typeface="Aptos"/>
                <a:ea typeface="Aptos"/>
                <a:cs typeface="Aptos"/>
              </a:rPr>
              <a:t>第24页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5B30DF-D498-404E-82BA-D1A97671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9075"/>
            <a:ext cx="981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图谱基础管理与构建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74BF0B-C1D9-4D04-9CB5-8E9AC479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19150"/>
            <a:ext cx="1104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D59A50-FBC9-45AD-8BFD-C3430A68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52197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7145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图谱基础管理与构建：从本体到入图的统一组织能力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图谱空间与权限管理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图谱全生命周期管理</a:t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支持图谱新建、JSON 导入、导出、编辑、数据清除、删除等全生命周期管理。清除数据时可保留本体结构，便于重建。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图谱级权限管控</a:t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支持按用户、部门维度配置访问与编辑权限，实现多团队并行分析下的数据安全隔离。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工作台驾驶舱</a:t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提供平台级数据资产视图，统计图谱总数、节点总量、关系总量和接入数据源数量，并展示本体类型分布和数据源构成。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本体建模能力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实体类型定义</a:t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支持表单模式和 SQL 模式定义实体类型。表单模式面向业务人员，SQL 模式面向技术人员。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关系类型定义</a:t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支持定义关系名称、属性字段、方向性约束和数据溯源链接。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本体拓扑可视化校验</a:t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以拓扑图渲染当前图谱业务模型，支持交互式校验属性配置。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04ED58-A833-42A5-8EA0-5C570F47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0287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113776-CAA8-40CA-9F83-2A845AFA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028700"/>
            <a:ext cx="52197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7145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多源数据接入与映射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数据溯源链接</a:t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支持为实体类型和关系类型配置 URL 模板，图谱分析时可直接从节点或边跳转至原始数据源表。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多源数据接入</a:t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支持对接外部关系型数据库作为图谱数据源，将结构化数据纳入图谱构建流程。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实体映射引擎</a:t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提供可视化实体数据映射能力，将数据源表字段转换为图谱实体节点，并通过唯一标识字段去重。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关系映射引擎</a:t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提供可视化关系数据映射能力，支持将数据源表转换为图谱关系边。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入图任务与可审计性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数据导入任务调度</a:t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以任务化方式管理数据导入过程，支持配置调度策略与运行参数。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入图过程可追溯</a:t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每次导入均可追溯至具体映射规则与任务实例，支持数据清除与重跑。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316D3B-8199-43CA-BC41-44A328B6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4389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24 / 38</a:t>
            </a:r>
          </a:p>
        </p:txBody>
      </p:sp>
    </p:spTree>
    <p:extLst>
      <p:ext uri="{BB962C8B-B14F-4D97-AF65-F5344CB8AC3E}">
        <p14:creationId xmlns:p14="http://schemas.microsoft.com/office/powerpoint/2010/main" val="1365892165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2A7B5C-AA5D-48B7-A129-B5EEF801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4327E3-6E93-4A03-BDAE-ACB4359D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CC395B-9034-46B7-8FBB-3417CFD1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E7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5E75"/>
                </a:solidFill>
                <a:latin typeface="Aptos"/>
                <a:ea typeface="Aptos"/>
                <a:cs typeface="Aptos"/>
              </a:rPr>
              <a:t>第25页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24955C-4DE4-4A41-BADB-E9B5CB54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9075"/>
            <a:ext cx="981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图谱分析、推理与批量任务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056E7D-326E-486D-A593-EE7B6C4C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19150"/>
            <a:ext cx="1104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340662-C5C5-4B32-9DC8-A99FB1D6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52197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7145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图谱分析、推理与批量任务：让图谱进入真实审计分析过程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多模式图谱探查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预置探查方法</a:t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内置实体信息查询、路径分析、图查询语句三种探查方法。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渐进式探查</a:t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支持通过步数与条件过滤逐步展开关联网络。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节点 / 边详情与溯源</a:t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支持查看节点和边的属性信息及数据源链接，点击可直接穿透至原始数据表。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图谱动态拓展</a:t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支持从已有节点出发进行关联拓展，提供直接拓展与条件拓展两种模式。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图上分析与可视化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图上分析算法</a:t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内置直接邻居高亮、最短路径计算、环检测等图分析算法。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多布局可视化</a:t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支持中心布局与社区布局，适配不同分析场景。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8CF0F6-F6F5-44E2-A02E-1FC00C30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0287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0A692C-6CDF-43CD-AA4E-75D73CAD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028700"/>
            <a:ext cx="52197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714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查询模板与外部能力集成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图数据查询模板</a:t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支持通过命令行模板自定义图谱查询逻辑，定义变量参数并绑定实体 / 关系属性。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模板管理</a:t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支持数据模板创建、编辑、删除和在线测试。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AI 关系推理引擎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从“已知查询”到“未知推理”</a:t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传统图谱查询解决“已知关系怎么查”，AI 关系推理解决“未知关系怎么发现”。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自然语言定义关系语义</a:t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支持通过自然语言描述待推理关系，配置推理 Prompt、关联数据模板和大模型。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批量图谱任务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批量图谱查询</a:t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支持基于 Excel 数据驱动数据模板批量执行图谱查询，通过列映射将表格数据自动注入查询参数。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批量关系推理</a:t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支持基于 Excel 数据驱动推理模板批量执行关系推理，任务完成后输出结构化 JSON 推理结果。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3FE0F9-44AF-4223-BC76-FFD5EF2C4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4389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25 / 38</a:t>
            </a:r>
          </a:p>
        </p:txBody>
      </p:sp>
    </p:spTree>
    <p:extLst>
      <p:ext uri="{BB962C8B-B14F-4D97-AF65-F5344CB8AC3E}">
        <p14:creationId xmlns:p14="http://schemas.microsoft.com/office/powerpoint/2010/main" val="1759860165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E9BFE1-9736-46C2-BDE9-735A8598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31B348-7087-4413-88A3-0627A100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3685EE-8C9C-4BEC-982B-8F0FEACC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E7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5E75"/>
                </a:solidFill>
                <a:latin typeface="Aptos"/>
                <a:ea typeface="Aptos"/>
                <a:cs typeface="Aptos"/>
              </a:rPr>
              <a:t>第26页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D0E667-8EAB-4634-B08B-DB72C69F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9075"/>
            <a:ext cx="981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案例：关联穿透审计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B86A06-F300-4AD5-8C24-FE60F9CA9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19150"/>
            <a:ext cx="1104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2026CA-0D36-4EA1-AE9F-1B501475A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52197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7145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案例：关联穿透审计｜人企要素全息图谱构建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数据汇聚梳理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面向关联穿透审计，平台可汇聚和梳理多源数据：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人口库</a:t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工商登记</a:t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社保</a:t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发票</a:t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银行</a:t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国库支付</a:t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医院</a:t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行驶证</a:t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编办数据</a:t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多维数据漫游结果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知识图谱构建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实体类型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人员</a:t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企业</a:t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行政事业单位</a:t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项目</a:t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账户</a:t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票据</a:t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车辆</a:t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医疗机构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FD5908-252F-4A65-BE9F-A39E227E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0287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58BB40-C9B8-4665-94B2-810817A3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028700"/>
            <a:ext cx="52197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7145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关系类型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股权关系</a:t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任职关系</a:t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亲属 / 关联关系</a:t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业务往来</a:t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资金往来</a:t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发票往来</a:t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项目关联</a:t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单位隶属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技术路径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多源数据接入</a:t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→ 重点实体识别</a:t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→ 唯一标识归并</a:t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→ 关系映射入图</a:t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→ 路径穿透分析</a:t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→ AI 关系推理</a:t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→ 疑点线索输出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最终效果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让“谁和谁有关系、钱从哪儿来、往哪儿去、通过什么主体发生联系”在一张图上清晰可见，辅助锁定深层违规线索。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21BBA3-3C27-4961-B033-4CEFF500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4389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26 / 38</a:t>
            </a:r>
          </a:p>
        </p:txBody>
      </p:sp>
    </p:spTree>
    <p:extLst>
      <p:ext uri="{BB962C8B-B14F-4D97-AF65-F5344CB8AC3E}">
        <p14:creationId xmlns:p14="http://schemas.microsoft.com/office/powerpoint/2010/main" val="674143010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016B8A-934E-4372-AA58-68393A31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2FECCA-C5BD-4DAB-8D63-C10843B5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D38D56-7E39-4963-910C-AC420AC7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E7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5E75"/>
                </a:solidFill>
                <a:latin typeface="Aptos"/>
                <a:ea typeface="Aptos"/>
                <a:cs typeface="Aptos"/>
              </a:rPr>
              <a:t>第27页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9C0C7E-2355-4FF7-B24B-49220AC4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9075"/>
            <a:ext cx="981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贯通案例：工程项目供应链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279E6B-3509-4987-B490-B1440616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19150"/>
            <a:ext cx="1104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537DD5-59A8-402A-9D5E-7B3BCE4C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52197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7145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贯通案例：基于数据贯通，描绘工程项目有关供应链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审计场景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工程项目审计中，发票备注、合同信息、供应商信息和项目资料之间存在大量关联关系，可用于识别供应链异常、关联交易、履约风险和价格异常。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传统痛点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实际业务数据中经常存在：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项目名称缺字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简称与全称混用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同义词表达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供应商名称不一致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发票备注不规范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合同名称与项目名称无法直接匹配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同一货物或服务在不同系统中表述不同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这些问题导致同一个项目、同一个供应商或同一类货物在不同系统中“连不上”，人工整理成本高。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AI 做法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利用大模型的语义识别能力和数据图谱平台，对发票备注、项目名称、供应商名称、合同信息和货物信息进行统一识别与关联匹配。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F639BD-D193-4D44-8646-BC1D87FE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0287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BBE3FE-90D7-44C7-BABB-3DA1EE8F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028700"/>
            <a:ext cx="52197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7145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技术链路：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文本语义识别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→ 项目名称归一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→ 供应商主体匹配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→ 合同 / 发票 / 货物关系抽取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→ 图谱关系构建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→ 项目供应链展示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→ 异常路径识别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应用成效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输入项目名称，即可得到项目有关供应链，帮助审计人员查看上下游供应商、发票、货物和交易链路。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可辅助识别：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供应链层级过长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异常加价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关联供应商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同一实际控制人控制多个供应商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发票与合同、项目不匹配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货物或服务流向异常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32DC27-5E19-4352-AF2F-3D04D6969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4389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27 / 38</a:t>
            </a:r>
          </a:p>
        </p:txBody>
      </p:sp>
    </p:spTree>
    <p:extLst>
      <p:ext uri="{BB962C8B-B14F-4D97-AF65-F5344CB8AC3E}">
        <p14:creationId xmlns:p14="http://schemas.microsoft.com/office/powerpoint/2010/main" val="1903323490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998BED-F566-4652-A862-5712136C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9CA206-25F7-45C3-A1FE-80EA20454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DB3559-7698-4E95-BBA9-91892949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E7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5E75"/>
                </a:solidFill>
                <a:latin typeface="Aptos"/>
                <a:ea typeface="Aptos"/>
                <a:cs typeface="Aptos"/>
              </a:rPr>
              <a:t>第28页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EF6AEC-FDDB-4515-8C3C-37E3E149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9075"/>
            <a:ext cx="981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综合分析平台：任务执行与应用承接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17CA16-332F-49F6-B117-FFF8FBDD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19150"/>
            <a:ext cx="1104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183E82-0524-4D75-B46E-74810C03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52197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7145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综合分析平台：人机协同的统一工作入口与审计作业执行层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综合分析平台将数据、知识、图谱、智能体和审计成果统一收口，形成审计人员可操作、可沉淀的人机协同工作台。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赋予 AI 行动能力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为大模型配置读取、检索、抽取、比对、计算、生成等工具，使其能够围绕具体审计任务执行多步骤操作。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赋予 AI 专业能力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将专家核查逻辑、规则匹配方式和风险识别方法沉淀为标准化技能。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364214-6E42-4A66-B323-D9EC68A2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0287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C87C35-CC0D-445F-800F-F1753AE9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028700"/>
            <a:ext cx="52197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7145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统一的项目工作空间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每个专项任务拥有独立空间，项目资料、关联数据库、图谱、知识库、审计技能和任务结果按权限统一管理。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沉浸式审计助手交互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审计人员可在同一界面中查看资料、调用图谱、查询数据库、检索制度，并通过自然语言引导 AI 开展分析。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审计技能沉淀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审计人员完成一次高质量分析后，可以将核查路径、判断规则、分析步骤和引用依据沉淀为标准化审计技能。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4584AF-619E-4F09-9920-82FE65FF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4389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28 / 38</a:t>
            </a:r>
          </a:p>
        </p:txBody>
      </p:sp>
    </p:spTree>
    <p:extLst>
      <p:ext uri="{BB962C8B-B14F-4D97-AF65-F5344CB8AC3E}">
        <p14:creationId xmlns:p14="http://schemas.microsoft.com/office/powerpoint/2010/main" val="1013163722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87B361-0AFB-443A-835B-C7E2EDFF3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1610B2-B7E1-4CC2-BEE7-DCB3CE898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C9CBA1-BCFC-4B8C-8C3D-77EFA27CA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E7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5E75"/>
                </a:solidFill>
                <a:latin typeface="Aptos"/>
                <a:ea typeface="Aptos"/>
                <a:cs typeface="Aptos"/>
              </a:rPr>
              <a:t>第29页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275E20-5024-4DB3-B7D2-95A7D3AB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9075"/>
            <a:ext cx="981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OCR 引擎与文档智能处理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CC0B23-77FF-4098-A372-1CA50A515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19150"/>
            <a:ext cx="1104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DF5CDF-FF8D-4669-933F-46E25CAF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52197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7145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OCR 引擎与文档智能处理：让复杂资料先变成可处理输入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OCR 算法平台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智能化文档处理工具采用 OCR 技术结合大模型，提供文档解析、信息抽取、表格提取、印章识别等能力。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多格式资料承接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支持从以下常见格式中提取结构化信息：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PDF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Word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Excel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支持非标准文档格式转换，为后续分析统一输入格式。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关键处理能力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63AE24-C62E-44FE-85E0-613D1EFF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0287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214B0D-7D1A-4F6E-8A90-50B013D6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028700"/>
            <a:ext cx="52197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7145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版面解析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识别标题、正文、表格、页眉页脚、章节结构和页面布局。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表格提取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处理复杂表格、跨页表格、合并单元格和不规则表格。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印章识别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识别文件中的印章区域，为合同、函件、证明材料等场景提供辅助判断。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信息抽取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结合大模型抽取金额、日期、主体、项目、合同编号、发票信息等关键要素。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为后续多源资源接入、审计助手分析、任务执行和结果生成提供统一的文档输入基础。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2A93DA-871E-490D-9D92-101805822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4389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29 / 38</a:t>
            </a:r>
          </a:p>
        </p:txBody>
      </p:sp>
    </p:spTree>
    <p:extLst>
      <p:ext uri="{BB962C8B-B14F-4D97-AF65-F5344CB8AC3E}">
        <p14:creationId xmlns:p14="http://schemas.microsoft.com/office/powerpoint/2010/main" val="35793310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AA339A-EE24-4850-8A13-82FB9813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25D936-8CB3-47AC-8887-382E0ABD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C16EF6-7FDE-486B-8829-4D042090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E7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5E75"/>
                </a:solidFill>
                <a:latin typeface="Aptos"/>
                <a:ea typeface="Aptos"/>
                <a:cs typeface="Aptos"/>
              </a:rPr>
              <a:t>第30页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BCA4A0-D7F4-4ED7-9E6B-84A95186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9075"/>
            <a:ext cx="981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多源数据融合与统一资源接入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F7AB4B-87AD-411B-B512-774D1352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19150"/>
            <a:ext cx="1104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689D12-434B-444D-AF19-6D57691B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52197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7145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多源数据融合与统一资源接入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文档智能处理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支持 PDF、Word、Excel 等格式上传与结构化解析。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支持非标准文档格式转换。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支持文档资料中的实体、金额、日期、合同、项目等要素抽取。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多源资源接入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在同一项目工作空间中统一接入：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文档资料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结构化数据库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数据图谱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8093AB-83F8-4FD4-8882-00A39456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0287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C11BBE-805A-4B21-B5FC-DD95147C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028700"/>
            <a:ext cx="52197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714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知识库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审计技能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多源融合分析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单界面集成文档线索、数据库记录和图谱关联关系。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支持文档 → 数据 → 图谱自动联动。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支持将抽取结果、查询结果和图谱路径组合为分析依据。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定性支持能力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同步匹配本地部署的审计案例知识库和法律法规知识库，为 AI 生成的疑点匹配法规依据。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0BBEFA-D1ED-4144-BE3E-1A63B804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4389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30 / 38</a:t>
            </a:r>
          </a:p>
        </p:txBody>
      </p:sp>
    </p:spTree>
    <p:extLst>
      <p:ext uri="{BB962C8B-B14F-4D97-AF65-F5344CB8AC3E}">
        <p14:creationId xmlns:p14="http://schemas.microsoft.com/office/powerpoint/2010/main" val="1389179096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FFECC2-0709-4BA7-885F-F37DF8D9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3AA096-C8ED-403D-9299-3CC76A27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5D0B5D-C9F5-48B9-B4A6-FBEFB70F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E7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5E75"/>
                </a:solidFill>
                <a:latin typeface="Aptos"/>
                <a:ea typeface="Aptos"/>
                <a:cs typeface="Aptos"/>
              </a:rPr>
              <a:t>第31页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83A8BE-9BDB-4658-A564-62A982E8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9075"/>
            <a:ext cx="981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审计助手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3F5BB2-AA1C-47D4-81E1-EE1981E1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19150"/>
            <a:ext cx="1104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359EFB-87BC-4872-80A0-29D843B6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52197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7145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审计助手：基于多源资源与工具的协同分析入口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操作流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提出疑点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→ AI 制定执行计划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→ 调用资料 / 数据库 / 图谱 / 知识库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→ 执行抽取、检索、比对、计算和分析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→ 返回结果、依据和中间过程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→ 审计人员追问、复核和沉淀经验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核心能力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基于项目资源发起问询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可围绕已接入的资料、数据库、图谱和知识库发起针对性问询。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451B70-3321-4735-B91A-E4AEAE07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0287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E999B5-B321-4578-98C7-3A7EF2C5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028700"/>
            <a:ext cx="52197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7145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计划 - 执行 - 结果可见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系统可按“计划 - 执行 - 结果”返回分析过程，让审计人员看到 AI 如何组织任务。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工具连续调用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支持调用查询、检索、抽取、比对、计算、生成等工具完成连续动作。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动态追问与方向调整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支持随时补充资料、调整追问方向、限定分析范围。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依据链条可复核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分析结果可以关联原始资料、数据库记录、图谱路径、引用依据和执行过程。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DAB826-91EC-4C8E-87F7-4D9203CE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4389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31 / 38</a:t>
            </a:r>
          </a:p>
        </p:txBody>
      </p:sp>
    </p:spTree>
    <p:extLst>
      <p:ext uri="{BB962C8B-B14F-4D97-AF65-F5344CB8AC3E}">
        <p14:creationId xmlns:p14="http://schemas.microsoft.com/office/powerpoint/2010/main" val="1259650615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D4758D-A1FF-44B4-A982-BF61B43E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F08099-0DE5-479D-953B-C0077D2CF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665321-982C-4933-AD2F-7F0088FC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E7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5E75"/>
                </a:solidFill>
                <a:latin typeface="Aptos"/>
                <a:ea typeface="Aptos"/>
                <a:cs typeface="Aptos"/>
              </a:rPr>
              <a:t>第32页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3706E1-02B5-498D-AF54-5A06A9DF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9075"/>
            <a:ext cx="981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任务模块：单次任务与跑批任务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F7D089-CBFC-4C90-8A9F-073364F5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19150"/>
            <a:ext cx="1104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66288F-89D1-474E-941F-FC5FE0CA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52197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7145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任务模块：围绕特定资源和特定目标产出分析结果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单次任务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围绕指定资料、指定项目或指定问题发起一次分析任务，由平台组织相关资源和技能完成分析。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适用场景：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单个项目资料审查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单份合同风险识别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跑批任务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面向大批量资料或项目创建批量任务，由平台按任务计划自动执行，并输出结构化结果、异常列表和汇总报告。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适用场景：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35EA1A-799B-4995-A57A-459BDFC2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0287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422622-CB96-4209-92AF-546CDFF2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028700"/>
            <a:ext cx="52197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7145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大批量合同审查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大批量招投标文件核查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多项目投资审计分析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大量资料的要素抽取和差异比对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任务过程管理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展示资料准备、模板挂载、分析执行和结果产出的关键节点状态。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支持实时查看解析进度、匹配状态、异常列表和任务结果。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支持任务中断、异常记录、任务重跑和结果明细查看。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支持将任务结果输出为结构化数据、报告初稿或后续复核清单。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4655B5-1078-483A-BDB0-BEC0A729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4389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32 / 38</a:t>
            </a:r>
          </a:p>
        </p:txBody>
      </p:sp>
    </p:spTree>
    <p:extLst>
      <p:ext uri="{BB962C8B-B14F-4D97-AF65-F5344CB8AC3E}">
        <p14:creationId xmlns:p14="http://schemas.microsoft.com/office/powerpoint/2010/main" val="820878930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E66157-96FD-4A48-A09A-30EA5B60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8D8D85-75C3-45B6-868E-323D9B6C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4DFADB-00ED-4593-897E-66D3DC93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E7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5E75"/>
                </a:solidFill>
                <a:latin typeface="Aptos"/>
                <a:ea typeface="Aptos"/>
                <a:cs typeface="Aptos"/>
              </a:rPr>
              <a:t>第33页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A7283F-D731-483D-A05D-C25389D0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9075"/>
            <a:ext cx="981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技能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2A0D17-006B-429F-90B6-7E80F816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19150"/>
            <a:ext cx="1104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C8A2F2-85D2-4190-AF50-9FCD5984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52197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7145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技能：把审计方法沉淀为可复用的执行能力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核心定位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技能是平台中可复用的分析方法和执行配置，用于把成熟的核查路径、判断规则和资源调用方式沉淀为可重复执行的能力单元。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一个审计技能通常包含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输入要求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需要哪些资料、数据表、图谱、参数和业务范围。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执行步骤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包括资料解析、要素抽取、数据查询、图谱穿透、规则判断、差异比对、结果生成等动作。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资源调用方式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调用哪些数据库、知识库、图谱、文档、OCR 能力、智能体或外部工具。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判断逻辑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01D1E8-EC82-4220-85AA-ADB676E5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0287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86F7B0-05B4-4568-AD62-3C999DA2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028700"/>
            <a:ext cx="52197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714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将审计规则、风险特征、异常阈值和判断条件固化为可执行逻辑。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输出结构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定义输出字段、疑点说明、依据引用和复核建议。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证据要求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要求结果能够关联原始资料、数据库记录、图谱路径、法规依据和任务日志。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形成方式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基于成熟模板形成标准化技能。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在项目复盘后把有效核查路径整理为组织级技能资产。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使用价值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技能可支撑不同任务、不同资料类型和不同审计场景的快速复用，让平台从一次性分析走向持续沉淀和反复执行。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9EAE91-ACAC-4235-A05C-6D57CFFA2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4389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33 / 38</a:t>
            </a:r>
          </a:p>
        </p:txBody>
      </p:sp>
    </p:spTree>
    <p:extLst>
      <p:ext uri="{BB962C8B-B14F-4D97-AF65-F5344CB8AC3E}">
        <p14:creationId xmlns:p14="http://schemas.microsoft.com/office/powerpoint/2010/main" val="1502320708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D8ED2A-8AF9-4C39-BB2B-1FD72E44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BBFAC7-2F6C-4B21-ACE3-6965982A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7C8A4B-C2F2-4025-BD98-5B8599FA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E7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5E75"/>
                </a:solidFill>
                <a:latin typeface="Aptos"/>
                <a:ea typeface="Aptos"/>
                <a:cs typeface="Aptos"/>
              </a:rPr>
              <a:t>第34页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D48971-269F-4246-8A6A-1F451100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9075"/>
            <a:ext cx="981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应用中心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8A4BB3-3273-443B-9C95-BD6510B25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19150"/>
            <a:ext cx="1104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19100E-61D3-4518-B96E-10C2329D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52197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7145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应用中心：把成熟任务封装为轻量化审计应用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功能定位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应用中心面向更偏业务的审计人员，将已有技能、任务模板和任务执行结果封装为可直接使用的轻量化应用。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核心思路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当某一次审计任务、某一类技能执行流程或某个成熟分析结果具备复用价值时，可以将其固化为独立应用。后续用户只需输入必要材料或参数，即可自动执行并获得结果。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典型使用方式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上传材料，自动完成资料解析、要素抽取、疑点识别和结果生成。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选择项目或数据范围，自动执行既定核查流程。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9F7994-C3C2-4D30-9323-CD86F35F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0287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4F0EBB-0B7E-4F2B-8BD1-7AA23DA5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028700"/>
            <a:ext cx="52197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714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填写少量参数，调用一个或多个技能完成分析任务。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面向基层或业务审计人员提供标准化、低门槛入口。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与技能、任务的关系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技能 负责能力沉淀和复用。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任务 负责标准化执行和过程管理。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应用中心 负责把技能和任务流程封装成可直接使用的业务入口。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管理价值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让成熟审计方法能够跨项目复用。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让 AI、图谱和任务编排能力对业务人员透明。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让优秀项目经验沉淀为组织级应用。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让审计机关逐步形成可运营的智能审计应用库。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293604-CDBB-4D10-ADBA-0251A305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4389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34 / 38</a:t>
            </a:r>
          </a:p>
        </p:txBody>
      </p:sp>
    </p:spTree>
    <p:extLst>
      <p:ext uri="{BB962C8B-B14F-4D97-AF65-F5344CB8AC3E}">
        <p14:creationId xmlns:p14="http://schemas.microsoft.com/office/powerpoint/2010/main" val="61101269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F30F4D-1FAD-424D-A447-34320FD8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6F2FC6-3F5D-4A30-B8F4-DF460D1A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517107-616C-450D-8EAE-6C952C1F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E7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5E75"/>
                </a:solidFill>
                <a:latin typeface="Aptos"/>
                <a:ea typeface="Aptos"/>
                <a:cs typeface="Aptos"/>
              </a:rPr>
              <a:t>第35页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02B504-EF7E-4F1E-B36B-96BA7B0D4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9075"/>
            <a:ext cx="981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审计案例：投资审计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A1457C-AD5B-4AE0-8A57-83D9E641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19150"/>
            <a:ext cx="1104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3DFA60-2F00-4A9B-B904-909A8118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52197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7145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审计案例：投资审计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审计场景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投资审计涉及立项、决策、合同、付款、投后管理、收益测算等大量资料，人工审阅成本高。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传统痛点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审计人员需要在大量投资项目资料中反复查找关键信息。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需要核对决策程序、投资依据、合同条款、收益测算和投后管理。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资料类型多、口径复杂、人工比对耗时。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项目初筛阶段难以快速形成统一判断。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AI 做法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783D74-A3AD-476D-AAA1-A3347761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0287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CFD52E-4D12-43F5-BCEC-93AB9094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028700"/>
            <a:ext cx="52197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714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基于沉淀的投资审计技能，大模型可围绕指定项目自动执行：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读取项目资料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抽取关键要素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识别立项与决策过程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匹配审计规则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比对合同、付款和收益测算信息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提示疑点线索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生成初步分析结果和复核清单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应用成效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基于沉淀的技能，约 3 分钟跑出分析结果，帮助审计人员形成项目初步判断。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F5BF1D-5396-4A4F-B1A4-2924AC25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4389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35 / 38</a:t>
            </a:r>
          </a:p>
        </p:txBody>
      </p:sp>
    </p:spTree>
    <p:extLst>
      <p:ext uri="{BB962C8B-B14F-4D97-AF65-F5344CB8AC3E}">
        <p14:creationId xmlns:p14="http://schemas.microsoft.com/office/powerpoint/2010/main" val="1083664692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620658-028B-4E5A-9888-EE14022A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BD2546-03C7-4D5F-A3C3-AFBB9F90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3C798B-F800-4EA6-8CA9-8B72FE6F5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E7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5E75"/>
                </a:solidFill>
                <a:latin typeface="Aptos"/>
                <a:ea typeface="Aptos"/>
                <a:cs typeface="Aptos"/>
              </a:rPr>
              <a:t>第36页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6198F7-C320-4546-BE63-A9B236DE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9075"/>
            <a:ext cx="981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案例：大批量材料自动化批量审计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FF4C09-A3C3-4CCE-8952-F382F589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19150"/>
            <a:ext cx="1104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D98183-78B3-43D3-A254-414ED57C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52197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7145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案例：大批量材料自动化批量审计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典型场景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近百份项目资料，如招标文件、合同文件、项目说明、评审材料、付款资料等，传统方式依赖人工翻阅进行查询、比对和判断。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传统问题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材料数量大，人工阅读耗时长。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同类信息分散在不同文件中，人工比对容易遗漏。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不同项目之间标准不一，审计结果难以统一。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报告整理依赖人工，难以快速形成批量成果。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技术路径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通过“对话 + 审计技能 + 批量任务”为大模型提供审计思路，由模型利用查询、解析、抽取、分析和比对工具完成大批量审计任务。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E15F72-978A-4A70-BD72-3C7D7EF5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0287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E4954A-5925-4A6F-BD56-477A6867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028700"/>
            <a:ext cx="52197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7145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执行链路：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资料上传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→ OCR / 文档解析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→ 要素抽取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→ 技能挂载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→ 批量任务执行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→ 疑点识别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→ 结果复核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→ 报告生成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应用成效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耗时 3 小时，自动审计上百份资料，自动产出数十份审计分析报告。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平台将审计人员从大量重复阅读、抽取和整理工作中释放出来。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44F25A-1C81-41C9-89B5-8D182E97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4389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36 / 38</a:t>
            </a:r>
          </a:p>
        </p:txBody>
      </p:sp>
    </p:spTree>
    <p:extLst>
      <p:ext uri="{BB962C8B-B14F-4D97-AF65-F5344CB8AC3E}">
        <p14:creationId xmlns:p14="http://schemas.microsoft.com/office/powerpoint/2010/main" val="632341964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C1434E-03C4-4969-900D-35009343A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82EC90-B6F5-488D-9129-3AE32C57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700FAF-3BAD-43F3-BB85-87A921DA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E7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5E75"/>
                </a:solidFill>
                <a:latin typeface="Aptos"/>
                <a:ea typeface="Aptos"/>
                <a:cs typeface="Aptos"/>
              </a:rPr>
              <a:t>第37页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F76171-E15C-4D14-858B-DC21DF59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9075"/>
            <a:ext cx="981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重塑人机协同关系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9341CB-9818-40D6-9DDA-BA2CC953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19150"/>
            <a:ext cx="1104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026368-0216-4D72-BC22-C8CE86A07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52197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7145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重塑人机协同关系：机器负责速度，人类负责深度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效率与覆盖双重跃升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通过 AI 对海量文本、合同、制度和跨系统数据进行快速读取、抽取、比对和关联分析，可压缩资料处理时间，提升审计覆盖范围。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机器处理“存量”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将高频、重复、规则明确、工作量大的任务交由平台辅助完成：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表格与文本抽取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跨表核对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差异识别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异常筛查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批量报告初稿生成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EE3CFE-A2D6-4528-B107-E7ED6052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0287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CC28E7-070E-49D2-919B-F275E5D6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028700"/>
            <a:ext cx="52197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7145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人类定义“变量”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审计人员聚焦需要专业判断和责任把关的工作：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审计目标定义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重点问题选择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复杂疑点研判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证据充分性判断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问题定性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管理决策支持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平台沉淀“能力”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将成熟的审计规则、分析路径、核查逻辑、处置经验和典型案例持续沉淀，形成可复用、可推广、可迭代的数字审计能力。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D98853-8DC1-426F-B823-BC63CB45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4389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37 / 38</a:t>
            </a:r>
          </a:p>
        </p:txBody>
      </p:sp>
    </p:spTree>
    <p:extLst>
      <p:ext uri="{BB962C8B-B14F-4D97-AF65-F5344CB8AC3E}">
        <p14:creationId xmlns:p14="http://schemas.microsoft.com/office/powerpoint/2010/main" val="1501638520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71A305-4A48-4B7B-8B08-E5AC7217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E78AD1-67FD-48DB-9816-12434326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02DFFE-BC67-4B2E-900E-11894DDB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E7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5E75"/>
                </a:solidFill>
                <a:latin typeface="Aptos"/>
                <a:ea typeface="Aptos"/>
                <a:cs typeface="Aptos"/>
              </a:rPr>
              <a:t>第38页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24C2E1-C1B6-4F3E-907A-5032DD9EF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9075"/>
            <a:ext cx="981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AI 原生审计产品体系的核心价值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D522CC-B282-4DEC-B87F-1D9371E6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19150"/>
            <a:ext cx="1104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500733-0840-4825-B980-59EEF97A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52197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7145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AI 原生审计产品体系的核心价值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四个平台形成一体化闭环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智能体平台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提供 AI 能力底座，统一承接知识、数据、工具、模型和权限资源，支撑智能问数、知识问答和专有智能体能力生产。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数据治理平台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解决复杂数据可用性问题，让结构化数据更易理解，让非结构化资料转化为可查询、可分析、可入图的数据资产。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数据图谱平台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将治理结果组织为可穿透、可追溯、可分析、可推理的关系网络，支撑关联穿透、路径追溯、AI 关系推理和批量线索发现。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综合分析平台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统一承接多源资源、审计助手、任务、技能和应用，形成面向审计作业的聚合工作入口和成果沉淀空间。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体系壁垒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7C2954-9142-49DB-8E08-6243EE4DA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0287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77BB20-83A0-450C-98D8-31843089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028700"/>
            <a:ext cx="52197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7145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复杂数据治理壁垒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覆盖结构化库表、非结构化资料、历史变更文本、长文档、扫描件和复杂表格。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AI + 图谱融合壁垒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不是简单图谱展示，而是本体建模、多源入图、路径分析、图上算法、关系推理和批量任务一体化。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智能体工程化壁垒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统一纳管模型、知识、数据库、工具和权限，支撑任务型智能体和专有智能体能力沉淀。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审计作业闭环壁垒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从数据理解、关系发现、任务执行到证据复核和能力沉淀，形成可进入真实审计作业的闭环能力。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一句话总结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这套体系形成了从数据理解、关系发现、任务执行到能力沉淀的闭环。真正的壁垒不在单个功能，而在于围绕审计场景持续打磨形成的 AI 原生能力链路。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57889B-3DAE-40A4-9535-0A24021E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4389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38 / 38</a:t>
            </a:r>
          </a:p>
        </p:txBody>
      </p:sp>
    </p:spTree>
    <p:extLst>
      <p:ext uri="{BB962C8B-B14F-4D97-AF65-F5344CB8AC3E}">
        <p14:creationId xmlns:p14="http://schemas.microsoft.com/office/powerpoint/2010/main" val="13629663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2026-06-08T01:59:36.0410000Z</dcterms:created>
  <dcterms:modified xsi:type="dcterms:W3CDTF">2026-06-08T01:59:36.0410000Z</dcterms:modified>
</coreProperties>
</file>