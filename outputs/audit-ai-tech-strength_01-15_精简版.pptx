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005840"/>
            <a:ext cx="3383280" cy="1097280"/>
          </a:xfrm>
          <a:prstGeom prst="line">
            <a:avLst/>
          </a:prstGeom>
          <a:noFill/>
          <a:ln w="11430">
            <a:solidFill>
              <a:srgbClr val="06B6D4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2194560"/>
            <a:ext cx="2926080" cy="1280160"/>
          </a:xfrm>
          <a:prstGeom prst="line">
            <a:avLst/>
          </a:prstGeom>
          <a:noFill/>
          <a:ln w="1397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2468880"/>
            <a:ext cx="2011680" cy="2377440"/>
          </a:xfrm>
          <a:prstGeom prst="line">
            <a:avLst/>
          </a:prstGeom>
          <a:noFill/>
          <a:ln w="10160">
            <a:solidFill>
              <a:srgbClr val="06B6D4">
                <a:alpha val="5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005840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0" y="210312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3474720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2194560"/>
            <a:ext cx="137160" cy="1371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484632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2468880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1170432"/>
            <a:ext cx="7406640" cy="1225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ts val="0"/>
              </a:spcBef>
              <a:buClrTx/>
              <a:buSzTx/>
              <a:buFontTx/>
            </a:pPr>
            <a:r>
              <a:rPr kumimoji="1" lang="zh-CN" altLang="en-US" sz="3600" b="1" spc="600" dirty="0">
                <a:solidFill>
                  <a:srgbClr val="00F2FF"/>
                </a:solidFill>
                <a:latin typeface="微软雅黑" charset="-122"/>
                <a:ea typeface="微软雅黑" charset="-122"/>
                <a:sym typeface="+mn-ea"/>
              </a:rPr>
              <a:t>智慧审计新范式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49808" y="2651760"/>
            <a:ext cx="65836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ts val="0"/>
              </a:spcBef>
              <a:buClrTx/>
              <a:buSzTx/>
              <a:buFontTx/>
            </a:pPr>
            <a:r>
              <a:rPr kumimoji="1" lang="zh-CN" altLang="en-US" spc="300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+mn-ea"/>
              </a:rPr>
              <a:t>大模型支撑下的价值重塑与效能跃升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9808" y="3200400"/>
            <a:ext cx="310896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138928"/>
            <a:ext cx="1645920" cy="256032"/>
          </a:xfrm>
          <a:prstGeom prst="rect">
            <a:avLst/>
          </a:prstGeom>
          <a:solidFill>
            <a:srgbClr val="111827">
              <a:alpha val="88000"/>
            </a:srgbClr>
          </a:solidFill>
          <a:ln w="8890">
            <a:solidFill>
              <a:srgbClr val="06B6D4">
                <a:alpha val="4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数据理解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544068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127248" y="5138928"/>
            <a:ext cx="1645920" cy="256032"/>
          </a:xfrm>
          <a:prstGeom prst="rect">
            <a:avLst/>
          </a:prstGeom>
          <a:solidFill>
            <a:srgbClr val="111827">
              <a:alpha val="88000"/>
            </a:srgbClr>
          </a:solidFill>
          <a:ln w="8890">
            <a:solidFill>
              <a:srgbClr val="06B6D4">
                <a:alpha val="4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图谱推理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27248" y="544068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GRAPH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504688" y="5138928"/>
            <a:ext cx="1645920" cy="256032"/>
          </a:xfrm>
          <a:prstGeom prst="rect">
            <a:avLst/>
          </a:prstGeom>
          <a:solidFill>
            <a:srgbClr val="111827">
              <a:alpha val="88000"/>
            </a:srgbClr>
          </a:solidFill>
          <a:ln w="8890">
            <a:solidFill>
              <a:srgbClr val="06B6D4">
                <a:alpha val="4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智能编排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04688" y="544068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7882128" y="5138928"/>
            <a:ext cx="1645920" cy="256032"/>
          </a:xfrm>
          <a:prstGeom prst="rect">
            <a:avLst/>
          </a:prstGeom>
          <a:solidFill>
            <a:srgbClr val="111827">
              <a:alpha val="88000"/>
            </a:srgbClr>
          </a:solidFill>
          <a:ln w="8890">
            <a:solidFill>
              <a:srgbClr val="06B6D4">
                <a:alpha val="4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作业闭环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82128" y="544068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CLOSED LOOP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9857232" y="614476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45分钟交流版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52144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围绕“为什么需要 AI 原生审计”到“如何形成技术闭环”展开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1691640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760220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261872" y="1673352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审计智能化演进与关键问题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86968" y="2075688"/>
            <a:ext cx="0" cy="2468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2276856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345436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1261872" y="2258568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原生审计技术底座与能力链路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86968" y="2660904"/>
            <a:ext cx="0" cy="2468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286207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930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261872" y="2843784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智能体平台：AI 能力生产与编排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86968" y="3246120"/>
            <a:ext cx="0" cy="2468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44728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515868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261872" y="3429000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数据治理平台：复杂数据可用性治理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86968" y="3831336"/>
            <a:ext cx="0" cy="2468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4032504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101084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4014216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数据图谱平台：关系建模与线索挖掘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86968" y="4416552"/>
            <a:ext cx="0" cy="2468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617720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686300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1261872" y="4599432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综合分析平台：任务执行、技能沉淀与应用承接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886968" y="5001768"/>
            <a:ext cx="0" cy="2468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5202936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271516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1261872" y="5184648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总结：从单点能力到 AI 原生审计闭环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7818120" y="1691640"/>
            <a:ext cx="3383280" cy="4005072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92440" y="1975104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交流重点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8641080" y="2423160"/>
            <a:ext cx="1737360" cy="0"/>
          </a:xfrm>
          <a:prstGeom prst="line">
            <a:avLst/>
          </a:prstGeom>
          <a:noFill/>
          <a:ln w="30480">
            <a:solidFill>
              <a:srgbClr val="06B6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83880" y="2743200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 w="10160">
            <a:solidFill>
              <a:srgbClr val="1D4ED8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93608" y="2825496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技术能力优先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8293608" y="3072384"/>
            <a:ext cx="2432304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先讲平台底座、能力链路、工程化机制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8183880" y="3566160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CFDF5"/>
          </a:solidFill>
          <a:ln w="10160">
            <a:solidFill>
              <a:srgbClr val="0F766E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93608" y="3648456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业务价值承接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8293608" y="3895344"/>
            <a:ext cx="2432304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用审计场景证明能力有效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8183880" y="4389120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FFFBEB"/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3608" y="4471416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案例数据保留</a:t>
            </a:r>
            <a:endParaRPr lang="en-US" sz="1120" dirty="0"/>
          </a:p>
        </p:txBody>
      </p:sp>
      <p:sp>
        <p:nvSpPr>
          <p:cNvPr id="50" name="Text 48"/>
          <p:cNvSpPr/>
          <p:nvPr/>
        </p:nvSpPr>
        <p:spPr>
          <a:xfrm>
            <a:off x="8293608" y="4718304"/>
            <a:ext cx="2432304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保留效率提升与批量处理成果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WHY NOW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审计信息化已奠定基础，下一步进入智能化深水区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多年信息化建设已经支撑数据、流程和成果管理；复杂化之后，瓶颈转向“理解、穿透、复用”。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713232" y="1572768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已有系统解决的基础问题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13232" y="19202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1920240"/>
            <a:ext cx="73152" cy="10515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048256"/>
            <a:ext cx="289864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数据归集与规则分析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2359152"/>
            <a:ext cx="2898648" cy="5212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SQL 查询 / 指标模型 / 规则脚本 / 定时任务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462272" y="19202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62272" y="192024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048256"/>
            <a:ext cx="289864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审计流程与项目管理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63440" y="2359152"/>
            <a:ext cx="2898648" cy="5212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立项 / 方案 / 分工 / 流转 / 归档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211312" y="192024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11312" y="1920240"/>
            <a:ext cx="73152" cy="10515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2048256"/>
            <a:ext cx="262432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底稿与成果管理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2359152"/>
            <a:ext cx="2624328" cy="5212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取证 / 底稿 / 报告 / 成果沉淀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713232" y="3419856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新的三类瓶颈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13232" y="3767328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DC2626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767328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895344"/>
            <a:ext cx="289864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数据可见，但语义难理解</a:t>
            </a:r>
            <a:endParaRPr lang="en-US" sz="1210" dirty="0"/>
          </a:p>
        </p:txBody>
      </p:sp>
      <p:sp>
        <p:nvSpPr>
          <p:cNvPr id="29" name="Text 27"/>
          <p:cNvSpPr/>
          <p:nvPr/>
        </p:nvSpPr>
        <p:spPr>
          <a:xfrm>
            <a:off x="914400" y="4206240"/>
            <a:ext cx="2898648" cy="7040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字段含义、表间关系、资料格式仍高度依赖人工判断。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416552" y="3767328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DC2626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16552" y="3767328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895344"/>
            <a:ext cx="289864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线索存在，但关系难穿透</a:t>
            </a:r>
            <a:endParaRPr lang="en-US" sz="1210" dirty="0"/>
          </a:p>
        </p:txBody>
      </p:sp>
      <p:sp>
        <p:nvSpPr>
          <p:cNvPr id="33" name="Text 31"/>
          <p:cNvSpPr/>
          <p:nvPr/>
        </p:nvSpPr>
        <p:spPr>
          <a:xfrm>
            <a:off x="4617720" y="4206240"/>
            <a:ext cx="2898648" cy="7040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人、企、单位、项目、资金、票据分散在不同系统中。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8119872" y="3767328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DC2626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19872" y="3767328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3895344"/>
            <a:ext cx="262432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经验成熟，但能力难复制</a:t>
            </a:r>
            <a:endParaRPr lang="en-US" sz="1210" dirty="0"/>
          </a:p>
        </p:txBody>
      </p:sp>
      <p:sp>
        <p:nvSpPr>
          <p:cNvPr id="37" name="Text 35"/>
          <p:cNvSpPr/>
          <p:nvPr/>
        </p:nvSpPr>
        <p:spPr>
          <a:xfrm>
            <a:off x="8321040" y="4206240"/>
            <a:ext cx="2624328" cy="7040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核查路径和判断规则沉淀在个人经验中，难以跨项目复用。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713232" y="5559552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新阶段需要的不是更多系统入口，而是让 AI 理解数据、发现关系、执行任务。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LIMITATIONS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大模型带来新能力，但通用 AI 难以直接承接审计作业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大模型释放了阅读、抽取、生成与交互能力；但审计场景要求它进入安全、数据、任务与证据链。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85800" y="1920240"/>
            <a:ext cx="4297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1D4ED8">
                <a:alpha val="30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205740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大模型带来的能力空间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32688" y="246888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快速阅读大量资料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2688" y="277977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提取关键信息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2688" y="309067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理解制度、法规和案例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32688" y="340156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生成摘要与报告初稿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2688" y="37124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降低复杂系统使用门槛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32120" y="162763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真实审计场景的四类门槛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32120" y="1938528"/>
            <a:ext cx="5486400" cy="603504"/>
          </a:xfrm>
          <a:prstGeom prst="roundRect">
            <a:avLst>
              <a:gd name="adj" fmla="val 12121"/>
            </a:avLst>
          </a:prstGeom>
          <a:solidFill>
            <a:srgbClr val="FEF2F2"/>
          </a:solidFill>
          <a:ln w="12700">
            <a:solidFill>
              <a:srgbClr val="DC2626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1938528"/>
            <a:ext cx="73152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33288" y="2066544"/>
            <a:ext cx="513892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安全边界门槛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5733288" y="2377440"/>
            <a:ext cx="5138928" cy="7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数据不出域 / 权限可控 / 过程留痕 / 结果复核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532120" y="2706624"/>
            <a:ext cx="5486400" cy="603504"/>
          </a:xfrm>
          <a:prstGeom prst="roundRect">
            <a:avLst>
              <a:gd name="adj" fmla="val 12121"/>
            </a:avLst>
          </a:prstGeom>
          <a:solidFill>
            <a:srgbClr val="EFF6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32120" y="2706624"/>
            <a:ext cx="73152" cy="6035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3288" y="2834640"/>
            <a:ext cx="513892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真实数据接入门槛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5733288" y="3145536"/>
            <a:ext cx="5138928" cy="7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 / 业务系统 / 图数据库 / 文档资料 / 法规案例库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532120" y="3474720"/>
            <a:ext cx="5486400" cy="603504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32120" y="3474720"/>
            <a:ext cx="73152" cy="6035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33288" y="3602736"/>
            <a:ext cx="513892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专业任务执行门槛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5733288" y="3913632"/>
            <a:ext cx="5138928" cy="7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连续读取 / 抽取 / 比对 / 核验 / 生成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532120" y="4242816"/>
            <a:ext cx="5486400" cy="603504"/>
          </a:xfrm>
          <a:prstGeom prst="roundRect">
            <a:avLst>
              <a:gd name="adj" fmla="val 12121"/>
            </a:avLst>
          </a:prstGeom>
          <a:solidFill>
            <a:srgbClr val="F5F3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32120" y="4242816"/>
            <a:ext cx="73152" cy="60350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33288" y="4370832"/>
            <a:ext cx="513892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证据链闭环门槛</a:t>
            </a:r>
            <a:endParaRPr lang="en-US" sz="1180" dirty="0"/>
          </a:p>
        </p:txBody>
      </p:sp>
      <p:sp>
        <p:nvSpPr>
          <p:cNvPr id="35" name="Text 33"/>
          <p:cNvSpPr/>
          <p:nvPr/>
        </p:nvSpPr>
        <p:spPr>
          <a:xfrm>
            <a:off x="5733288" y="4681728"/>
            <a:ext cx="5138928" cy="7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回到原始资料、原始数据、图谱路径和任务日志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713232" y="5559552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 AI 的核心不是“能回答”，而是“可信执行”。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CLOSED LOOP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+ 审计真正要解决的是从数据到任务的闭环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不是接入大模型，也不是增加问答入口，而是让 AI 进入完整审计作业链路。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713232" y="178308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78308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911096"/>
            <a:ext cx="212140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传统大数据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221992"/>
            <a:ext cx="2121408" cy="6126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擅长“跑数”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明确口径下的查询、统计和筛查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961120" y="1783080"/>
            <a:ext cx="2267712" cy="1143000"/>
          </a:xfrm>
          <a:prstGeom prst="roundRect">
            <a:avLst>
              <a:gd name="adj" fmla="val 6400"/>
            </a:avLst>
          </a:prstGeom>
          <a:solidFill>
            <a:srgbClr val="F5F3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0" y="1783080"/>
            <a:ext cx="73152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1911096"/>
            <a:ext cx="19202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通用 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62288" y="2221992"/>
            <a:ext cx="1920240" cy="6126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擅长“问答”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文本理解、知识问答和内容生成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2130552" y="3822192"/>
            <a:ext cx="768096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25112" y="3822192"/>
            <a:ext cx="768096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19672" y="3822192"/>
            <a:ext cx="768096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714232" y="3822192"/>
            <a:ext cx="768096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088" y="3246120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5528" y="3346704"/>
            <a:ext cx="12435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数据理解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3816" y="3630168"/>
            <a:ext cx="1207008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 / 资料 / 实体 / 语义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2898648" y="3246120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15240">
            <a:solidFill>
              <a:srgbClr val="0F766E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90088" y="3346704"/>
            <a:ext cx="12435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关系发现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008376" y="3630168"/>
            <a:ext cx="1207008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显性关系 + 隐含关系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5093208" y="3246120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84648" y="3346704"/>
            <a:ext cx="12435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任务执行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202936" y="3630168"/>
            <a:ext cx="1207008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探查 / 抽取 / 比对 / 核验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7287768" y="3246120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F5F3FF"/>
          </a:solidFill>
          <a:ln w="15240">
            <a:solidFill>
              <a:srgbClr val="6D28D9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79208" y="3346704"/>
            <a:ext cx="12435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证据复核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397496" y="3630168"/>
            <a:ext cx="1207008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原始依据 / 图谱路径 / 任务记录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9482328" y="3246120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573768" y="3346704"/>
            <a:ext cx="12435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能力沉淀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592056" y="3630168"/>
            <a:ext cx="1207008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思路 / 路径 / 规则可复用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1600200" y="4443984"/>
            <a:ext cx="8778240" cy="822960"/>
          </a:xfrm>
          <a:prstGeom prst="line">
            <a:avLst/>
          </a:prstGeom>
          <a:noFill/>
          <a:ln w="11430">
            <a:solidFill>
              <a:srgbClr val="06B6D4">
                <a:alpha val="8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169664" y="51023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形成可持续迭代的作业链路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13232" y="5577840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+ 审计的核心，是把“数据理解—关系发现—任务执行—证据复核—能力沉淀”串成闭环。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OUR APPROACH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我们的解法：围绕审计作业链路构建 AI 原生体系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不是在传统系统外层增加 AI 问答入口，而是重新组织数据、智能体、图谱和综合分析能力。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713232" y="166420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围绕三类核心问题设计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" y="20574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EFF6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2057400"/>
            <a:ext cx="73152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85416"/>
            <a:ext cx="289864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如何避免大模型幻觉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14400" y="2496312"/>
            <a:ext cx="2898648" cy="7955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原文引用、数据溯源、图谱路径、SQL 和任务记录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416552" y="20574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ECFDF5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16552" y="205740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185416"/>
            <a:ext cx="289864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如何让大模型具备审计思路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617720" y="2496312"/>
            <a:ext cx="2898648" cy="7955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核查路径、判断规则、分析步骤转化为智能体、技能和应用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119872" y="205740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5F3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19872" y="2057400"/>
            <a:ext cx="73152" cy="1325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185416"/>
            <a:ext cx="271576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如何让大模型与审计人员协作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321040" y="2496312"/>
            <a:ext cx="2715768" cy="7955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处理高频重复工作，审计人员聚焦疑点判断和问题定性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2304288" y="3547872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16752" y="3547872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29216" y="3547872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4041648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0F1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4187952"/>
            <a:ext cx="5440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2960" y="5120640"/>
            <a:ext cx="1335024" cy="310896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数据在域内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70048" y="5120640"/>
            <a:ext cx="1335024" cy="310896"/>
          </a:xfrm>
          <a:prstGeom prst="rect">
            <a:avLst/>
          </a:prstGeom>
          <a:solidFill>
            <a:srgbClr val="ECFDF5"/>
          </a:solidFill>
          <a:ln w="6350">
            <a:solidFill>
              <a:srgbClr val="0F766E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权限可控制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17136" y="5120640"/>
            <a:ext cx="1335024" cy="310896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能力可编排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64224" y="5120640"/>
            <a:ext cx="1335024" cy="310896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过程可监控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11312" y="5120640"/>
            <a:ext cx="1335024" cy="310896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结果可复核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058400" y="5120640"/>
            <a:ext cx="1335024" cy="310896"/>
          </a:xfrm>
          <a:prstGeom prst="rect">
            <a:avLst/>
          </a:prstGeom>
          <a:solidFill>
            <a:srgbClr val="E0F7FB"/>
          </a:solidFill>
          <a:ln w="6350">
            <a:solidFill>
              <a:srgbClr val="0EA5E9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经验可复用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IMPLEMENTATION PATH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解法路径：连接存量数据、实际业务与智能体能力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不替代现有业务系统，也不重复建设传统数据平台；在已有基础上建立连接层和增量智能能力。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2450592" y="2907792"/>
            <a:ext cx="320040" cy="0"/>
          </a:xfrm>
          <a:prstGeom prst="line">
            <a:avLst/>
          </a:prstGeom>
          <a:noFill/>
          <a:ln w="1397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48072" y="2907792"/>
            <a:ext cx="320040" cy="0"/>
          </a:xfrm>
          <a:prstGeom prst="line">
            <a:avLst/>
          </a:prstGeom>
          <a:noFill/>
          <a:ln w="1397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45552" y="2907792"/>
            <a:ext cx="320040" cy="0"/>
          </a:xfrm>
          <a:prstGeom prst="line">
            <a:avLst/>
          </a:prstGeom>
          <a:noFill/>
          <a:ln w="1397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3232" y="2212848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5240">
            <a:solidFill>
              <a:srgbClr val="334155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" y="2313432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已有基础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2596896"/>
            <a:ext cx="2066544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政务数据与审计数据底座</a:t>
            </a:r>
            <a:endParaRPr lang="en-US" sz="840" dirty="0"/>
          </a:p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数据归集 / 数据目录 / 项目资料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3456432" y="2212848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47872" y="2313432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数据理解层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66160" y="2596896"/>
            <a:ext cx="2066544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数据漫游 / 字段识别</a:t>
            </a:r>
            <a:endParaRPr lang="en-US" sz="840" dirty="0"/>
          </a:p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文档解析 / 实体识别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199632" y="2212848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5240">
            <a:solidFill>
              <a:srgbClr val="0F766E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91072" y="2313432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图谱关系贯通层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2596896"/>
            <a:ext cx="2066544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围绕人、企、单位、项目、资金</a:t>
            </a:r>
            <a:endParaRPr lang="en-US" sz="840" dirty="0"/>
          </a:p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建立跨系统关系网络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8942832" y="2212848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5F3FF"/>
          </a:solidFill>
          <a:ln w="15240">
            <a:solidFill>
              <a:srgbClr val="6D28D9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34272" y="2313432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智能审计作业层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052560" y="2596896"/>
            <a:ext cx="2066544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规则、核查路径、专家经验</a:t>
            </a:r>
            <a:endParaRPr lang="en-US" sz="840" dirty="0"/>
          </a:p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封装为智能体、技能、任务和应用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713232" y="4160520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重点落地五类能力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" y="4617720"/>
            <a:ext cx="3063240" cy="310896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海量非结构化资料治理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16552" y="4617720"/>
            <a:ext cx="3063240" cy="310896"/>
          </a:xfrm>
          <a:prstGeom prst="rect">
            <a:avLst/>
          </a:prstGeom>
          <a:solidFill>
            <a:srgbClr val="ECFDF5"/>
          </a:solidFill>
          <a:ln w="6350">
            <a:solidFill>
              <a:srgbClr val="0F766E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多源数据贯通与价值挖掘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19872" y="4617720"/>
            <a:ext cx="3154680" cy="310896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人、企、单位、项目、资金图谱构建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96896" y="5193792"/>
            <a:ext cx="3063240" cy="310896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大批量审计核查任务自动执行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45936" y="5193792"/>
            <a:ext cx="3063240" cy="310896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审计思路沉淀与团队共享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FROM TOOL TO SYSTEM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从单点工具走向 AI 原生审计技术体系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+ 审计的核心不是单点工具，而是形成可持续演进的技术体系。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22960" y="1719072"/>
            <a:ext cx="1920240" cy="438912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问答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907792" y="1938528"/>
            <a:ext cx="886968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977640" y="1719072"/>
            <a:ext cx="3063240" cy="438912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智能体任务执行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06640" y="175564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不只回答问题，还能围绕审计目标执行多步骤任务。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2542032"/>
            <a:ext cx="1920240" cy="438912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数据查询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907792" y="2761488"/>
            <a:ext cx="886968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977640" y="2542032"/>
            <a:ext cx="3063240" cy="438912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数据理解与关系发现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06640" y="257860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系统不只查表和跑数，还要理解字段、识别实体、发现关系。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3364992"/>
            <a:ext cx="1920240" cy="438912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单次分析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907792" y="3584448"/>
            <a:ext cx="886968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977640" y="3364992"/>
            <a:ext cx="3063240" cy="438912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证据复核与成果沉淀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06640" y="340156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分析结果回到原始依据，并沉淀为后续可复用能力。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4187952"/>
            <a:ext cx="1920240" cy="438912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个人经验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907792" y="4407408"/>
            <a:ext cx="886968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977640" y="4187952"/>
            <a:ext cx="3063240" cy="438912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组织级审计能力复用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06640" y="42245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把核查方法和判断逻辑转化为组织级数字能力。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3232" y="5504688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本质上，是让 AI 成为可执行、可复核、可沉淀的审计能力平台。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TECH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3+1 AI 原生审计技术底座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“3”是三类底座能力平台，“1”是一个综合作业平台；四者共同承接真实审计作业。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2432304" y="3246120"/>
            <a:ext cx="2368296" cy="91440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25896" y="3246120"/>
            <a:ext cx="64008" cy="91440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60920" y="3246120"/>
            <a:ext cx="2176272" cy="91440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3232" y="184708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1847088"/>
            <a:ext cx="73152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975104"/>
            <a:ext cx="308152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智能体平台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2286000"/>
            <a:ext cx="3081528" cy="8869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能力生产与编排底座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 / 知识库 / 数据库 / MCP / API / 权限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315968" y="184708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15968" y="1847088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1975104"/>
            <a:ext cx="308152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数据治理平台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17136" y="2286000"/>
            <a:ext cx="3081528" cy="8869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复杂数据可用性治理底座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数据探查 / 数据漫游 / 实体识别 / 结构化抽取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7918704" y="1847088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5F3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18704" y="1847088"/>
            <a:ext cx="73152" cy="1417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9872" y="1975104"/>
            <a:ext cx="289864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数据图谱平台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119872" y="2286000"/>
            <a:ext cx="2898648" cy="8869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关系资产化与线索挖掘底座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本体建模 / 关系穿透 / 图计算 / AI 推理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3127248" y="4187952"/>
            <a:ext cx="5943600" cy="1170432"/>
          </a:xfrm>
          <a:prstGeom prst="roundRect">
            <a:avLst>
              <a:gd name="adj" fmla="val 9375"/>
            </a:avLst>
          </a:prstGeom>
          <a:solidFill>
            <a:srgbClr val="0F172A"/>
          </a:soli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334155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91840" y="4407408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综合分析平台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520440" y="475488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审计任务执行与能力沉淀平台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聚合数据、图谱、知识、文档、技能和智能体能力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9646920" y="4343400"/>
            <a:ext cx="1463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+ 1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CAPABILITY STACK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四层能力破局：从数据到作业闭环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“3+1”产品体系背后，是从数据治理到人机协同的四层能力。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04672" y="1719072"/>
            <a:ext cx="10378440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1D4ED8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819656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第一层：治理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801368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解决“数据看得见、用不了”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806440" y="1837944"/>
            <a:ext cx="4983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数据探查 / 数据漫游 / 文档解析 / 结构化抽取 / 实体识别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804672" y="2569464"/>
            <a:ext cx="10378440" cy="621792"/>
          </a:xfrm>
          <a:prstGeom prst="roundRect">
            <a:avLst>
              <a:gd name="adj" fmla="val 11765"/>
            </a:avLst>
          </a:prstGeom>
          <a:solidFill>
            <a:srgbClr val="ECFDF5"/>
          </a:solidFill>
          <a:ln w="12700">
            <a:solidFill>
              <a:srgbClr val="0F766E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670048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第二层：贯通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265176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解决“线索查得到、穿不透”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806440" y="2688336"/>
            <a:ext cx="4983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围绕人、企、单位、项目、资金、合同、发票建立实体关系网络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804672" y="3419856"/>
            <a:ext cx="10378440" cy="621792"/>
          </a:xfrm>
          <a:prstGeom prst="roundRect">
            <a:avLst>
              <a:gd name="adj" fmla="val 11765"/>
            </a:avLst>
          </a:prstGeom>
          <a:solidFill>
            <a:srgbClr val="F5F3FF"/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520440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第三层：编排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46120" y="350215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解决“任务难执行、难批量”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5806440" y="3538728"/>
            <a:ext cx="4983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审计规则、核查路径和任务流程封装为智能体、技能和批量任务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804672" y="4270248"/>
            <a:ext cx="10378440" cy="621792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370832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第四层：协同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46120" y="4352544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解决“过程难复核、能力难沉淀”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806440" y="4389120"/>
            <a:ext cx="4983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项目空间统一承接数据、知识、图谱、智能体、线索和成果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1828800" y="5285232"/>
            <a:ext cx="1078992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13632" y="5285232"/>
            <a:ext cx="1078992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998464" y="5285232"/>
            <a:ext cx="1078992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083296" y="5285232"/>
            <a:ext cx="1078992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914400" y="5074920"/>
            <a:ext cx="13716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数据治理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2999232" y="5074920"/>
            <a:ext cx="13716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关系发现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5084064" y="5074920"/>
            <a:ext cx="13716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任务执行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7168896" y="5074920"/>
            <a:ext cx="13716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证据复核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9253728" y="5074920"/>
            <a:ext cx="13716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能力沉淀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713232" y="5687568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四层叠加，形成“数据治理—关系发现—任务执行—证据复核—能力沉淀”的审计作业闭环。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智能体平台：统一纳管知识、数据、工具和模型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核心定位：不是单点问答工具，而是 AI 能力生产、资源连接与智能体编排底座。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58368" y="1664208"/>
            <a:ext cx="2441448" cy="1170432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664208"/>
            <a:ext cx="73152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1792224"/>
            <a:ext cx="2093976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知识资源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59536" y="2103120"/>
            <a:ext cx="2093976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制度 / 法规 / 案例 / 项目资料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 检索 / 召回测试 / 引用溯源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1883664" y="2852928"/>
            <a:ext cx="4206240" cy="603504"/>
          </a:xfrm>
          <a:prstGeom prst="line">
            <a:avLst/>
          </a:prstGeom>
          <a:noFill/>
          <a:ln w="1016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65576" y="1664208"/>
            <a:ext cx="2441448" cy="1170432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65576" y="1664208"/>
            <a:ext cx="73152" cy="1170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66744" y="1792224"/>
            <a:ext cx="2093976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数据资源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3666744" y="2103120"/>
            <a:ext cx="2093976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数据库连接 / 表结构识别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自然语言问数 / SQL 生成 / 结果复核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4690872" y="2852928"/>
            <a:ext cx="1399032" cy="603504"/>
          </a:xfrm>
          <a:prstGeom prst="line">
            <a:avLst/>
          </a:prstGeom>
          <a:noFill/>
          <a:ln w="1016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72784" y="1664208"/>
            <a:ext cx="2441448" cy="1170432"/>
          </a:xfrm>
          <a:prstGeom prst="roundRect">
            <a:avLst>
              <a:gd name="adj" fmla="val 6250"/>
            </a:avLst>
          </a:prstGeom>
          <a:solidFill>
            <a:srgbClr val="F5F3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2784" y="1664208"/>
            <a:ext cx="73152" cy="11704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1792224"/>
            <a:ext cx="2093976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工具资源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473952" y="2103120"/>
            <a:ext cx="2093976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工具 / API 工具 / OCR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 / 抽取 / 比对 / 计算 / 生成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089904" y="2852928"/>
            <a:ext cx="1408176" cy="603504"/>
          </a:xfrm>
          <a:prstGeom prst="line">
            <a:avLst/>
          </a:prstGeom>
          <a:noFill/>
          <a:ln w="1016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79992" y="1664208"/>
            <a:ext cx="2441448" cy="1170432"/>
          </a:xfrm>
          <a:prstGeom prst="roundRect">
            <a:avLst>
              <a:gd name="adj" fmla="val 6250"/>
            </a:avLst>
          </a:prstGeom>
          <a:solidFill>
            <a:srgbClr val="FFFBEB"/>
          </a:solidFill>
          <a:ln w="12700">
            <a:solidFill>
              <a:srgbClr val="F59E0B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079992" y="1664208"/>
            <a:ext cx="73152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1160" y="1792224"/>
            <a:ext cx="2093976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模型资源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9281160" y="2103120"/>
            <a:ext cx="2093976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大语言模型 / Embedding / Rerank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不同任务匹配不同模型组合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6089904" y="2852928"/>
            <a:ext cx="4215384" cy="603504"/>
          </a:xfrm>
          <a:prstGeom prst="line">
            <a:avLst/>
          </a:prstGeom>
          <a:noFill/>
          <a:ln w="101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176272" y="3401568"/>
            <a:ext cx="7827264" cy="969264"/>
          </a:xfrm>
          <a:prstGeom prst="roundRect">
            <a:avLst>
              <a:gd name="adj" fmla="val 11321"/>
            </a:avLst>
          </a:prstGeom>
          <a:solidFill>
            <a:srgbClr val="0F172A"/>
          </a:soli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outerShdw blurRad="20320" dist="50800" dir="2700000" algn="bl" rotWithShape="0">
              <a:srgbClr val="334155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377440" y="3602736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智能体编排与应用组装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514600" y="3931920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把知识、数据、工具和模型组合为可执行、可复核、可复用的审计 AI 能力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841248" y="4791456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41248" y="4791456"/>
            <a:ext cx="73152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2416" y="4919472"/>
            <a:ext cx="289864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权限与安全控制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1042416" y="5230368"/>
            <a:ext cx="2898648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部门 / 用户 / 知识库 / 应用 / 数据资源级权限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4626864" y="4791456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26864" y="4791456"/>
            <a:ext cx="73152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4919472"/>
            <a:ext cx="289864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结果依据链条</a:t>
            </a:r>
            <a:endParaRPr lang="en-US" sz="1180" dirty="0"/>
          </a:p>
        </p:txBody>
      </p:sp>
      <p:sp>
        <p:nvSpPr>
          <p:cNvPr id="42" name="Text 40"/>
          <p:cNvSpPr/>
          <p:nvPr/>
        </p:nvSpPr>
        <p:spPr>
          <a:xfrm>
            <a:off x="4828032" y="5230368"/>
            <a:ext cx="2898648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原文片段、SQL、查询结果与任务过程可回溯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8412480" y="4791456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412480" y="4791456"/>
            <a:ext cx="73152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3648" y="4919472"/>
            <a:ext cx="289864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向后平台赋能</a:t>
            </a:r>
            <a:endParaRPr lang="en-US" sz="1180" dirty="0"/>
          </a:p>
        </p:txBody>
      </p:sp>
      <p:sp>
        <p:nvSpPr>
          <p:cNvPr id="46" name="Text 44"/>
          <p:cNvSpPr/>
          <p:nvPr/>
        </p:nvSpPr>
        <p:spPr>
          <a:xfrm>
            <a:off x="8613648" y="5230368"/>
            <a:ext cx="2898648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数据治理、图谱推理、综合分析任务统一调用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713232" y="5788152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智能体平台的价值在于：把 AI 能力从“能问答”升级为“能连接资源、能编排任务”。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BASIC APPLICATIONS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基础智能应用：让审计人员直接使用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基础应用面向一线审计人员，先把高频场景做成可直接使用的入口。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713232" y="1719072"/>
            <a:ext cx="3337560" cy="2670048"/>
          </a:xfrm>
          <a:prstGeom prst="roundRect">
            <a:avLst>
              <a:gd name="adj" fmla="val 2740"/>
            </a:avLst>
          </a:prstGeom>
          <a:solidFill>
            <a:srgbClr val="EFF6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719072"/>
            <a:ext cx="73152" cy="2670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847088"/>
            <a:ext cx="29900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知识库问答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2157984"/>
            <a:ext cx="2990088" cy="21396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制度文件、审计案例、业务材料、项目资料统一入库。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支撑审计知识问答、依据查找、资料检索和内容总结；回答关联原文片段，降低无依据生成风险。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26280" y="1719072"/>
            <a:ext cx="3337560" cy="2670048"/>
          </a:xfrm>
          <a:prstGeom prst="roundRect">
            <a:avLst>
              <a:gd name="adj" fmla="val 2740"/>
            </a:avLst>
          </a:prstGeom>
          <a:solidFill>
            <a:srgbClr val="ECFDF5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1719072"/>
            <a:ext cx="73152" cy="2670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1847088"/>
            <a:ext cx="29900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智能问数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27448" y="2157984"/>
            <a:ext cx="2990088" cy="21396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自然语言提问，平台自动完成库表识别、SQL 生成、查询执行、结果总结和可视化展示。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同时保留 SQL 与查询结果，便于复核数据口径。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339328" y="1719072"/>
            <a:ext cx="3337560" cy="2670048"/>
          </a:xfrm>
          <a:prstGeom prst="roundRect">
            <a:avLst>
              <a:gd name="adj" fmla="val 2740"/>
            </a:avLst>
          </a:prstGeom>
          <a:solidFill>
            <a:srgbClr val="F5F3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39328" y="1719072"/>
            <a:ext cx="73152" cy="2670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0496" y="1847088"/>
            <a:ext cx="29900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文档处理与内容生成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40496" y="2157984"/>
            <a:ext cx="2990088" cy="21396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组合数据库、知识库与模型能力，形成资料问答、文档比对、要素抽取、摘要生成和报告初稿能力。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适合长文档、表格和项目资料处理。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" y="4828032"/>
            <a:ext cx="21762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928616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审计人员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32688" y="5212080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提问 / 上传资料 / 选择数据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2999232" y="5157216"/>
            <a:ext cx="493776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611880" y="4828032"/>
            <a:ext cx="21762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03320" y="4928616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应用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721608" y="5212080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 / 抽取 / 查询 / 比对 / 生成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5788152" y="5157216"/>
            <a:ext cx="493776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00800" y="4828032"/>
            <a:ext cx="21762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4928616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审计结果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10528" y="5212080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 / 表格 / 疑点 / 报告初稿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8577072" y="5157216"/>
            <a:ext cx="493776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189720" y="4828032"/>
            <a:ext cx="21762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281160" y="4928616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复核依据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299448" y="5212080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 / SQL / 数据结果 / 过程留痕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713232" y="5815584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核心变化：把“找资料、查数据、写初稿”的入口统一到自然语言交互。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SCENARIO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典型场景：票据溯源与供应链追查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围绕大额发票向上追查经销、供应和生产链路，识别异常加价、链路过长或关联交易。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713232" y="1700784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EF2F2"/>
          </a:solidFill>
          <a:ln w="12700">
            <a:solidFill>
              <a:srgbClr val="DC2626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700784"/>
            <a:ext cx="73152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828800"/>
            <a:ext cx="29900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传统问题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914400" y="2139696"/>
            <a:ext cx="2990088" cy="1344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发票链路涉及多个主体、多个层级和多张票据。</a:t>
            </a:r>
            <a:endParaRPr lang="en-US" sz="910" dirty="0"/>
          </a:p>
          <a:p>
            <a:pPr marL="0" indent="0">
              <a:buNone/>
            </a:pP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人工追溯需要反复查询、比对和画链路，容易遗漏关键节点。</a:t>
            </a:r>
            <a:endParaRPr lang="en-US" sz="910" dirty="0"/>
          </a:p>
          <a:p>
            <a:pPr marL="0" indent="0">
              <a:buNone/>
            </a:pP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单次分析结果难以沉淀为复用能力。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4425696" y="1700784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EFF6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25696" y="1700784"/>
            <a:ext cx="73152" cy="1874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828800"/>
            <a:ext cx="29900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做法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4626864" y="2139696"/>
            <a:ext cx="2990088" cy="1344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识别发票、货物、供应商、经销商、生产商、金额和时间。</a:t>
            </a:r>
            <a:endParaRPr lang="en-US" sz="910" dirty="0"/>
          </a:p>
          <a:p>
            <a:pPr marL="0" indent="0">
              <a:buNone/>
            </a:pP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通过数据库查询、文本抽取和关系匹配自动组织销售链路。</a:t>
            </a:r>
            <a:endParaRPr lang="en-US" sz="910" dirty="0"/>
          </a:p>
          <a:p>
            <a:pPr marL="0" indent="0">
              <a:buNone/>
            </a:pP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分析链路层级、价格变化和异常节点。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8138160" y="1700784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0FDF4"/>
          </a:solidFill>
          <a:ln w="12700">
            <a:solidFill>
              <a:srgbClr val="16A34A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0" y="1700784"/>
            <a:ext cx="73152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1828800"/>
            <a:ext cx="29900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输出结果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8339328" y="2139696"/>
            <a:ext cx="2990088" cy="1344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输出链路结构、价格变化表、疑点说明和可复核依据。</a:t>
            </a:r>
            <a:endParaRPr lang="en-US" sz="910" dirty="0"/>
          </a:p>
          <a:p>
            <a:pPr marL="0" indent="0">
              <a:buNone/>
            </a:pP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辅助开展合规评估、异常流转路径识别和关联交易分析。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868680" y="4251960"/>
            <a:ext cx="208483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4352544"/>
            <a:ext cx="190195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大额发票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78408" y="4636008"/>
            <a:ext cx="18653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金额 / 货物 / 开票方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2953512" y="4626864"/>
            <a:ext cx="54864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639312" y="4251960"/>
            <a:ext cx="208483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30752" y="4352544"/>
            <a:ext cx="190195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一级经销商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749040" y="4636008"/>
            <a:ext cx="18653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 / 采购关系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5724144" y="4626864"/>
            <a:ext cx="54864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09944" y="4251960"/>
            <a:ext cx="208483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01384" y="4352544"/>
            <a:ext cx="190195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上级供应商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19672" y="4636008"/>
            <a:ext cx="18653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进货发票追溯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8494776" y="4626864"/>
            <a:ext cx="54864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180576" y="4251960"/>
            <a:ext cx="208483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272016" y="4352544"/>
            <a:ext cx="190195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生产商 / 进口商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290304" y="4636008"/>
            <a:ext cx="18653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源头与价格校验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713232" y="5715000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从“人工画链路”变为“AI 自动组织链路，并给出可复核疑点依据”。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SPECIALIZED AGENTS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专有智能体：向数据治理与图谱平台后续赋能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除面向审计人员的基础应用外，平台还沉淀面向后续平台的专有智能体能力。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713232" y="1664208"/>
            <a:ext cx="5230368" cy="3273552"/>
          </a:xfrm>
          <a:prstGeom prst="roundRect">
            <a:avLst>
              <a:gd name="adj" fmla="val 2793"/>
            </a:avLst>
          </a:prstGeom>
          <a:solidFill>
            <a:srgbClr val="ECFDF5"/>
          </a:solidFill>
          <a:ln w="12700">
            <a:solidFill>
              <a:srgbClr val="0F766E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84708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面向数据治理平台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50976" y="2267712"/>
            <a:ext cx="47365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0976" y="2267712"/>
            <a:ext cx="73152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2395728"/>
            <a:ext cx="43891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数据漫游实体搜集智能体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1152144" y="2706624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自动探查库表字段，识别身份证号、手机号、银行卡号、统一社会信用代码等重点实体。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50976" y="3017520"/>
            <a:ext cx="47365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50976" y="3017520"/>
            <a:ext cx="73152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2144" y="3145536"/>
            <a:ext cx="43891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数据贯通智能体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1152144" y="3456432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围绕人、企、单位、项目、资金等对象，发现跨表、跨库、跨系统潜在关联。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50976" y="3767328"/>
            <a:ext cx="473659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0976" y="3767328"/>
            <a:ext cx="73152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52144" y="3895344"/>
            <a:ext cx="43891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历史变更结构化智能体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1152144" y="4206240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抽取工商变更、股权变更、高管变更、法定代表人变更中的时间、主体和前后内容。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36208" y="1664208"/>
            <a:ext cx="5230368" cy="3273552"/>
          </a:xfrm>
          <a:prstGeom prst="roundRect">
            <a:avLst>
              <a:gd name="adj" fmla="val 2793"/>
            </a:avLst>
          </a:prstGeom>
          <a:solidFill>
            <a:srgbClr val="F5F3FF"/>
          </a:solidFill>
          <a:ln w="12700">
            <a:solidFill>
              <a:srgbClr val="6D28D9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83096" y="184708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面向数据图谱平台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473952" y="2359152"/>
            <a:ext cx="473659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73952" y="2359152"/>
            <a:ext cx="73152" cy="7863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2487168"/>
            <a:ext cx="43891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隐含关系挖掘智能体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6675120" y="2798064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基于关系定义、图谱查询模板和大模型推理，发现图谱中未显式存在的潜在关系。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73952" y="3310128"/>
            <a:ext cx="473659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73952" y="3310128"/>
            <a:ext cx="73152" cy="7863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3438144"/>
            <a:ext cx="43891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关系推理与线索发现智能体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6675120" y="3749040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围绕关联交易、利益输送、资金回路和供应链异常执行多跳查询、路径分析和线索生成。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87552" y="5321808"/>
            <a:ext cx="14173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数据探查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2404872" y="5495544"/>
            <a:ext cx="521208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136392" y="5321808"/>
            <a:ext cx="14173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结构化治理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4553712" y="5495544"/>
            <a:ext cx="521208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5285232" y="5321808"/>
            <a:ext cx="14173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实体入图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6702552" y="5495544"/>
            <a:ext cx="521208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7434072" y="5321808"/>
            <a:ext cx="14173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关系推理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8851392" y="5495544"/>
            <a:ext cx="521208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9582912" y="5321808"/>
            <a:ext cx="14173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线索输出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713232" y="5897880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专有智能体负责把 AI 能力嵌入数据治理和图谱推理链路。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SECTION SUMMARY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本章收束：智能体平台向后赋能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智能体平台通过三类能力，构成后续产品体系的 AI 原生底座。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786384" y="1682496"/>
            <a:ext cx="3218688" cy="1261872"/>
          </a:xfrm>
          <a:prstGeom prst="roundRect">
            <a:avLst>
              <a:gd name="adj" fmla="val 5797"/>
            </a:avLst>
          </a:prstGeom>
          <a:solidFill>
            <a:srgbClr val="EFF6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6384" y="1682496"/>
            <a:ext cx="73152" cy="12618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1810512"/>
            <a:ext cx="2871216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资源纳管能力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987552" y="2121408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统一管理模型、知识库、数据库、文档资料、MCP 工具、API 工具和权限体系。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17136" y="1682496"/>
            <a:ext cx="3218688" cy="1261872"/>
          </a:xfrm>
          <a:prstGeom prst="roundRect">
            <a:avLst>
              <a:gd name="adj" fmla="val 5797"/>
            </a:avLst>
          </a:prstGeom>
          <a:solidFill>
            <a:srgbClr val="ECFDF5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17136" y="1682496"/>
            <a:ext cx="73152" cy="1261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810512"/>
            <a:ext cx="2871216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基础智能应用能力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4718304" y="2121408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直接面向审计人员，支撑知识问答、智能问数、文档处理和内容生成。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47888" y="1682496"/>
            <a:ext cx="3218688" cy="1261872"/>
          </a:xfrm>
          <a:prstGeom prst="roundRect">
            <a:avLst>
              <a:gd name="adj" fmla="val 5797"/>
            </a:avLst>
          </a:prstGeom>
          <a:solidFill>
            <a:srgbClr val="F5F3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blurRad="1905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47888" y="1682496"/>
            <a:ext cx="73152" cy="12618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1810512"/>
            <a:ext cx="2871216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专有智能体能力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449056" y="2121408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支撑数据探查、数据漫游、历史变更结构化、隐含关系挖掘和线索发现。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77824" y="3749040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9264" y="3849624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 / 数据 / 工具 / 模型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87552" y="4133088"/>
            <a:ext cx="192938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统一纳管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3026664" y="4123944"/>
            <a:ext cx="5029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648456" y="3749040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39896" y="3849624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智能体编排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758184" y="4133088"/>
            <a:ext cx="192938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能力组装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5797296" y="4123944"/>
            <a:ext cx="5029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19088" y="3749040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10528" y="3849624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治理 / 图谱智能体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28816" y="4133088"/>
            <a:ext cx="192938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向后赋能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8567928" y="4123944"/>
            <a:ext cx="5029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189720" y="3749040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1524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281160" y="3849624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综合分析任务执行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299448" y="4133088"/>
            <a:ext cx="192938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作业承接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960120" y="5074920"/>
            <a:ext cx="10149840" cy="585216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70432" y="5257800"/>
            <a:ext cx="97383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本质上，智能体平台承担的是 AI 能力生产线：前端可直接使用，后端可持续赋能。</a:t>
            </a:r>
            <a:endParaRPr lang="en-US" sz="1420" dirty="0"/>
          </a:p>
        </p:txBody>
      </p:sp>
      <p:sp>
        <p:nvSpPr>
          <p:cNvPr id="41" name="Text 39"/>
          <p:cNvSpPr/>
          <p:nvPr/>
        </p:nvSpPr>
        <p:spPr>
          <a:xfrm>
            <a:off x="713232" y="5815584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下一章进入数据治理平台：让结构化数据和非结构化资料真正变成可用资产。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4691</Words>
  <Application>WPS 演示</Application>
  <PresentationFormat>On-screen Show (16:9)</PresentationFormat>
  <Paragraphs>626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汉仪旗黑</vt:lpstr>
      <vt:lpstr>Noto Sans CJK SC</vt:lpstr>
      <vt:lpstr>Noto Sans CJK SC</vt:lpstr>
      <vt:lpstr>Noto Sans CJK SC</vt:lpstr>
      <vt:lpstr>苹方-简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 + 审计综合解决方案产品介绍</dc:title>
  <dc:creator>OpenAI</dc:creator>
  <dc:subject>AI 原生审计技术体系与产品能力交流</dc:subject>
  <cp:lastModifiedBy>公孙乌龙</cp:lastModifiedBy>
  <cp:revision>2</cp:revision>
  <dcterms:created xsi:type="dcterms:W3CDTF">2026-06-08T01:04:05Z</dcterms:created>
  <dcterms:modified xsi:type="dcterms:W3CDTF">2026-06-08T01:04:05Z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CB0BB9E99FD6A6580515266A31913F97_42</vt:lpwstr>
  </property>
</Properties>
</file>