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D4ED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0" y="1005840"/>
            <a:ext cx="3383280" cy="1097280"/>
          </a:xfrm>
          <a:prstGeom prst="line">
            <a:avLst/>
          </a:prstGeom>
          <a:noFill/>
          <a:ln w="11430">
            <a:solidFill>
              <a:srgbClr val="06B6D4">
                <a:alpha val="5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89520" y="3474720"/>
            <a:ext cx="2926080" cy="-1280160"/>
          </a:xfrm>
          <a:prstGeom prst="line">
            <a:avLst/>
          </a:prstGeom>
          <a:noFill/>
          <a:ln w="13970">
            <a:solidFill>
              <a:srgbClr val="2563EB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0" y="4846320"/>
            <a:ext cx="2011680" cy="-2377440"/>
          </a:xfrm>
          <a:prstGeom prst="line">
            <a:avLst/>
          </a:prstGeom>
          <a:noFill/>
          <a:ln w="10160">
            <a:solidFill>
              <a:srgbClr val="06B6D4">
                <a:alpha val="5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0" y="1005840"/>
            <a:ext cx="146304" cy="14630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98480" y="2103120"/>
            <a:ext cx="182880" cy="1828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89520" y="3474720"/>
            <a:ext cx="118872" cy="11887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515600" y="2194560"/>
            <a:ext cx="137160" cy="13716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0" y="4846320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241280" y="2468880"/>
            <a:ext cx="118872" cy="11887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1170432"/>
            <a:ext cx="740664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人工智能 + 审计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综合解决方案产品介绍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749808" y="265176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原生审计技术体系与产品能力交流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49808" y="3200400"/>
            <a:ext cx="310896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5138928"/>
            <a:ext cx="1645920" cy="256032"/>
          </a:xfrm>
          <a:prstGeom prst="rect">
            <a:avLst/>
          </a:prstGeom>
          <a:solidFill>
            <a:srgbClr val="111827">
              <a:alpha val="88000"/>
            </a:srgbClr>
          </a:solidFill>
          <a:ln w="8890">
            <a:solidFill>
              <a:srgbClr val="06B6D4">
                <a:alpha val="45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数据理解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49808" y="544068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DATA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3127248" y="5138928"/>
            <a:ext cx="1645920" cy="256032"/>
          </a:xfrm>
          <a:prstGeom prst="rect">
            <a:avLst/>
          </a:prstGeom>
          <a:solidFill>
            <a:srgbClr val="111827">
              <a:alpha val="88000"/>
            </a:srgbClr>
          </a:solidFill>
          <a:ln w="8890">
            <a:solidFill>
              <a:srgbClr val="06B6D4">
                <a:alpha val="45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图谱推理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127248" y="544068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GRAPH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5504688" y="5138928"/>
            <a:ext cx="1645920" cy="256032"/>
          </a:xfrm>
          <a:prstGeom prst="rect">
            <a:avLst/>
          </a:prstGeom>
          <a:solidFill>
            <a:srgbClr val="111827">
              <a:alpha val="88000"/>
            </a:srgbClr>
          </a:solidFill>
          <a:ln w="8890">
            <a:solidFill>
              <a:srgbClr val="06B6D4">
                <a:alpha val="45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智能编排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504688" y="544068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7882128" y="5138928"/>
            <a:ext cx="1645920" cy="256032"/>
          </a:xfrm>
          <a:prstGeom prst="rect">
            <a:avLst/>
          </a:prstGeom>
          <a:solidFill>
            <a:srgbClr val="111827">
              <a:alpha val="88000"/>
            </a:srgbClr>
          </a:solidFill>
          <a:ln w="8890">
            <a:solidFill>
              <a:srgbClr val="06B6D4">
                <a:alpha val="45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作业闭环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882128" y="544068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CLOSED LOOP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9857232" y="614476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45分钟交流版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0"/>
            <a:ext cx="36576" cy="6858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21945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CONTENTS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30352" y="438912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目录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30352" y="969264"/>
            <a:ext cx="107442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969264"/>
            <a:ext cx="109728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6473952"/>
            <a:ext cx="1088136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654710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原生审计技术体系与产品能力交流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1018520" y="651052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66928" y="1152144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围绕“为什么需要 AI 原生审计”到“如何形成技术闭环”展开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13232" y="1691640"/>
            <a:ext cx="347472" cy="34747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1760220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680" dirty="0"/>
          </a:p>
        </p:txBody>
      </p:sp>
      <p:sp>
        <p:nvSpPr>
          <p:cNvPr id="14" name="Text 12"/>
          <p:cNvSpPr/>
          <p:nvPr/>
        </p:nvSpPr>
        <p:spPr>
          <a:xfrm>
            <a:off x="1261872" y="1673352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审计智能化演进与关键问题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86968" y="2075688"/>
            <a:ext cx="0" cy="24688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3232" y="2276856"/>
            <a:ext cx="347472" cy="34747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2345436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680" dirty="0"/>
          </a:p>
        </p:txBody>
      </p:sp>
      <p:sp>
        <p:nvSpPr>
          <p:cNvPr id="18" name="Text 16"/>
          <p:cNvSpPr/>
          <p:nvPr/>
        </p:nvSpPr>
        <p:spPr>
          <a:xfrm>
            <a:off x="1261872" y="2258568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原生审计技术底座与能力链路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886968" y="2660904"/>
            <a:ext cx="0" cy="24688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" y="2862072"/>
            <a:ext cx="347472" cy="3474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2930652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1261872" y="2843784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智能体平台：AI 能力生产与编排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886968" y="3246120"/>
            <a:ext cx="0" cy="24688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3232" y="3447288"/>
            <a:ext cx="347472" cy="3474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" y="3515868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1261872" y="3429000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数据治理平台：复杂数据可用性治理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886968" y="3831336"/>
            <a:ext cx="0" cy="24688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3232" y="4032504"/>
            <a:ext cx="347472" cy="3474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3232" y="4101084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1261872" y="4014216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数据图谱平台：关系建模与线索挖掘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886968" y="4416552"/>
            <a:ext cx="0" cy="24688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3232" y="4617720"/>
            <a:ext cx="347472" cy="347472"/>
          </a:xfrm>
          <a:prstGeom prst="ellipse">
            <a:avLst/>
          </a:prstGeom>
          <a:solidFill>
            <a:srgbClr val="6D28D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3232" y="4686300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680" dirty="0"/>
          </a:p>
        </p:txBody>
      </p:sp>
      <p:sp>
        <p:nvSpPr>
          <p:cNvPr id="34" name="Text 32"/>
          <p:cNvSpPr/>
          <p:nvPr/>
        </p:nvSpPr>
        <p:spPr>
          <a:xfrm>
            <a:off x="1261872" y="4599432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综合分析平台：任务执行、技能沉淀与应用承接</a:t>
            </a:r>
            <a:endParaRPr lang="en-US" sz="1450" dirty="0"/>
          </a:p>
        </p:txBody>
      </p:sp>
      <p:sp>
        <p:nvSpPr>
          <p:cNvPr id="35" name="Shape 33"/>
          <p:cNvSpPr/>
          <p:nvPr/>
        </p:nvSpPr>
        <p:spPr>
          <a:xfrm>
            <a:off x="886968" y="5001768"/>
            <a:ext cx="0" cy="24688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13232" y="5202936"/>
            <a:ext cx="347472" cy="347472"/>
          </a:xfrm>
          <a:prstGeom prst="ellipse">
            <a:avLst/>
          </a:prstGeom>
          <a:solidFill>
            <a:srgbClr val="6D28D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3232" y="5271516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1261872" y="5184648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总结：从单点能力到 AI 原生审计闭环</a:t>
            </a:r>
            <a:endParaRPr lang="en-US" sz="1450" dirty="0"/>
          </a:p>
        </p:txBody>
      </p:sp>
      <p:sp>
        <p:nvSpPr>
          <p:cNvPr id="39" name="Shape 37"/>
          <p:cNvSpPr/>
          <p:nvPr/>
        </p:nvSpPr>
        <p:spPr>
          <a:xfrm>
            <a:off x="7818120" y="1691640"/>
            <a:ext cx="3383280" cy="4005072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92440" y="197510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交流重点</a:t>
            </a:r>
            <a:endParaRPr lang="en-US" sz="1700" dirty="0"/>
          </a:p>
        </p:txBody>
      </p:sp>
      <p:sp>
        <p:nvSpPr>
          <p:cNvPr id="41" name="Shape 39"/>
          <p:cNvSpPr/>
          <p:nvPr/>
        </p:nvSpPr>
        <p:spPr>
          <a:xfrm>
            <a:off x="8641080" y="2423160"/>
            <a:ext cx="1737360" cy="0"/>
          </a:xfrm>
          <a:prstGeom prst="line">
            <a:avLst/>
          </a:prstGeom>
          <a:noFill/>
          <a:ln w="30480">
            <a:solidFill>
              <a:srgbClr val="06B6D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183880" y="2743200"/>
            <a:ext cx="2651760" cy="530352"/>
          </a:xfrm>
          <a:prstGeom prst="rect">
            <a:avLst/>
          </a:prstGeom>
          <a:solidFill>
            <a:srgbClr val="EFF6FF"/>
          </a:solidFill>
          <a:ln w="10160">
            <a:solidFill>
              <a:srgbClr val="1D4ED8">
                <a:alpha val="25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技术能力优先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先讲平台底座、能力链路、工程化机制</a:t>
            </a:r>
            <a:endParaRPr lang="en-US" sz="830" dirty="0"/>
          </a:p>
        </p:txBody>
      </p:sp>
      <p:sp>
        <p:nvSpPr>
          <p:cNvPr id="43" name="Text 41"/>
          <p:cNvSpPr/>
          <p:nvPr/>
        </p:nvSpPr>
        <p:spPr>
          <a:xfrm>
            <a:off x="8293608" y="2834640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技术能力优先</a:t>
            </a:r>
            <a:endParaRPr lang="en-US" sz="1120" dirty="0"/>
          </a:p>
        </p:txBody>
      </p:sp>
      <p:sp>
        <p:nvSpPr>
          <p:cNvPr id="44" name="Text 42"/>
          <p:cNvSpPr/>
          <p:nvPr/>
        </p:nvSpPr>
        <p:spPr>
          <a:xfrm>
            <a:off x="8183880" y="3566160"/>
            <a:ext cx="2651760" cy="530352"/>
          </a:xfrm>
          <a:prstGeom prst="rect">
            <a:avLst/>
          </a:prstGeom>
          <a:solidFill>
            <a:srgbClr val="ECFDF5"/>
          </a:solidFill>
          <a:ln w="10160">
            <a:solidFill>
              <a:srgbClr val="0F766E">
                <a:alpha val="25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业务价值承接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用审计场景证明能力有效</a:t>
            </a:r>
            <a:endParaRPr lang="en-US" sz="830" dirty="0"/>
          </a:p>
        </p:txBody>
      </p:sp>
      <p:sp>
        <p:nvSpPr>
          <p:cNvPr id="45" name="Text 43"/>
          <p:cNvSpPr/>
          <p:nvPr/>
        </p:nvSpPr>
        <p:spPr>
          <a:xfrm>
            <a:off x="8293608" y="3657600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F76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业务价值承接</a:t>
            </a:r>
            <a:endParaRPr lang="en-US" sz="1120" dirty="0"/>
          </a:p>
        </p:txBody>
      </p:sp>
      <p:sp>
        <p:nvSpPr>
          <p:cNvPr id="46" name="Text 44"/>
          <p:cNvSpPr/>
          <p:nvPr/>
        </p:nvSpPr>
        <p:spPr>
          <a:xfrm>
            <a:off x="8183880" y="4389120"/>
            <a:ext cx="2651760" cy="530352"/>
          </a:xfrm>
          <a:prstGeom prst="rect">
            <a:avLst/>
          </a:prstGeom>
          <a:solidFill>
            <a:srgbClr val="FFFBEB"/>
          </a:solidFill>
          <a:ln w="10160">
            <a:solidFill>
              <a:srgbClr val="F59E0B">
                <a:alpha val="25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案例数据保留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保留效率提升与批量处理成果</a:t>
            </a:r>
            <a:endParaRPr lang="en-US" sz="830" dirty="0"/>
          </a:p>
        </p:txBody>
      </p:sp>
      <p:sp>
        <p:nvSpPr>
          <p:cNvPr id="47" name="Text 45"/>
          <p:cNvSpPr/>
          <p:nvPr/>
        </p:nvSpPr>
        <p:spPr>
          <a:xfrm>
            <a:off x="8293608" y="4480560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案例数据保留</a:t>
            </a:r>
            <a:endParaRPr lang="en-US" sz="11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0"/>
            <a:ext cx="36576" cy="6858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21945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WHY NOW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30352" y="438912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审计信息化已奠定基础，下一步进入智能化深水区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30352" y="969264"/>
            <a:ext cx="107442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969264"/>
            <a:ext cx="109728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6473952"/>
            <a:ext cx="1088136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654710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原生审计技术体系与产品能力交流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1018520" y="651052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66928" y="1133856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多年信息化建设已经支撑数据、流程和成果管理；复杂化之后，瓶颈转向“理解、穿透、复用”。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713232" y="1572768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已有系统解决的基础问题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13232" y="192024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1D4ED8">
                <a:alpha val="22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13232" y="1920240"/>
            <a:ext cx="73152" cy="10515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048256"/>
            <a:ext cx="28986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数据归集与规则分析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14400" y="2359152"/>
            <a:ext cx="289864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SQL 查询 / 指标模型 / 规则脚本 / 定时任务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4462272" y="192024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0F766E">
                <a:alpha val="22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462272" y="1920240"/>
            <a:ext cx="73152" cy="10515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2048256"/>
            <a:ext cx="28986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审计流程与项目管理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663440" y="2359152"/>
            <a:ext cx="289864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立项 / 方案 / 分工 / 流转 / 归档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8211312" y="1920240"/>
            <a:ext cx="2971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6D28D9">
                <a:alpha val="22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211312" y="1920240"/>
            <a:ext cx="73152" cy="105156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0" y="2048256"/>
            <a:ext cx="26243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底稿与成果管理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412480" y="2359152"/>
            <a:ext cx="26243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取证 / 底稿 / 报告 / 成果沉淀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713232" y="341985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新的三类瓶颈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713232" y="3767328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EF2F2"/>
          </a:solidFill>
          <a:ln w="12700">
            <a:solidFill>
              <a:srgbClr val="DC2626">
                <a:alpha val="22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4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13232" y="3767328"/>
            <a:ext cx="73152" cy="1234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3895344"/>
            <a:ext cx="28986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数据可见，但语义难理解</a:t>
            </a:r>
            <a:endParaRPr lang="en-US" sz="1210" dirty="0"/>
          </a:p>
        </p:txBody>
      </p:sp>
      <p:sp>
        <p:nvSpPr>
          <p:cNvPr id="29" name="Text 27"/>
          <p:cNvSpPr/>
          <p:nvPr/>
        </p:nvSpPr>
        <p:spPr>
          <a:xfrm>
            <a:off x="914400" y="4206240"/>
            <a:ext cx="289864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字段含义、表间关系、资料格式仍高度依赖人工判断。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4416552" y="3767328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EF2F2"/>
          </a:solidFill>
          <a:ln w="12700">
            <a:solidFill>
              <a:srgbClr val="DC2626">
                <a:alpha val="22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4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416552" y="3767328"/>
            <a:ext cx="73152" cy="1234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17720" y="3895344"/>
            <a:ext cx="28986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线索存在，但关系难穿透</a:t>
            </a:r>
            <a:endParaRPr lang="en-US" sz="1210" dirty="0"/>
          </a:p>
        </p:txBody>
      </p:sp>
      <p:sp>
        <p:nvSpPr>
          <p:cNvPr id="33" name="Text 31"/>
          <p:cNvSpPr/>
          <p:nvPr/>
        </p:nvSpPr>
        <p:spPr>
          <a:xfrm>
            <a:off x="4617720" y="4206240"/>
            <a:ext cx="289864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人、企、单位、项目、资金、票据分散在不同系统中。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8119872" y="3767328"/>
            <a:ext cx="2971800" cy="1234440"/>
          </a:xfrm>
          <a:prstGeom prst="roundRect">
            <a:avLst>
              <a:gd name="adj" fmla="val 5926"/>
            </a:avLst>
          </a:prstGeom>
          <a:solidFill>
            <a:srgbClr val="FEF2F2"/>
          </a:solidFill>
          <a:ln w="12700">
            <a:solidFill>
              <a:srgbClr val="DC2626">
                <a:alpha val="22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4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119872" y="3767328"/>
            <a:ext cx="73152" cy="1234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21040" y="3895344"/>
            <a:ext cx="26243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经验成熟，但能力难复制</a:t>
            </a:r>
            <a:endParaRPr lang="en-US" sz="1210" dirty="0"/>
          </a:p>
        </p:txBody>
      </p:sp>
      <p:sp>
        <p:nvSpPr>
          <p:cNvPr id="37" name="Text 35"/>
          <p:cNvSpPr/>
          <p:nvPr/>
        </p:nvSpPr>
        <p:spPr>
          <a:xfrm>
            <a:off x="8321040" y="4206240"/>
            <a:ext cx="262432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核查路径和判断规则沉淀在个人经验中，难以跨项目复用。</a:t>
            </a:r>
            <a:endParaRPr lang="en-US" sz="980" dirty="0"/>
          </a:p>
        </p:txBody>
      </p:sp>
      <p:sp>
        <p:nvSpPr>
          <p:cNvPr id="38" name="Text 36"/>
          <p:cNvSpPr/>
          <p:nvPr/>
        </p:nvSpPr>
        <p:spPr>
          <a:xfrm>
            <a:off x="713232" y="5559552"/>
            <a:ext cx="10716768" cy="411480"/>
          </a:xfrm>
          <a:prstGeom prst="rect">
            <a:avLst/>
          </a:prstGeom>
          <a:solidFill>
            <a:srgbClr val="EFF6FF"/>
          </a:solidFill>
          <a:ln w="10160">
            <a:solidFill>
              <a:srgbClr val="0EA5E9">
                <a:alpha val="3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新阶段需要的不是更多系统入口，而是让 AI 理解数据、发现关系、执行任务。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0"/>
            <a:ext cx="36576" cy="6858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21945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LIMITATIONS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30352" y="438912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大模型带来新能力，但通用 AI 难以直接承接审计作业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30352" y="969264"/>
            <a:ext cx="107442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969264"/>
            <a:ext cx="109728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6473952"/>
            <a:ext cx="1088136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654710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原生审计技术体系与产品能力交流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1018520" y="651052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66928" y="1133856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大模型释放了阅读、抽取、生成与交互能力；但审计场景要求它进入安全、数据、任务与证据链。</a:t>
            </a:r>
            <a:endParaRPr lang="en-US" sz="1280" dirty="0"/>
          </a:p>
        </p:txBody>
      </p:sp>
      <p:sp>
        <p:nvSpPr>
          <p:cNvPr id="12" name="Shape 10"/>
          <p:cNvSpPr/>
          <p:nvPr/>
        </p:nvSpPr>
        <p:spPr>
          <a:xfrm>
            <a:off x="685800" y="1920240"/>
            <a:ext cx="42976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1D4ED8">
                <a:alpha val="3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96112" y="20574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大模型带来的能力空间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32688" y="24688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快速阅读大量资料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32688" y="277977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提取关键信息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32688" y="309067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理解制度、法规和案例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32688" y="34015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生成摘要与报告初稿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32688" y="371246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降低复杂系统使用门槛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532120" y="162763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真实审计场景的四类门槛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532120" y="1938528"/>
            <a:ext cx="5486400" cy="603504"/>
          </a:xfrm>
          <a:prstGeom prst="roundRect">
            <a:avLst>
              <a:gd name="adj" fmla="val 12121"/>
            </a:avLst>
          </a:prstGeom>
          <a:solidFill>
            <a:srgbClr val="FEF2F2"/>
          </a:solidFill>
          <a:ln w="12700">
            <a:solidFill>
              <a:srgbClr val="DC2626">
                <a:alpha val="22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532120" y="1938528"/>
            <a:ext cx="73152" cy="60350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33288" y="2066544"/>
            <a:ext cx="5138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安全边界门槛</a:t>
            </a:r>
            <a:endParaRPr lang="en-US" sz="1180" dirty="0"/>
          </a:p>
        </p:txBody>
      </p:sp>
      <p:sp>
        <p:nvSpPr>
          <p:cNvPr id="23" name="Text 21"/>
          <p:cNvSpPr/>
          <p:nvPr/>
        </p:nvSpPr>
        <p:spPr>
          <a:xfrm>
            <a:off x="5733288" y="2377440"/>
            <a:ext cx="51389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数据不出域 / 权限可控 / 过程留痕 / 结果复核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5532120" y="2706624"/>
            <a:ext cx="5486400" cy="603504"/>
          </a:xfrm>
          <a:prstGeom prst="roundRect">
            <a:avLst>
              <a:gd name="adj" fmla="val 12121"/>
            </a:avLst>
          </a:prstGeom>
          <a:solidFill>
            <a:srgbClr val="EFF6FF"/>
          </a:solidFill>
          <a:ln w="12700">
            <a:solidFill>
              <a:srgbClr val="1D4ED8">
                <a:alpha val="22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532120" y="2706624"/>
            <a:ext cx="73152" cy="60350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33288" y="2834640"/>
            <a:ext cx="5138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真实数据接入门槛</a:t>
            </a:r>
            <a:endParaRPr lang="en-US" sz="1180" dirty="0"/>
          </a:p>
        </p:txBody>
      </p:sp>
      <p:sp>
        <p:nvSpPr>
          <p:cNvPr id="27" name="Text 25"/>
          <p:cNvSpPr/>
          <p:nvPr/>
        </p:nvSpPr>
        <p:spPr>
          <a:xfrm>
            <a:off x="5733288" y="3145536"/>
            <a:ext cx="51389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数据库 / 业务系统 / 图数据库 / 文档资料 / 法规案例库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5532120" y="3474720"/>
            <a:ext cx="5486400" cy="603504"/>
          </a:xfrm>
          <a:prstGeom prst="roundRect">
            <a:avLst>
              <a:gd name="adj" fmla="val 12121"/>
            </a:avLst>
          </a:prstGeom>
          <a:solidFill>
            <a:srgbClr val="ECFDF5"/>
          </a:solidFill>
          <a:ln w="12700">
            <a:solidFill>
              <a:srgbClr val="0F766E">
                <a:alpha val="22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4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532120" y="3474720"/>
            <a:ext cx="73152" cy="60350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33288" y="3602736"/>
            <a:ext cx="5138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专业任务执行门槛</a:t>
            </a:r>
            <a:endParaRPr lang="en-US" sz="1180" dirty="0"/>
          </a:p>
        </p:txBody>
      </p:sp>
      <p:sp>
        <p:nvSpPr>
          <p:cNvPr id="31" name="Text 29"/>
          <p:cNvSpPr/>
          <p:nvPr/>
        </p:nvSpPr>
        <p:spPr>
          <a:xfrm>
            <a:off x="5733288" y="3913632"/>
            <a:ext cx="51389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连续读取 / 抽取 / 比对 / 核验 / 生成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5532120" y="4242816"/>
            <a:ext cx="5486400" cy="603504"/>
          </a:xfrm>
          <a:prstGeom prst="roundRect">
            <a:avLst>
              <a:gd name="adj" fmla="val 12121"/>
            </a:avLst>
          </a:prstGeom>
          <a:solidFill>
            <a:srgbClr val="F5F3FF"/>
          </a:solidFill>
          <a:ln w="12700">
            <a:solidFill>
              <a:srgbClr val="6D28D9">
                <a:alpha val="22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4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532120" y="4242816"/>
            <a:ext cx="73152" cy="60350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33288" y="4370832"/>
            <a:ext cx="5138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证据链闭环门槛</a:t>
            </a:r>
            <a:endParaRPr lang="en-US" sz="1180" dirty="0"/>
          </a:p>
        </p:txBody>
      </p:sp>
      <p:sp>
        <p:nvSpPr>
          <p:cNvPr id="35" name="Text 33"/>
          <p:cNvSpPr/>
          <p:nvPr/>
        </p:nvSpPr>
        <p:spPr>
          <a:xfrm>
            <a:off x="5733288" y="4681728"/>
            <a:ext cx="51389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回到原始资料、原始数据、图谱路径和任务日志</a:t>
            </a:r>
            <a:endParaRPr lang="en-US" sz="880" dirty="0"/>
          </a:p>
        </p:txBody>
      </p:sp>
      <p:sp>
        <p:nvSpPr>
          <p:cNvPr id="36" name="Text 34"/>
          <p:cNvSpPr/>
          <p:nvPr/>
        </p:nvSpPr>
        <p:spPr>
          <a:xfrm>
            <a:off x="713232" y="5559552"/>
            <a:ext cx="10716768" cy="411480"/>
          </a:xfrm>
          <a:prstGeom prst="rect">
            <a:avLst/>
          </a:prstGeom>
          <a:solidFill>
            <a:srgbClr val="EFF6FF"/>
          </a:solidFill>
          <a:ln w="10160">
            <a:solidFill>
              <a:srgbClr val="0EA5E9">
                <a:alpha val="3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审计 AI 的核心不是“能回答”，而是“可信执行”。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0"/>
            <a:ext cx="36576" cy="6858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21945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CLOSED LOOP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30352" y="438912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+ 审计真正要解决的是从数据到任务的闭环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30352" y="969264"/>
            <a:ext cx="107442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969264"/>
            <a:ext cx="109728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6473952"/>
            <a:ext cx="1088136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654710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原生审计技术体系与产品能力交流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1018520" y="651052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66928" y="1133856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不是接入大模型，也不是增加问答入口，而是让 AI 进入完整审计作业链路。</a:t>
            </a:r>
            <a:endParaRPr lang="en-US" sz="1280" dirty="0"/>
          </a:p>
        </p:txBody>
      </p:sp>
      <p:sp>
        <p:nvSpPr>
          <p:cNvPr id="12" name="Shape 10"/>
          <p:cNvSpPr/>
          <p:nvPr/>
        </p:nvSpPr>
        <p:spPr>
          <a:xfrm>
            <a:off x="713232" y="1783080"/>
            <a:ext cx="2468880" cy="1143000"/>
          </a:xfrm>
          <a:prstGeom prst="roundRect">
            <a:avLst>
              <a:gd name="adj" fmla="val 6400"/>
            </a:avLst>
          </a:prstGeom>
          <a:solidFill>
            <a:srgbClr val="EFF6FF"/>
          </a:solidFill>
          <a:ln w="12700">
            <a:solidFill>
              <a:srgbClr val="1D4ED8">
                <a:alpha val="22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13232" y="1783080"/>
            <a:ext cx="73152" cy="11430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1911096"/>
            <a:ext cx="21214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传统大数据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2221992"/>
            <a:ext cx="212140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擅长“跑数”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明确口径下的查询、统计和筛查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8961120" y="1783080"/>
            <a:ext cx="2267712" cy="1143000"/>
          </a:xfrm>
          <a:prstGeom prst="roundRect">
            <a:avLst>
              <a:gd name="adj" fmla="val 6400"/>
            </a:avLst>
          </a:prstGeom>
          <a:solidFill>
            <a:srgbClr val="F5F3FF"/>
          </a:solidFill>
          <a:ln w="12700">
            <a:solidFill>
              <a:srgbClr val="6D28D9">
                <a:alpha val="22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961120" y="1783080"/>
            <a:ext cx="73152" cy="11430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62288" y="1911096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通用 AI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62288" y="2221992"/>
            <a:ext cx="1920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擅长“问答”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文本理解、知识问答和内容生成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2130552" y="3822192"/>
            <a:ext cx="768096" cy="0"/>
          </a:xfrm>
          <a:prstGeom prst="line">
            <a:avLst/>
          </a:prstGeom>
          <a:noFill/>
          <a:ln w="1524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325112" y="3822192"/>
            <a:ext cx="768096" cy="0"/>
          </a:xfrm>
          <a:prstGeom prst="line">
            <a:avLst/>
          </a:prstGeom>
          <a:noFill/>
          <a:ln w="1524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519672" y="3822192"/>
            <a:ext cx="768096" cy="0"/>
          </a:xfrm>
          <a:prstGeom prst="line">
            <a:avLst/>
          </a:prstGeom>
          <a:noFill/>
          <a:ln w="1524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714232" y="3822192"/>
            <a:ext cx="768096" cy="0"/>
          </a:xfrm>
          <a:prstGeom prst="line">
            <a:avLst/>
          </a:prstGeom>
          <a:noFill/>
          <a:ln w="1524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04088" y="3246120"/>
            <a:ext cx="1426464" cy="1143000"/>
          </a:xfrm>
          <a:prstGeom prst="roundRect">
            <a:avLst>
              <a:gd name="adj" fmla="val 6400"/>
            </a:avLst>
          </a:prstGeom>
          <a:solidFill>
            <a:srgbClr val="EFF6FF"/>
          </a:solidFill>
          <a:ln w="15240">
            <a:solidFill>
              <a:srgbClr val="1D4ED8"/>
            </a:solidFill>
            <a:prstDash val="solid"/>
          </a:ln>
          <a:effectLst>
            <a:outerShdw sx="100000" sy="100000" kx="0" ky="0" algn="bl" rotWithShape="0" blurRad="15240" dist="50800" dir="2700000">
              <a:srgbClr val="CBD5E1">
                <a:alpha val="1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95528" y="3346704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数据理解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13816" y="3630168"/>
            <a:ext cx="1207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字段 / 资料 / 实体 / 语义</a:t>
            </a:r>
            <a:endParaRPr lang="en-US" sz="840" dirty="0"/>
          </a:p>
        </p:txBody>
      </p:sp>
      <p:sp>
        <p:nvSpPr>
          <p:cNvPr id="27" name="Shape 25"/>
          <p:cNvSpPr/>
          <p:nvPr/>
        </p:nvSpPr>
        <p:spPr>
          <a:xfrm>
            <a:off x="2898648" y="3246120"/>
            <a:ext cx="1426464" cy="1143000"/>
          </a:xfrm>
          <a:prstGeom prst="roundRect">
            <a:avLst>
              <a:gd name="adj" fmla="val 6400"/>
            </a:avLst>
          </a:prstGeom>
          <a:solidFill>
            <a:srgbClr val="ECFDF5"/>
          </a:solidFill>
          <a:ln w="15240">
            <a:solidFill>
              <a:srgbClr val="0F766E"/>
            </a:solidFill>
            <a:prstDash val="solid"/>
          </a:ln>
          <a:effectLst>
            <a:outerShdw sx="100000" sy="100000" kx="0" ky="0" algn="bl" rotWithShape="0" blurRad="15240" dist="50800" dir="2700000">
              <a:srgbClr val="CBD5E1">
                <a:alpha val="16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990088" y="3346704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关系发现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008376" y="3630168"/>
            <a:ext cx="1207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显性关系 + 隐含关系</a:t>
            </a:r>
            <a:endParaRPr lang="en-US" sz="840" dirty="0"/>
          </a:p>
        </p:txBody>
      </p:sp>
      <p:sp>
        <p:nvSpPr>
          <p:cNvPr id="30" name="Shape 28"/>
          <p:cNvSpPr/>
          <p:nvPr/>
        </p:nvSpPr>
        <p:spPr>
          <a:xfrm>
            <a:off x="5093208" y="3246120"/>
            <a:ext cx="1426464" cy="1143000"/>
          </a:xfrm>
          <a:prstGeom prst="roundRect">
            <a:avLst>
              <a:gd name="adj" fmla="val 6400"/>
            </a:avLst>
          </a:prstGeom>
          <a:solidFill>
            <a:srgbClr val="FFFBEB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" dist="50800" dir="2700000">
              <a:srgbClr val="CBD5E1">
                <a:alpha val="16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184648" y="3346704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任务执行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202936" y="3630168"/>
            <a:ext cx="1207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探查 / 抽取 / 比对 / 核验</a:t>
            </a:r>
            <a:endParaRPr lang="en-US" sz="840" dirty="0"/>
          </a:p>
        </p:txBody>
      </p:sp>
      <p:sp>
        <p:nvSpPr>
          <p:cNvPr id="33" name="Shape 31"/>
          <p:cNvSpPr/>
          <p:nvPr/>
        </p:nvSpPr>
        <p:spPr>
          <a:xfrm>
            <a:off x="7287768" y="3246120"/>
            <a:ext cx="1426464" cy="1143000"/>
          </a:xfrm>
          <a:prstGeom prst="roundRect">
            <a:avLst>
              <a:gd name="adj" fmla="val 6400"/>
            </a:avLst>
          </a:prstGeom>
          <a:solidFill>
            <a:srgbClr val="F5F3FF"/>
          </a:solidFill>
          <a:ln w="15240">
            <a:solidFill>
              <a:srgbClr val="6D28D9"/>
            </a:solidFill>
            <a:prstDash val="solid"/>
          </a:ln>
          <a:effectLst>
            <a:outerShdw sx="100000" sy="100000" kx="0" ky="0" algn="bl" rotWithShape="0" blurRad="15240" dist="50800" dir="2700000">
              <a:srgbClr val="CBD5E1">
                <a:alpha val="16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379208" y="3346704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D28D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证据复核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7397496" y="3630168"/>
            <a:ext cx="1207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原始依据 / 图谱路径 / 任务记录</a:t>
            </a:r>
            <a:endParaRPr lang="en-US" sz="840" dirty="0"/>
          </a:p>
        </p:txBody>
      </p:sp>
      <p:sp>
        <p:nvSpPr>
          <p:cNvPr id="36" name="Shape 34"/>
          <p:cNvSpPr/>
          <p:nvPr/>
        </p:nvSpPr>
        <p:spPr>
          <a:xfrm>
            <a:off x="9482328" y="3246120"/>
            <a:ext cx="1426464" cy="1143000"/>
          </a:xfrm>
          <a:prstGeom prst="roundRect">
            <a:avLst>
              <a:gd name="adj" fmla="val 6400"/>
            </a:avLst>
          </a:prstGeom>
          <a:solidFill>
            <a:srgbClr val="F0FDF4"/>
          </a:solidFill>
          <a:ln w="15240">
            <a:solidFill>
              <a:srgbClr val="16A34A"/>
            </a:solidFill>
            <a:prstDash val="solid"/>
          </a:ln>
          <a:effectLst>
            <a:outerShdw sx="100000" sy="100000" kx="0" ky="0" algn="bl" rotWithShape="0" blurRad="15240" dist="50800" dir="2700000">
              <a:srgbClr val="CBD5E1">
                <a:alpha val="16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9573768" y="3346704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能力沉淀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9592056" y="3630168"/>
            <a:ext cx="1207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思路 / 路径 / 规则可复用</a:t>
            </a:r>
            <a:endParaRPr lang="en-US" sz="840" dirty="0"/>
          </a:p>
        </p:txBody>
      </p:sp>
      <p:sp>
        <p:nvSpPr>
          <p:cNvPr id="39" name="Shape 37"/>
          <p:cNvSpPr/>
          <p:nvPr/>
        </p:nvSpPr>
        <p:spPr>
          <a:xfrm>
            <a:off x="10378440" y="4443984"/>
            <a:ext cx="-8778240" cy="822960"/>
          </a:xfrm>
          <a:prstGeom prst="line">
            <a:avLst/>
          </a:prstGeom>
          <a:noFill/>
          <a:ln w="11430">
            <a:solidFill>
              <a:srgbClr val="06B6D4">
                <a:alpha val="8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40" name="Text 38"/>
          <p:cNvSpPr/>
          <p:nvPr/>
        </p:nvSpPr>
        <p:spPr>
          <a:xfrm>
            <a:off x="4169664" y="510235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形成可持续迭代的作业链路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713232" y="5577840"/>
            <a:ext cx="10716768" cy="411480"/>
          </a:xfrm>
          <a:prstGeom prst="rect">
            <a:avLst/>
          </a:prstGeom>
          <a:solidFill>
            <a:srgbClr val="EFF6FF"/>
          </a:solidFill>
          <a:ln w="10160">
            <a:solidFill>
              <a:srgbClr val="0EA5E9">
                <a:alpha val="3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+ 审计的核心，是把“数据理解—关系发现—任务执行—证据复核—能力沉淀”串成闭环。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0"/>
            <a:ext cx="36576" cy="6858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21945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OUR APPROACH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30352" y="438912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我们的解法：围绕审计作业链路构建 AI 原生体系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30352" y="969264"/>
            <a:ext cx="107442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969264"/>
            <a:ext cx="109728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6473952"/>
            <a:ext cx="1088136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654710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原生审计技术体系与产品能力交流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1018520" y="651052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66928" y="1133856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不是在传统系统外层增加 AI 问答入口，而是重新组织数据、智能体、图谱和综合分析能力。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713232" y="166420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围绕三类核心问题设计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13232" y="205740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EFF6FF"/>
          </a:solidFill>
          <a:ln w="12700">
            <a:solidFill>
              <a:srgbClr val="1D4ED8">
                <a:alpha val="22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13232" y="2057400"/>
            <a:ext cx="73152" cy="13258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185416"/>
            <a:ext cx="28986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如何避免大模型幻觉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914400" y="2496312"/>
            <a:ext cx="289864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原文引用、数据溯源、图谱路径、SQL 和任务记录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4416552" y="205740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ECFDF5"/>
          </a:solidFill>
          <a:ln w="12700">
            <a:solidFill>
              <a:srgbClr val="0F766E">
                <a:alpha val="22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416552" y="2057400"/>
            <a:ext cx="7315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2185416"/>
            <a:ext cx="28986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如何让大模型具备审计思路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4617720" y="2496312"/>
            <a:ext cx="289864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核查路径、判断规则、分析步骤转化为智能体、技能和应用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8119872" y="2057400"/>
            <a:ext cx="3063240" cy="1325880"/>
          </a:xfrm>
          <a:prstGeom prst="roundRect">
            <a:avLst>
              <a:gd name="adj" fmla="val 5517"/>
            </a:avLst>
          </a:prstGeom>
          <a:solidFill>
            <a:srgbClr val="F5F3FF"/>
          </a:solidFill>
          <a:ln w="12700">
            <a:solidFill>
              <a:srgbClr val="6D28D9">
                <a:alpha val="22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119872" y="2057400"/>
            <a:ext cx="73152" cy="132588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21040" y="2185416"/>
            <a:ext cx="2715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如何让大模型与审计人员协作</a:t>
            </a:r>
            <a:endParaRPr lang="en-US" sz="1220" dirty="0"/>
          </a:p>
        </p:txBody>
      </p:sp>
      <p:sp>
        <p:nvSpPr>
          <p:cNvPr id="24" name="Text 22"/>
          <p:cNvSpPr/>
          <p:nvPr/>
        </p:nvSpPr>
        <p:spPr>
          <a:xfrm>
            <a:off x="8321040" y="2496312"/>
            <a:ext cx="271576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处理高频重复工作，审计人员聚焦疑点判断和问题定性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2304288" y="3547872"/>
            <a:ext cx="0" cy="5486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16752" y="3547872"/>
            <a:ext cx="0" cy="5486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729216" y="3547872"/>
            <a:ext cx="0" cy="5486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37560" y="4041648"/>
            <a:ext cx="5440680" cy="658368"/>
          </a:xfrm>
          <a:prstGeom prst="roundRect">
            <a:avLst>
              <a:gd name="adj" fmla="val 13889"/>
            </a:avLst>
          </a:prstGeom>
          <a:solidFill>
            <a:srgbClr val="0F172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37560" y="4187952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原生审计技术体系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822960" y="5120640"/>
            <a:ext cx="1335024" cy="310896"/>
          </a:xfrm>
          <a:prstGeom prst="rect">
            <a:avLst/>
          </a:prstGeom>
          <a:solidFill>
            <a:srgbClr val="EFF6FF"/>
          </a:solidFill>
          <a:ln w="6350">
            <a:solidFill>
              <a:srgbClr val="1D4ED8">
                <a:alpha val="25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数据在域内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670048" y="5120640"/>
            <a:ext cx="1335024" cy="310896"/>
          </a:xfrm>
          <a:prstGeom prst="rect">
            <a:avLst/>
          </a:prstGeom>
          <a:solidFill>
            <a:srgbClr val="ECFDF5"/>
          </a:solidFill>
          <a:ln w="6350">
            <a:solidFill>
              <a:srgbClr val="0F766E">
                <a:alpha val="25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权限可控制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17136" y="5120640"/>
            <a:ext cx="1335024" cy="310896"/>
          </a:xfrm>
          <a:prstGeom prst="rect">
            <a:avLst/>
          </a:prstGeom>
          <a:solidFill>
            <a:srgbClr val="F5F3FF"/>
          </a:solidFill>
          <a:ln w="6350">
            <a:solidFill>
              <a:srgbClr val="6D28D9">
                <a:alpha val="25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D28D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能力可编排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64224" y="5120640"/>
            <a:ext cx="1335024" cy="310896"/>
          </a:xfrm>
          <a:prstGeom prst="rect">
            <a:avLst/>
          </a:prstGeom>
          <a:solidFill>
            <a:srgbClr val="FFFBEB"/>
          </a:solidFill>
          <a:ln w="6350">
            <a:solidFill>
              <a:srgbClr val="F59E0B">
                <a:alpha val="25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过程可监控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211312" y="5120640"/>
            <a:ext cx="1335024" cy="310896"/>
          </a:xfrm>
          <a:prstGeom prst="rect">
            <a:avLst/>
          </a:prstGeom>
          <a:solidFill>
            <a:srgbClr val="F0FDF4"/>
          </a:solidFill>
          <a:ln w="6350">
            <a:solidFill>
              <a:srgbClr val="16A34A">
                <a:alpha val="25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结果可复核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0058400" y="5120640"/>
            <a:ext cx="1335024" cy="310896"/>
          </a:xfrm>
          <a:prstGeom prst="rect">
            <a:avLst/>
          </a:prstGeom>
          <a:solidFill>
            <a:srgbClr val="E0F7FB"/>
          </a:solidFill>
          <a:ln w="6350">
            <a:solidFill>
              <a:srgbClr val="0EA5E9">
                <a:alpha val="25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经验可复用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0"/>
            <a:ext cx="36576" cy="6858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21945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IMPLEMENTATION PATH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30352" y="438912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解法路径：连接存量数据、实际业务与智能体能力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30352" y="969264"/>
            <a:ext cx="107442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969264"/>
            <a:ext cx="109728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6473952"/>
            <a:ext cx="1088136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654710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原生审计技术体系与产品能力交流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1018520" y="651052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66928" y="1133856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不替代现有业务系统，也不重复建设传统数据平台；在已有基础上建立连接层和增量智能能力。</a:t>
            </a:r>
            <a:endParaRPr lang="en-US" sz="1280" dirty="0"/>
          </a:p>
        </p:txBody>
      </p:sp>
      <p:sp>
        <p:nvSpPr>
          <p:cNvPr id="12" name="Shape 10"/>
          <p:cNvSpPr/>
          <p:nvPr/>
        </p:nvSpPr>
        <p:spPr>
          <a:xfrm>
            <a:off x="2450592" y="2907792"/>
            <a:ext cx="320040" cy="0"/>
          </a:xfrm>
          <a:prstGeom prst="line">
            <a:avLst/>
          </a:prstGeom>
          <a:noFill/>
          <a:ln w="1397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148072" y="2907792"/>
            <a:ext cx="320040" cy="0"/>
          </a:xfrm>
          <a:prstGeom prst="line">
            <a:avLst/>
          </a:prstGeom>
          <a:noFill/>
          <a:ln w="1397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845552" y="2907792"/>
            <a:ext cx="320040" cy="0"/>
          </a:xfrm>
          <a:prstGeom prst="line">
            <a:avLst/>
          </a:prstGeom>
          <a:noFill/>
          <a:ln w="1397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13232" y="2212848"/>
            <a:ext cx="2286000" cy="1417320"/>
          </a:xfrm>
          <a:prstGeom prst="roundRect">
            <a:avLst>
              <a:gd name="adj" fmla="val 5161"/>
            </a:avLst>
          </a:prstGeom>
          <a:solidFill>
            <a:srgbClr val="F1F5F9"/>
          </a:solidFill>
          <a:ln w="15240">
            <a:solidFill>
              <a:srgbClr val="334155"/>
            </a:solidFill>
            <a:prstDash val="solid"/>
          </a:ln>
          <a:effectLst>
            <a:outerShdw sx="100000" sy="100000" kx="0" ky="0" algn="bl" rotWithShape="0" blurRad="15240" dist="50800" dir="2700000">
              <a:srgbClr val="CBD5E1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04672" y="231343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已有基础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22960" y="2596896"/>
            <a:ext cx="20665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政务数据与审计数据底座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数据归集 / 数据目录 / 项目资料</a:t>
            </a:r>
            <a:endParaRPr lang="en-US" sz="840" dirty="0"/>
          </a:p>
        </p:txBody>
      </p:sp>
      <p:sp>
        <p:nvSpPr>
          <p:cNvPr id="18" name="Shape 16"/>
          <p:cNvSpPr/>
          <p:nvPr/>
        </p:nvSpPr>
        <p:spPr>
          <a:xfrm>
            <a:off x="3456432" y="2212848"/>
            <a:ext cx="2286000" cy="1417320"/>
          </a:xfrm>
          <a:prstGeom prst="roundRect">
            <a:avLst>
              <a:gd name="adj" fmla="val 5161"/>
            </a:avLst>
          </a:prstGeom>
          <a:solidFill>
            <a:srgbClr val="EFF6FF"/>
          </a:solidFill>
          <a:ln w="15240">
            <a:solidFill>
              <a:srgbClr val="1D4ED8"/>
            </a:solidFill>
            <a:prstDash val="solid"/>
          </a:ln>
          <a:effectLst>
            <a:outerShdw sx="100000" sy="100000" kx="0" ky="0" algn="bl" rotWithShape="0" blurRad="15240" dist="50800" dir="2700000">
              <a:srgbClr val="CBD5E1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547872" y="231343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数据理解层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566160" y="2596896"/>
            <a:ext cx="20665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数据漫游 / 字段识别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文档解析 / 实体识别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6199632" y="2212848"/>
            <a:ext cx="2286000" cy="1417320"/>
          </a:xfrm>
          <a:prstGeom prst="roundRect">
            <a:avLst>
              <a:gd name="adj" fmla="val 5161"/>
            </a:avLst>
          </a:prstGeom>
          <a:solidFill>
            <a:srgbClr val="ECFDF5"/>
          </a:solidFill>
          <a:ln w="15240">
            <a:solidFill>
              <a:srgbClr val="0F766E"/>
            </a:solidFill>
            <a:prstDash val="solid"/>
          </a:ln>
          <a:effectLst>
            <a:outerShdw sx="100000" sy="100000" kx="0" ky="0" algn="bl" rotWithShape="0" blurRad="15240" dist="50800" dir="2700000">
              <a:srgbClr val="CBD5E1">
                <a:alpha val="1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291072" y="231343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图谱关系贯通层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309360" y="2596896"/>
            <a:ext cx="20665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围绕人、企、单位、项目、资金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建立跨系统关系网络</a:t>
            </a:r>
            <a:endParaRPr lang="en-US" sz="840" dirty="0"/>
          </a:p>
        </p:txBody>
      </p:sp>
      <p:sp>
        <p:nvSpPr>
          <p:cNvPr id="24" name="Shape 22"/>
          <p:cNvSpPr/>
          <p:nvPr/>
        </p:nvSpPr>
        <p:spPr>
          <a:xfrm>
            <a:off x="8942832" y="2212848"/>
            <a:ext cx="2286000" cy="1417320"/>
          </a:xfrm>
          <a:prstGeom prst="roundRect">
            <a:avLst>
              <a:gd name="adj" fmla="val 5161"/>
            </a:avLst>
          </a:prstGeom>
          <a:solidFill>
            <a:srgbClr val="F5F3FF"/>
          </a:solidFill>
          <a:ln w="15240">
            <a:solidFill>
              <a:srgbClr val="6D28D9"/>
            </a:solidFill>
            <a:prstDash val="solid"/>
          </a:ln>
          <a:effectLst>
            <a:outerShdw sx="100000" sy="100000" kx="0" ky="0" algn="bl" rotWithShape="0" blurRad="15240" dist="50800" dir="2700000">
              <a:srgbClr val="CBD5E1">
                <a:alpha val="1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034272" y="231343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D28D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智能审计作业层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052560" y="2596896"/>
            <a:ext cx="20665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规则、核查路径、专家经验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封装为智能体、技能、任务和应用</a:t>
            </a:r>
            <a:endParaRPr lang="en-US" sz="840" dirty="0"/>
          </a:p>
        </p:txBody>
      </p:sp>
      <p:sp>
        <p:nvSpPr>
          <p:cNvPr id="27" name="Text 25"/>
          <p:cNvSpPr/>
          <p:nvPr/>
        </p:nvSpPr>
        <p:spPr>
          <a:xfrm>
            <a:off x="713232" y="41605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重点落地五类能力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13232" y="4617720"/>
            <a:ext cx="3063240" cy="310896"/>
          </a:xfrm>
          <a:prstGeom prst="rect">
            <a:avLst/>
          </a:prstGeom>
          <a:solidFill>
            <a:srgbClr val="EFF6FF"/>
          </a:solidFill>
          <a:ln w="6350">
            <a:solidFill>
              <a:srgbClr val="1D4ED8">
                <a:alpha val="25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海量非结构化资料治理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416552" y="4617720"/>
            <a:ext cx="3063240" cy="310896"/>
          </a:xfrm>
          <a:prstGeom prst="rect">
            <a:avLst/>
          </a:prstGeom>
          <a:solidFill>
            <a:srgbClr val="ECFDF5"/>
          </a:solidFill>
          <a:ln w="6350">
            <a:solidFill>
              <a:srgbClr val="0F766E">
                <a:alpha val="25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多源数据贯通与价值挖掘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119872" y="4617720"/>
            <a:ext cx="3154680" cy="310896"/>
          </a:xfrm>
          <a:prstGeom prst="rect">
            <a:avLst/>
          </a:prstGeom>
          <a:solidFill>
            <a:srgbClr val="F5F3FF"/>
          </a:solidFill>
          <a:ln w="6350">
            <a:solidFill>
              <a:srgbClr val="6D28D9">
                <a:alpha val="25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D28D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人、企、单位、项目、资金图谱构建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596896" y="5193792"/>
            <a:ext cx="3063240" cy="310896"/>
          </a:xfrm>
          <a:prstGeom prst="rect">
            <a:avLst/>
          </a:prstGeom>
          <a:solidFill>
            <a:srgbClr val="FFFBEB"/>
          </a:solidFill>
          <a:ln w="6350">
            <a:solidFill>
              <a:srgbClr val="F59E0B">
                <a:alpha val="25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大批量审计核查任务自动执行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345936" y="5193792"/>
            <a:ext cx="3063240" cy="310896"/>
          </a:xfrm>
          <a:prstGeom prst="rect">
            <a:avLst/>
          </a:prstGeom>
          <a:solidFill>
            <a:srgbClr val="F0FDF4"/>
          </a:solidFill>
          <a:ln w="6350">
            <a:solidFill>
              <a:srgbClr val="16A34A">
                <a:alpha val="25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审计思路沉淀与团队共享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0"/>
            <a:ext cx="36576" cy="6858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21945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FROM TOOL TO SYSTEM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30352" y="438912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从单点工具走向 AI 原生审计技术体系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30352" y="969264"/>
            <a:ext cx="107442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969264"/>
            <a:ext cx="109728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6473952"/>
            <a:ext cx="1088136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654710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原生审计技术体系与产品能力交流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1018520" y="651052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66928" y="1133856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+ 审计的核心不是单点工具，而是形成可持续演进的技术体系。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822960" y="1719072"/>
            <a:ext cx="1920240" cy="438912"/>
          </a:xfrm>
          <a:prstGeom prst="rect">
            <a:avLst/>
          </a:prstGeom>
          <a:solidFill>
            <a:srgbClr val="F1F5F9"/>
          </a:solidFill>
          <a:ln w="10160">
            <a:solidFill>
              <a:srgbClr val="E2E8F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问答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907792" y="1938528"/>
            <a:ext cx="886968" cy="0"/>
          </a:xfrm>
          <a:prstGeom prst="line">
            <a:avLst/>
          </a:prstGeom>
          <a:noFill/>
          <a:ln w="1524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3977640" y="1719072"/>
            <a:ext cx="3063240" cy="438912"/>
          </a:xfrm>
          <a:prstGeom prst="rect">
            <a:avLst/>
          </a:prstGeom>
          <a:solidFill>
            <a:srgbClr val="EFF6FF"/>
          </a:solidFill>
          <a:ln w="10160">
            <a:solidFill>
              <a:srgbClr val="0EA5E9">
                <a:alpha val="3000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智能体任务执行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406640" y="17556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不只回答问题，还能围绕审计目标执行多步骤任务。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22960" y="2542032"/>
            <a:ext cx="1920240" cy="438912"/>
          </a:xfrm>
          <a:prstGeom prst="rect">
            <a:avLst/>
          </a:prstGeom>
          <a:solidFill>
            <a:srgbClr val="F1F5F9"/>
          </a:solidFill>
          <a:ln w="10160">
            <a:solidFill>
              <a:srgbClr val="E2E8F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数据查询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907792" y="2761488"/>
            <a:ext cx="886968" cy="0"/>
          </a:xfrm>
          <a:prstGeom prst="line">
            <a:avLst/>
          </a:prstGeom>
          <a:noFill/>
          <a:ln w="1524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3977640" y="2542032"/>
            <a:ext cx="3063240" cy="438912"/>
          </a:xfrm>
          <a:prstGeom prst="rect">
            <a:avLst/>
          </a:prstGeom>
          <a:solidFill>
            <a:srgbClr val="EFF6FF"/>
          </a:solidFill>
          <a:ln w="10160">
            <a:solidFill>
              <a:srgbClr val="0EA5E9">
                <a:alpha val="3000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数据理解与关系发现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406640" y="25786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系统不只查表和跑数，还要理解字段、识别实体、发现关系。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22960" y="3364992"/>
            <a:ext cx="1920240" cy="438912"/>
          </a:xfrm>
          <a:prstGeom prst="rect">
            <a:avLst/>
          </a:prstGeom>
          <a:solidFill>
            <a:srgbClr val="F1F5F9"/>
          </a:solidFill>
          <a:ln w="10160">
            <a:solidFill>
              <a:srgbClr val="E2E8F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单次分析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2907792" y="3584448"/>
            <a:ext cx="886968" cy="0"/>
          </a:xfrm>
          <a:prstGeom prst="line">
            <a:avLst/>
          </a:prstGeom>
          <a:noFill/>
          <a:ln w="1524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3977640" y="3364992"/>
            <a:ext cx="3063240" cy="438912"/>
          </a:xfrm>
          <a:prstGeom prst="rect">
            <a:avLst/>
          </a:prstGeom>
          <a:solidFill>
            <a:srgbClr val="EFF6FF"/>
          </a:solidFill>
          <a:ln w="10160">
            <a:solidFill>
              <a:srgbClr val="0EA5E9">
                <a:alpha val="3000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证据复核与成果沉淀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06640" y="34015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分析结果回到原始依据，并沉淀为后续可复用能力。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22960" y="4187952"/>
            <a:ext cx="1920240" cy="438912"/>
          </a:xfrm>
          <a:prstGeom prst="rect">
            <a:avLst/>
          </a:prstGeom>
          <a:solidFill>
            <a:srgbClr val="F1F5F9"/>
          </a:solidFill>
          <a:ln w="10160">
            <a:solidFill>
              <a:srgbClr val="E2E8F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个人经验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2907792" y="4407408"/>
            <a:ext cx="886968" cy="0"/>
          </a:xfrm>
          <a:prstGeom prst="line">
            <a:avLst/>
          </a:prstGeom>
          <a:noFill/>
          <a:ln w="1524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3977640" y="4187952"/>
            <a:ext cx="3063240" cy="438912"/>
          </a:xfrm>
          <a:prstGeom prst="rect">
            <a:avLst/>
          </a:prstGeom>
          <a:solidFill>
            <a:srgbClr val="EFF6FF"/>
          </a:solidFill>
          <a:ln w="10160">
            <a:solidFill>
              <a:srgbClr val="0EA5E9">
                <a:alpha val="3000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组织级审计能力复用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406640" y="42245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把核查方法和判断逻辑转化为组织级数字能力。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13232" y="5504688"/>
            <a:ext cx="10716768" cy="411480"/>
          </a:xfrm>
          <a:prstGeom prst="rect">
            <a:avLst/>
          </a:prstGeom>
          <a:solidFill>
            <a:srgbClr val="EFF6FF"/>
          </a:solidFill>
          <a:ln w="10160">
            <a:solidFill>
              <a:srgbClr val="0EA5E9">
                <a:alpha val="3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本质上，是让 AI 成为可执行、可复核、可沉淀的审计能力平台。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0"/>
            <a:ext cx="36576" cy="6858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21945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TECH ARCHITECTURE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30352" y="438912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3+1 AI 原生审计技术底座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30352" y="969264"/>
            <a:ext cx="107442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969264"/>
            <a:ext cx="109728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6473952"/>
            <a:ext cx="1088136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654710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原生审计技术体系与产品能力交流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1018520" y="651052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66928" y="1133856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“3”是三类底座能力平台，“1”是一个综合作业平台；四者共同承接真实审计作业。</a:t>
            </a:r>
            <a:endParaRPr lang="en-US" sz="1280" dirty="0"/>
          </a:p>
        </p:txBody>
      </p:sp>
      <p:sp>
        <p:nvSpPr>
          <p:cNvPr id="12" name="Shape 10"/>
          <p:cNvSpPr/>
          <p:nvPr/>
        </p:nvSpPr>
        <p:spPr>
          <a:xfrm>
            <a:off x="2432304" y="3246120"/>
            <a:ext cx="2368296" cy="914400"/>
          </a:xfrm>
          <a:prstGeom prst="line">
            <a:avLst/>
          </a:prstGeom>
          <a:noFill/>
          <a:ln w="1270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025896" y="3246120"/>
            <a:ext cx="64008" cy="914400"/>
          </a:xfrm>
          <a:prstGeom prst="line">
            <a:avLst/>
          </a:prstGeom>
          <a:noFill/>
          <a:ln w="1270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537192" y="3246120"/>
            <a:ext cx="-2176272" cy="914400"/>
          </a:xfrm>
          <a:prstGeom prst="line">
            <a:avLst/>
          </a:prstGeom>
          <a:noFill/>
          <a:ln w="1270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13232" y="1847088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EFF6FF"/>
          </a:solidFill>
          <a:ln w="12700">
            <a:solidFill>
              <a:srgbClr val="1D4ED8">
                <a:alpha val="22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13232" y="1847088"/>
            <a:ext cx="73152" cy="14173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1975104"/>
            <a:ext cx="30815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智能体平台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14400" y="2286000"/>
            <a:ext cx="308152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能力生产与编排底座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 / 知识库 / 数据库 / MCP / API / 权限</a:t>
            </a:r>
            <a:endParaRPr lang="en-US" sz="970" dirty="0"/>
          </a:p>
        </p:txBody>
      </p:sp>
      <p:sp>
        <p:nvSpPr>
          <p:cNvPr id="19" name="Shape 17"/>
          <p:cNvSpPr/>
          <p:nvPr/>
        </p:nvSpPr>
        <p:spPr>
          <a:xfrm>
            <a:off x="4315968" y="1847088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ECFDF5"/>
          </a:solidFill>
          <a:ln w="12700">
            <a:solidFill>
              <a:srgbClr val="0F766E">
                <a:alpha val="22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315968" y="1847088"/>
            <a:ext cx="73152" cy="1417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17136" y="1975104"/>
            <a:ext cx="30815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数据治理平台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517136" y="2286000"/>
            <a:ext cx="308152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复杂数据可用性治理底座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数据探查 / 数据漫游 / 实体识别 / 结构化抽取</a:t>
            </a:r>
            <a:endParaRPr lang="en-US" sz="970" dirty="0"/>
          </a:p>
        </p:txBody>
      </p:sp>
      <p:sp>
        <p:nvSpPr>
          <p:cNvPr id="23" name="Shape 21"/>
          <p:cNvSpPr/>
          <p:nvPr/>
        </p:nvSpPr>
        <p:spPr>
          <a:xfrm>
            <a:off x="7918704" y="1847088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5F3FF"/>
          </a:solidFill>
          <a:ln w="12700">
            <a:solidFill>
              <a:srgbClr val="6D28D9">
                <a:alpha val="22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918704" y="1847088"/>
            <a:ext cx="73152" cy="141732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19872" y="1975104"/>
            <a:ext cx="28986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数据图谱平台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8119872" y="2286000"/>
            <a:ext cx="289864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关系资产化与线索挖掘底座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本体建模 / 关系穿透 / 图计算 / AI 推理</a:t>
            </a:r>
            <a:endParaRPr lang="en-US" sz="970" dirty="0"/>
          </a:p>
        </p:txBody>
      </p:sp>
      <p:sp>
        <p:nvSpPr>
          <p:cNvPr id="27" name="Shape 25"/>
          <p:cNvSpPr/>
          <p:nvPr/>
        </p:nvSpPr>
        <p:spPr>
          <a:xfrm>
            <a:off x="3127248" y="4187952"/>
            <a:ext cx="5943600" cy="1170432"/>
          </a:xfrm>
          <a:prstGeom prst="roundRect">
            <a:avLst>
              <a:gd name="adj" fmla="val 9375"/>
            </a:avLst>
          </a:prstGeom>
          <a:solidFill>
            <a:srgbClr val="0F172A"/>
          </a:solidFill>
          <a:ln w="12700">
            <a:solidFill>
              <a:srgbClr val="333333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334155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291840" y="4407408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综合分析平台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520440" y="47548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审计任务执行与能力沉淀平台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聚合数据、图谱、知识、文档、技能和智能体能力</a:t>
            </a:r>
            <a:endParaRPr lang="en-US" sz="1020" dirty="0"/>
          </a:p>
        </p:txBody>
      </p:sp>
      <p:sp>
        <p:nvSpPr>
          <p:cNvPr id="30" name="Text 28"/>
          <p:cNvSpPr/>
          <p:nvPr/>
        </p:nvSpPr>
        <p:spPr>
          <a:xfrm>
            <a:off x="9646920" y="4343400"/>
            <a:ext cx="14630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 + 1</a:t>
            </a:r>
            <a:endParaRPr lang="en-US" sz="3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0"/>
            <a:ext cx="36576" cy="6858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21945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CAPABILITY STACK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30352" y="438912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四层能力破局：从数据到作业闭环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30352" y="969264"/>
            <a:ext cx="107442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969264"/>
            <a:ext cx="109728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6473952"/>
            <a:ext cx="1088136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654710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原生审计技术体系与产品能力交流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1018520" y="651052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66928" y="1133856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“3+1”产品体系背后，是从数据治理到人机协同的四层能力。</a:t>
            </a:r>
            <a:endParaRPr lang="en-US" sz="1280" dirty="0"/>
          </a:p>
        </p:txBody>
      </p:sp>
      <p:sp>
        <p:nvSpPr>
          <p:cNvPr id="12" name="Shape 10"/>
          <p:cNvSpPr/>
          <p:nvPr/>
        </p:nvSpPr>
        <p:spPr>
          <a:xfrm>
            <a:off x="804672" y="1719072"/>
            <a:ext cx="10378440" cy="621792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rgbClr val="1D4ED8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1819656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第一层：治理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46120" y="180136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解决“数据看得见、用不了”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5806440" y="1837944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数据探查 / 数据漫游 / 文档解析 / 结构化抽取 / 实体识别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804672" y="2569464"/>
            <a:ext cx="10378440" cy="621792"/>
          </a:xfrm>
          <a:prstGeom prst="roundRect">
            <a:avLst>
              <a:gd name="adj" fmla="val 11765"/>
            </a:avLst>
          </a:prstGeom>
          <a:solidFill>
            <a:srgbClr val="ECFDF5"/>
          </a:solidFill>
          <a:ln w="12700">
            <a:solidFill>
              <a:srgbClr val="0F766E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267004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第二层：贯通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46120" y="265176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解决“线索查得到、穿不透”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5806440" y="2688336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围绕人、企、单位、项目、资金、合同、发票建立实体关系网络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804672" y="3419856"/>
            <a:ext cx="10378440" cy="621792"/>
          </a:xfrm>
          <a:prstGeom prst="roundRect">
            <a:avLst>
              <a:gd name="adj" fmla="val 11765"/>
            </a:avLst>
          </a:prstGeom>
          <a:solidFill>
            <a:srgbClr val="F5F3FF"/>
          </a:solidFill>
          <a:ln w="12700">
            <a:solidFill>
              <a:srgbClr val="6D28D9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352044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6D28D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第三层：编排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246120" y="350215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解决“任务难执行、难批量”</a:t>
            </a:r>
            <a:endParaRPr lang="en-US" sz="1220" dirty="0"/>
          </a:p>
        </p:txBody>
      </p:sp>
      <p:sp>
        <p:nvSpPr>
          <p:cNvPr id="23" name="Text 21"/>
          <p:cNvSpPr/>
          <p:nvPr/>
        </p:nvSpPr>
        <p:spPr>
          <a:xfrm>
            <a:off x="5806440" y="3538728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审计规则、核查路径和任务流程封装为智能体、技能和批量任务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804672" y="4270248"/>
            <a:ext cx="10378440" cy="621792"/>
          </a:xfrm>
          <a:prstGeom prst="roundRect">
            <a:avLst>
              <a:gd name="adj" fmla="val 11765"/>
            </a:avLst>
          </a:prstGeom>
          <a:solidFill>
            <a:srgbClr val="FFFBEB"/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43708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第四层：协同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246120" y="435254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解决“过程难复核、能力难沉淀”</a:t>
            </a:r>
            <a:endParaRPr lang="en-US" sz="1220" dirty="0"/>
          </a:p>
        </p:txBody>
      </p:sp>
      <p:sp>
        <p:nvSpPr>
          <p:cNvPr id="27" name="Text 25"/>
          <p:cNvSpPr/>
          <p:nvPr/>
        </p:nvSpPr>
        <p:spPr>
          <a:xfrm>
            <a:off x="5806440" y="4389120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项目空间统一承接数据、知识、图谱、智能体、线索和成果</a:t>
            </a:r>
            <a:endParaRPr lang="en-US" sz="960" dirty="0"/>
          </a:p>
        </p:txBody>
      </p:sp>
      <p:sp>
        <p:nvSpPr>
          <p:cNvPr id="28" name="Shape 26"/>
          <p:cNvSpPr/>
          <p:nvPr/>
        </p:nvSpPr>
        <p:spPr>
          <a:xfrm>
            <a:off x="1828800" y="5285232"/>
            <a:ext cx="1078992" cy="0"/>
          </a:xfrm>
          <a:prstGeom prst="line">
            <a:avLst/>
          </a:prstGeom>
          <a:noFill/>
          <a:ln w="1270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3913632" y="5285232"/>
            <a:ext cx="1078992" cy="0"/>
          </a:xfrm>
          <a:prstGeom prst="line">
            <a:avLst/>
          </a:prstGeom>
          <a:noFill/>
          <a:ln w="1270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5998464" y="5285232"/>
            <a:ext cx="1078992" cy="0"/>
          </a:xfrm>
          <a:prstGeom prst="line">
            <a:avLst/>
          </a:prstGeom>
          <a:noFill/>
          <a:ln w="1270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8083296" y="5285232"/>
            <a:ext cx="1078992" cy="0"/>
          </a:xfrm>
          <a:prstGeom prst="line">
            <a:avLst/>
          </a:prstGeom>
          <a:noFill/>
          <a:ln w="1270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914400" y="5074920"/>
            <a:ext cx="137160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数据治理</a:t>
            </a:r>
            <a:endParaRPr lang="en-US" sz="1130" dirty="0"/>
          </a:p>
        </p:txBody>
      </p:sp>
      <p:sp>
        <p:nvSpPr>
          <p:cNvPr id="33" name="Text 31"/>
          <p:cNvSpPr/>
          <p:nvPr/>
        </p:nvSpPr>
        <p:spPr>
          <a:xfrm>
            <a:off x="2999232" y="5074920"/>
            <a:ext cx="137160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关系发现</a:t>
            </a:r>
            <a:endParaRPr lang="en-US" sz="1130" dirty="0"/>
          </a:p>
        </p:txBody>
      </p:sp>
      <p:sp>
        <p:nvSpPr>
          <p:cNvPr id="34" name="Text 32"/>
          <p:cNvSpPr/>
          <p:nvPr/>
        </p:nvSpPr>
        <p:spPr>
          <a:xfrm>
            <a:off x="5084064" y="5074920"/>
            <a:ext cx="137160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任务执行</a:t>
            </a:r>
            <a:endParaRPr lang="en-US" sz="1130" dirty="0"/>
          </a:p>
        </p:txBody>
      </p:sp>
      <p:sp>
        <p:nvSpPr>
          <p:cNvPr id="35" name="Text 33"/>
          <p:cNvSpPr/>
          <p:nvPr/>
        </p:nvSpPr>
        <p:spPr>
          <a:xfrm>
            <a:off x="7168896" y="5074920"/>
            <a:ext cx="137160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证据复核</a:t>
            </a:r>
            <a:endParaRPr lang="en-US" sz="1130" dirty="0"/>
          </a:p>
        </p:txBody>
      </p:sp>
      <p:sp>
        <p:nvSpPr>
          <p:cNvPr id="36" name="Text 34"/>
          <p:cNvSpPr/>
          <p:nvPr/>
        </p:nvSpPr>
        <p:spPr>
          <a:xfrm>
            <a:off x="9253728" y="5074920"/>
            <a:ext cx="137160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能力沉淀</a:t>
            </a:r>
            <a:endParaRPr lang="en-US" sz="1130" dirty="0"/>
          </a:p>
        </p:txBody>
      </p:sp>
      <p:sp>
        <p:nvSpPr>
          <p:cNvPr id="37" name="Text 35"/>
          <p:cNvSpPr/>
          <p:nvPr/>
        </p:nvSpPr>
        <p:spPr>
          <a:xfrm>
            <a:off x="713232" y="5687568"/>
            <a:ext cx="10716768" cy="411480"/>
          </a:xfrm>
          <a:prstGeom prst="rect">
            <a:avLst/>
          </a:prstGeom>
          <a:solidFill>
            <a:srgbClr val="EFF6FF"/>
          </a:solidFill>
          <a:ln w="10160">
            <a:solidFill>
              <a:srgbClr val="0EA5E9">
                <a:alpha val="3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四层叠加，形成“数据治理—关系发现—任务执行—证据复核—能力沉淀”的审计作业闭环。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人工智能 + 审计综合解决方案产品介绍</dc:title>
  <dc:subject>AI 原生审计技术体系与产品能力交流</dc:subject>
  <dc:creator>OpenAI</dc:creator>
  <cp:lastModifiedBy>OpenAI</cp:lastModifiedBy>
  <cp:revision>1</cp:revision>
  <dcterms:created xsi:type="dcterms:W3CDTF">2026-06-07T08:19:34Z</dcterms:created>
  <dcterms:modified xsi:type="dcterms:W3CDTF">2026-06-07T08:19:34Z</dcterms:modified>
</cp:coreProperties>
</file>