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71c2d984104c27" /><Relationship Type="http://schemas.openxmlformats.org/officeDocument/2006/relationships/extended-properties" Target="/docProps/app.xml" Id="R90a87eb8f27d4256" /><Relationship Type="http://schemas.openxmlformats.org/officeDocument/2006/relationships/officeDocument" Target="/ppt/presentation.xml" Id="R77152c8e571c41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d72ff905b7462b"/>
  </p:sldMasterIdLst>
  <p:notesMasterIdLst>
    <p:notesMasterId xmlns:r="http://schemas.openxmlformats.org/officeDocument/2006/relationships" r:id="R230b81072ad74251"/>
  </p:notesMasterIdLst>
  <p:sldIdLst>
    <p:sldId xmlns:r="http://schemas.openxmlformats.org/officeDocument/2006/relationships" id="256" r:id="Rc3f19e11964f497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0234966d344047" /><Relationship Type="http://schemas.openxmlformats.org/officeDocument/2006/relationships/slideMaster" Target="/ppt/slideMasters/slideMaster1.xml" Id="R9fd72ff905b7462b" /><Relationship Type="http://schemas.openxmlformats.org/officeDocument/2006/relationships/notesMaster" Target="/ppt/notesMasters/notesMaster1.xml" Id="R230b81072ad74251" /><Relationship Type="http://schemas.openxmlformats.org/officeDocument/2006/relationships/presProps" Target="/ppt/presProps.xml" Id="R309a499df6554729" /><Relationship Type="http://schemas.openxmlformats.org/officeDocument/2006/relationships/viewProps" Target="/ppt/viewProps.xml" Id="Rba0222273cf04f57" /><Relationship Type="http://schemas.openxmlformats.org/officeDocument/2006/relationships/tableStyles" Target="/ppt/tableStyles.xml" Id="R1cf67fad2b4b42dd" /><Relationship Type="http://schemas.openxmlformats.org/officeDocument/2006/relationships/slide" Target="/ppt/slides/slide1.xml" Id="Rc3f19e11964f49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448f9de08544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558ebdb2924d08" /><Relationship Type="http://schemas.openxmlformats.org/officeDocument/2006/relationships/notesMaster" Target="/ppt/notesMasters/notesMaster1.xml" Id="R06216411160941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cb983dd284d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4029cded4044ee" /><Relationship Type="http://schemas.openxmlformats.org/officeDocument/2006/relationships/slideLayout" Target="/ppt/slideLayouts/slideLayout1.xml" Id="Rb9f5ba7e698e43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f5ba7e698e43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ea985890a4b28" /><Relationship Type="http://schemas.openxmlformats.org/officeDocument/2006/relationships/image" Target="/ppt/media/image.png" Id="R41ee7a35fe074837" /><Relationship Type="http://schemas.openxmlformats.org/officeDocument/2006/relationships/image" Target="/ppt/media/image2.png" Id="Rfdc537701a144726" /><Relationship Type="http://schemas.openxmlformats.org/officeDocument/2006/relationships/image" Target="/ppt/media/image3.png" Id="R077ae091d97a4c51" /><Relationship Type="http://schemas.openxmlformats.org/officeDocument/2006/relationships/image" Target="/ppt/media/image4.png" Id="Rf4aa54a18cc14022" /><Relationship Type="http://schemas.openxmlformats.org/officeDocument/2006/relationships/image" Target="/ppt/media/image5.png" Id="R2f46ee107f4d419f" /><Relationship Type="http://schemas.openxmlformats.org/officeDocument/2006/relationships/image" Target="/ppt/media/image6.png" Id="R42242c2fd79b498b" /><Relationship Type="http://schemas.openxmlformats.org/officeDocument/2006/relationships/image" Target="/ppt/media/image7.png" Id="Rdce7aeabb1d949d5" /><Relationship Type="http://schemas.openxmlformats.org/officeDocument/2006/relationships/image" Target="/ppt/media/image8.png" Id="R090fd63ef4fb464f" /><Relationship Type="http://schemas.openxmlformats.org/officeDocument/2006/relationships/image" Target="/ppt/media/image9.png" Id="Rcac9aaf22f24498b" /><Relationship Type="http://schemas.openxmlformats.org/officeDocument/2006/relationships/image" Target="/ppt/media/image10.png" Id="R0dc514d1ee8f4769" /><Relationship Type="http://schemas.openxmlformats.org/officeDocument/2006/relationships/image" Target="/ppt/media/image11.png" Id="R3b30ca14d6624ade" /><Relationship Type="http://schemas.openxmlformats.org/officeDocument/2006/relationships/image" Target="/ppt/media/image12.png" Id="Rb6ea867b95084938" /><Relationship Type="http://schemas.openxmlformats.org/officeDocument/2006/relationships/image" Target="/ppt/media/image13.png" Id="R8130dad8e83d4da5" /><Relationship Type="http://schemas.openxmlformats.org/officeDocument/2006/relationships/notesSlide" Target="/ppt/notesSlides/notesSlide1.xml" Id="R2bdcf2cad67a4ba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e7a35fe0748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main-title">
            <a:extLst xmlns:a="http://schemas.openxmlformats.org/drawingml/2006/main">
              <a:ext uri="{FF2B5EF4-FFF2-40B4-BE49-F238E27FC236}">
                <a16:creationId xmlns:a16="http://schemas.microsoft.com/office/drawing/2014/main" id="{3648DB42-CB84-4464-AD82-1D24D166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781050"/>
            <a:ext cx="1066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078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071078"/>
                </a:solidFill>
                <a:latin typeface="PingFang SC"/>
                <a:ea typeface="PingFang SC"/>
                <a:cs typeface="PingFang SC"/>
              </a:rPr>
              <a:t>AI 原生审计产品体系： 用技术链路重构审计作业支撑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618F8-83E0-417B-934F-F896459D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419225"/>
            <a:ext cx="17145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5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193BD-D28C-4DD5-A790-31338D3A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19225"/>
            <a:ext cx="266700" cy="238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ubtitle-line-1">
            <a:extLst xmlns:a="http://schemas.openxmlformats.org/drawingml/2006/main">
              <a:ext uri="{FF2B5EF4-FFF2-40B4-BE49-F238E27FC236}">
                <a16:creationId xmlns:a16="http://schemas.microsoft.com/office/drawing/2014/main" id="{713185ED-B475-4230-BD10-B40240CA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09725"/>
            <a:ext cx="609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我们的解法不是在系统外层增加 AI 问答入口，</a:t>
            </a:r>
          </a:p>
        </p:txBody>
      </p:sp>
      <p:sp>
        <p:nvSpPr>
          <p:cNvPr id="6" name="subtitle-line-2a">
            <a:extLst xmlns:a="http://schemas.openxmlformats.org/drawingml/2006/main">
              <a:ext uri="{FF2B5EF4-FFF2-40B4-BE49-F238E27FC236}">
                <a16:creationId xmlns:a16="http://schemas.microsoft.com/office/drawing/2014/main" id="{D5853376-4D59-4FBA-A59C-35E9ECA4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924050"/>
            <a:ext cx="468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而是围绕真实的审计作业链路， 运用 AI 技术去解决</a:t>
            </a:r>
          </a:p>
        </p:txBody>
      </p:sp>
      <p:sp>
        <p:nvSpPr>
          <p:cNvPr id="7" name="subtitle-line-2b">
            <a:extLst xmlns:a="http://schemas.openxmlformats.org/drawingml/2006/main">
              <a:ext uri="{FF2B5EF4-FFF2-40B4-BE49-F238E27FC236}">
                <a16:creationId xmlns:a16="http://schemas.microsoft.com/office/drawing/2014/main" id="{81A42939-715A-40C3-B5CB-38909AF7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240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349D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349D9"/>
                </a:solidFill>
                <a:latin typeface="PingFang SC"/>
                <a:ea typeface="PingFang SC"/>
                <a:cs typeface="PingFang SC"/>
              </a:rPr>
              <a:t>“AI+审计”</a:t>
            </a:r>
          </a:p>
        </p:txBody>
      </p:sp>
      <p:sp>
        <p:nvSpPr>
          <p:cNvPr id="8" name="subtitle-line-2c">
            <a:extLst xmlns:a="http://schemas.openxmlformats.org/drawingml/2006/main">
              <a:ext uri="{FF2B5EF4-FFF2-40B4-BE49-F238E27FC236}">
                <a16:creationId xmlns:a16="http://schemas.microsoft.com/office/drawing/2014/main" id="{E22937F7-CA11-42CC-B254-0FB32D99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2405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的技术难题。</a:t>
            </a:r>
          </a:p>
        </p:txBody>
      </p:sp>
      <p:sp>
        <p:nvSpPr>
          <p:cNvPr id="9" name="left-panel">
            <a:extLst xmlns:a="http://schemas.openxmlformats.org/drawingml/2006/main">
              <a:ext uri="{FF2B5EF4-FFF2-40B4-BE49-F238E27FC236}">
                <a16:creationId xmlns:a16="http://schemas.microsoft.com/office/drawing/2014/main" id="{9D1D6FA6-5A1C-47CF-840E-AB26A5A7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447925"/>
            <a:ext cx="3257550" cy="35433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2F8FF">
              <a:alpha val="100000"/>
            </a:srgbClr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10" name="重点回答三个问题-tab-fill">
            <a:extLst xmlns:a="http://schemas.openxmlformats.org/drawingml/2006/main">
              <a:ext uri="{FF2B5EF4-FFF2-40B4-BE49-F238E27FC236}">
                <a16:creationId xmlns:a16="http://schemas.microsoft.com/office/drawing/2014/main" id="{C9294E8B-0069-4E62-9AAB-52D4564B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重点回答三个问题-tab-left-cut">
            <a:extLst xmlns:a="http://schemas.openxmlformats.org/drawingml/2006/main">
              <a:ext uri="{FF2B5EF4-FFF2-40B4-BE49-F238E27FC236}">
                <a16:creationId xmlns:a16="http://schemas.microsoft.com/office/drawing/2014/main" id="{9F7C9772-CCDD-4795-BFDE-66E7BD8C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400050" cy="3619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重点回答三个问题-tab-right-cut">
            <a:extLst xmlns:a="http://schemas.openxmlformats.org/drawingml/2006/main">
              <a:ext uri="{FF2B5EF4-FFF2-40B4-BE49-F238E27FC236}">
                <a16:creationId xmlns:a16="http://schemas.microsoft.com/office/drawing/2014/main" id="{AB0C5A06-A897-4F0B-9D3C-FD54C491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828925" y="2495550"/>
            <a:ext cx="400050" cy="3619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重点回答三个问题-tab-label">
            <a:extLst xmlns:a="http://schemas.openxmlformats.org/drawingml/2006/main">
              <a:ext uri="{FF2B5EF4-FFF2-40B4-BE49-F238E27FC236}">
                <a16:creationId xmlns:a16="http://schemas.microsoft.com/office/drawing/2014/main" id="{1899BCAB-C381-478B-8F5D-EFC69EA0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重点回答三个问题</a:t>
            </a:r>
          </a:p>
        </p:txBody>
      </p:sp>
      <p:sp>
        <p:nvSpPr>
          <p:cNvPr id="14" name="left-inner-card">
            <a:extLst xmlns:a="http://schemas.openxmlformats.org/drawingml/2006/main">
              <a:ext uri="{FF2B5EF4-FFF2-40B4-BE49-F238E27FC236}">
                <a16:creationId xmlns:a16="http://schemas.microsoft.com/office/drawing/2014/main" id="{129D57FA-87A5-4DE3-9082-A3E00A41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000375"/>
            <a:ext cx="30480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8FBFF">
              <a:alpha val="100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537701a144726"/>
          <a:stretch xmlns:a="http://schemas.openxmlformats.org/drawingml/2006/main"/>
        </p:blipFill>
        <p:spPr>
          <a:xfrm xmlns:a="http://schemas.openxmlformats.org/drawingml/2006/main">
            <a:off x="581025" y="310515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6" name="left-如何避免大模型幻觉">
            <a:extLst xmlns:a="http://schemas.openxmlformats.org/drawingml/2006/main">
              <a:ext uri="{FF2B5EF4-FFF2-40B4-BE49-F238E27FC236}">
                <a16:creationId xmlns:a16="http://schemas.microsoft.com/office/drawing/2014/main" id="{303C2E98-2FCB-458A-8CEB-359EBB04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219450"/>
            <a:ext cx="1952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如何避免大模型幻觉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50B57-1CFB-4E09-BBBC-FB22309F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914775"/>
            <a:ext cx="279082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ae091d97a4c51"/>
          <a:stretch xmlns:a="http://schemas.openxmlformats.org/drawingml/2006/main"/>
        </p:blipFill>
        <p:spPr>
          <a:xfrm xmlns:a="http://schemas.openxmlformats.org/drawingml/2006/main">
            <a:off x="581025" y="4048125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9" name="left-如何让大模型具备审计思路">
            <a:extLst xmlns:a="http://schemas.openxmlformats.org/drawingml/2006/main">
              <a:ext uri="{FF2B5EF4-FFF2-40B4-BE49-F238E27FC236}">
                <a16:creationId xmlns:a16="http://schemas.microsoft.com/office/drawing/2014/main" id="{820C147A-76A3-4684-B711-495D229B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162425"/>
            <a:ext cx="1952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如何让大模型具备审计思路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5D1687-08D4-4B00-97D6-CE30BC51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48225"/>
            <a:ext cx="279082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a54a18cc14022"/>
          <a:stretch xmlns:a="http://schemas.openxmlformats.org/drawingml/2006/main"/>
        </p:blipFill>
        <p:spPr>
          <a:xfrm xmlns:a="http://schemas.openxmlformats.org/drawingml/2006/main">
            <a:off x="581025" y="499110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22" name="left-如何让大模型与审计人员协作">
            <a:extLst xmlns:a="http://schemas.openxmlformats.org/drawingml/2006/main">
              <a:ext uri="{FF2B5EF4-FFF2-40B4-BE49-F238E27FC236}">
                <a16:creationId xmlns:a16="http://schemas.microsoft.com/office/drawing/2014/main" id="{8AAB9CD6-F392-493C-8826-55E8297E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105400"/>
            <a:ext cx="1952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如何让大模型与审计人员协作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F945BB-B59F-42DE-B96F-58C3A4C8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76650" y="4010025"/>
            <a:ext cx="200025" cy="3238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F8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12EF2-7EFD-4056-9802-3A4C9B85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115300" y="4010025"/>
            <a:ext cx="200025" cy="3238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F8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6ee107f4d419f"/>
          <a:stretch xmlns:a="http://schemas.openxmlformats.org/drawingml/2006/main"/>
        </p:blipFill>
        <p:spPr>
          <a:xfrm xmlns:a="http://schemas.openxmlformats.org/drawingml/2006/main">
            <a:off x="3619500" y="3619500"/>
            <a:ext cx="5048250" cy="2524125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242c2fd79b498b"/>
          <a:stretch xmlns:a="http://schemas.openxmlformats.org/drawingml/2006/main"/>
        </p:blipFill>
        <p:spPr>
          <a:xfrm xmlns:a="http://schemas.openxmlformats.org/drawingml/2006/main">
            <a:off x="4105275" y="2771775"/>
            <a:ext cx="971550" cy="971550"/>
          </a:xfrm>
          <a:prstGeom xmlns:a="http://schemas.openxmlformats.org/drawingml/2006/main" prst="rect">
            <a:avLst/>
          </a:prstGeom>
        </p:spPr>
      </p:pic>
      <p:sp>
        <p:nvSpPr>
          <p:cNvPr id="27" name="存量数据-halo">
            <a:extLst xmlns:a="http://schemas.openxmlformats.org/drawingml/2006/main">
              <a:ext uri="{FF2B5EF4-FFF2-40B4-BE49-F238E27FC236}">
                <a16:creationId xmlns:a16="http://schemas.microsoft.com/office/drawing/2014/main" id="{C7AF44C0-443D-4940-8447-1937E497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05225"/>
            <a:ext cx="800100" cy="32385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383">
            <a:solidFill>
              <a:srgbClr val="8AC7FF"/>
            </a:solidFill>
            <a:prstDash val="solid"/>
          </a:ln>
        </p:spPr>
      </p:sp>
      <p:sp>
        <p:nvSpPr>
          <p:cNvPr id="28" name="node-label-存量数据">
            <a:extLst xmlns:a="http://schemas.openxmlformats.org/drawingml/2006/main">
              <a:ext uri="{FF2B5EF4-FFF2-40B4-BE49-F238E27FC236}">
                <a16:creationId xmlns:a16="http://schemas.microsoft.com/office/drawing/2014/main" id="{E5A1B014-6CFB-4EDD-B4EC-4B2DD326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819525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33D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033D8"/>
                </a:solidFill>
                <a:latin typeface="PingFang SC"/>
                <a:ea typeface="PingFang SC"/>
                <a:cs typeface="PingFang SC"/>
              </a:rPr>
              <a:t>存量数据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7aeabb1d949d5"/>
          <a:stretch xmlns:a="http://schemas.openxmlformats.org/drawingml/2006/main"/>
        </p:blipFill>
        <p:spPr>
          <a:xfrm xmlns:a="http://schemas.openxmlformats.org/drawingml/2006/main">
            <a:off x="5534025" y="2647950"/>
            <a:ext cx="1057275" cy="1057275"/>
          </a:xfrm>
          <a:prstGeom xmlns:a="http://schemas.openxmlformats.org/drawingml/2006/main" prst="rect">
            <a:avLst/>
          </a:prstGeom>
        </p:spPr>
      </p:pic>
      <p:sp>
        <p:nvSpPr>
          <p:cNvPr id="30" name="实际业务-halo">
            <a:extLst xmlns:a="http://schemas.openxmlformats.org/drawingml/2006/main">
              <a:ext uri="{FF2B5EF4-FFF2-40B4-BE49-F238E27FC236}">
                <a16:creationId xmlns:a16="http://schemas.microsoft.com/office/drawing/2014/main" id="{4629CE21-C6C0-4EC0-8C4D-C2FA8C90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67125"/>
            <a:ext cx="885825" cy="32385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383">
            <a:solidFill>
              <a:srgbClr val="8AC7FF"/>
            </a:solidFill>
            <a:prstDash val="solid"/>
          </a:ln>
        </p:spPr>
      </p:sp>
      <p:sp>
        <p:nvSpPr>
          <p:cNvPr id="31" name="node-label-实际业务">
            <a:extLst xmlns:a="http://schemas.openxmlformats.org/drawingml/2006/main">
              <a:ext uri="{FF2B5EF4-FFF2-40B4-BE49-F238E27FC236}">
                <a16:creationId xmlns:a16="http://schemas.microsoft.com/office/drawing/2014/main" id="{36282D6C-95FF-4F9A-96CF-4782ADAC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781425"/>
            <a:ext cx="13239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33D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033D8"/>
                </a:solidFill>
                <a:latin typeface="PingFang SC"/>
                <a:ea typeface="PingFang SC"/>
                <a:cs typeface="PingFang SC"/>
              </a:rPr>
              <a:t>实际业务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fd63ef4fb464f"/>
          <a:stretch xmlns:a="http://schemas.openxmlformats.org/drawingml/2006/main"/>
        </p:blipFill>
        <p:spPr>
          <a:xfrm xmlns:a="http://schemas.openxmlformats.org/drawingml/2006/main">
            <a:off x="7058025" y="2790825"/>
            <a:ext cx="962025" cy="962025"/>
          </a:xfrm>
          <a:prstGeom xmlns:a="http://schemas.openxmlformats.org/drawingml/2006/main" prst="rect">
            <a:avLst/>
          </a:prstGeom>
        </p:spPr>
      </p:pic>
      <p:sp>
        <p:nvSpPr>
          <p:cNvPr id="33" name="智能体能力-halo">
            <a:extLst xmlns:a="http://schemas.openxmlformats.org/drawingml/2006/main">
              <a:ext uri="{FF2B5EF4-FFF2-40B4-BE49-F238E27FC236}">
                <a16:creationId xmlns:a16="http://schemas.microsoft.com/office/drawing/2014/main" id="{8020020E-7B85-48B4-9B30-C36370F4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790575" cy="32385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2383">
            <a:solidFill>
              <a:srgbClr val="8AC7FF"/>
            </a:solidFill>
            <a:prstDash val="solid"/>
          </a:ln>
        </p:spPr>
      </p:sp>
      <p:sp>
        <p:nvSpPr>
          <p:cNvPr id="34" name="node-label-智能体能力">
            <a:extLst xmlns:a="http://schemas.openxmlformats.org/drawingml/2006/main">
              <a:ext uri="{FF2B5EF4-FFF2-40B4-BE49-F238E27FC236}">
                <a16:creationId xmlns:a16="http://schemas.microsoft.com/office/drawing/2014/main" id="{635E8800-52F4-4CB5-989F-D0DD7F1D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829050"/>
            <a:ext cx="1228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33D8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033D8"/>
                </a:solidFill>
                <a:latin typeface="PingFang SC"/>
                <a:ea typeface="PingFang SC"/>
                <a:cs typeface="PingFang SC"/>
              </a:rPr>
              <a:t>智能体能力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9E7D5F-5C56-4C0E-8999-C8A5A2A5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67050"/>
            <a:ext cx="238125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211581-517D-4113-ADDE-2ED305F9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14950" y="302895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E4999A-FF05-4484-A876-5D55A215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352425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6E5830-539A-4B41-999D-72FAFF97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29425" y="3028950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E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bridge-up-arrow">
            <a:extLst xmlns:a="http://schemas.openxmlformats.org/drawingml/2006/main">
              <a:ext uri="{FF2B5EF4-FFF2-40B4-BE49-F238E27FC236}">
                <a16:creationId xmlns:a16="http://schemas.microsoft.com/office/drawing/2014/main" id="{F1E9D09A-FB34-4C75-B7F0-553A1410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05275"/>
            <a:ext cx="590550" cy="8763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bridge-label-plate">
            <a:extLst xmlns:a="http://schemas.openxmlformats.org/drawingml/2006/main">
              <a:ext uri="{FF2B5EF4-FFF2-40B4-BE49-F238E27FC236}">
                <a16:creationId xmlns:a16="http://schemas.microsoft.com/office/drawing/2014/main" id="{0BB5D9A4-EACB-443E-8040-BC99BDA0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95875"/>
            <a:ext cx="354330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F">
              <a:alpha val="100000"/>
            </a:srgbClr>
          </a:solidFill>
          <a:ln xmlns:a="http://schemas.openxmlformats.org/drawingml/2006/main" w="11430">
            <a:solidFill>
              <a:srgbClr val="91C6FF"/>
            </a:solidFill>
            <a:prstDash val="solid"/>
          </a:ln>
        </p:spPr>
      </p:sp>
      <p:sp>
        <p:nvSpPr>
          <p:cNvPr id="41" name="bridge-editable-label">
            <a:extLst xmlns:a="http://schemas.openxmlformats.org/drawingml/2006/main">
              <a:ext uri="{FF2B5EF4-FFF2-40B4-BE49-F238E27FC236}">
                <a16:creationId xmlns:a16="http://schemas.microsoft.com/office/drawing/2014/main" id="{61C606F2-5C71-4063-870C-A576BE0C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95900"/>
            <a:ext cx="1905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0D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40D8"/>
                </a:solidFill>
                <a:latin typeface="PingFang SC"/>
                <a:ea typeface="PingFang SC"/>
                <a:cs typeface="PingFang SC"/>
              </a:rPr>
              <a:t>建立桥梁</a:t>
            </a:r>
          </a:p>
        </p:txBody>
      </p:sp>
      <p:sp>
        <p:nvSpPr>
          <p:cNvPr id="42" name="right-panel">
            <a:extLst xmlns:a="http://schemas.openxmlformats.org/drawingml/2006/main">
              <a:ext uri="{FF2B5EF4-FFF2-40B4-BE49-F238E27FC236}">
                <a16:creationId xmlns:a16="http://schemas.microsoft.com/office/drawing/2014/main" id="{F74E9BDE-AF12-4C8A-BE68-4FCC28A3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247900"/>
            <a:ext cx="3352800" cy="39624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2F8FF">
              <a:alpha val="100000"/>
            </a:srgbClr>
          </a:solidFill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43" name="重点解决的问题-tab-fill">
            <a:extLst xmlns:a="http://schemas.openxmlformats.org/drawingml/2006/main">
              <a:ext uri="{FF2B5EF4-FFF2-40B4-BE49-F238E27FC236}">
                <a16:creationId xmlns:a16="http://schemas.microsoft.com/office/drawing/2014/main" id="{D264EDCC-4B3F-48B9-A4A0-22C7D04F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重点解决的问题-tab-left-cut">
            <a:extLst xmlns:a="http://schemas.openxmlformats.org/drawingml/2006/main">
              <a:ext uri="{FF2B5EF4-FFF2-40B4-BE49-F238E27FC236}">
                <a16:creationId xmlns:a16="http://schemas.microsoft.com/office/drawing/2014/main" id="{D2CEB083-0C99-4C99-A5EB-D00D0BF5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86000"/>
            <a:ext cx="400050" cy="3619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重点解决的问题-tab-right-cut">
            <a:extLst xmlns:a="http://schemas.openxmlformats.org/drawingml/2006/main">
              <a:ext uri="{FF2B5EF4-FFF2-40B4-BE49-F238E27FC236}">
                <a16:creationId xmlns:a16="http://schemas.microsoft.com/office/drawing/2014/main" id="{A56D706B-6365-4CA5-9558-112ACAF9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0858500" y="2286000"/>
            <a:ext cx="400050" cy="3619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1F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重点解决的问题-tab-label">
            <a:extLst xmlns:a="http://schemas.openxmlformats.org/drawingml/2006/main">
              <a:ext uri="{FF2B5EF4-FFF2-40B4-BE49-F238E27FC236}">
                <a16:creationId xmlns:a16="http://schemas.microsoft.com/office/drawing/2014/main" id="{2543716A-52A9-41F9-92B1-895D263D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2410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重点解决的问题</a:t>
            </a:r>
          </a:p>
        </p:txBody>
      </p:sp>
      <p:sp>
        <p:nvSpPr>
          <p:cNvPr id="47" name="right-inner-card">
            <a:extLst xmlns:a="http://schemas.openxmlformats.org/drawingml/2006/main">
              <a:ext uri="{FF2B5EF4-FFF2-40B4-BE49-F238E27FC236}">
                <a16:creationId xmlns:a16="http://schemas.microsoft.com/office/drawing/2014/main" id="{3FDBB028-292F-4480-8375-8F6FC02B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752725"/>
            <a:ext cx="3086100" cy="34290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8FBFF">
              <a:alpha val="100000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9aaf22f24498b"/>
          <a:stretch xmlns:a="http://schemas.openxmlformats.org/drawingml/2006/main"/>
        </p:blipFill>
        <p:spPr>
          <a:xfrm xmlns:a="http://schemas.openxmlformats.org/drawingml/2006/main">
            <a:off x="8686800" y="29527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4899C7-CCDF-4B7F-9495-B4C11D0D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39250" y="31623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6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right-海量非结构化资料">
            <a:extLst xmlns:a="http://schemas.openxmlformats.org/drawingml/2006/main">
              <a:ext uri="{FF2B5EF4-FFF2-40B4-BE49-F238E27FC236}">
                <a16:creationId xmlns:a16="http://schemas.microsoft.com/office/drawing/2014/main" id="{0720BEEE-D979-46B1-A6D8-D2F1F835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00375"/>
            <a:ext cx="2171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海量非结构化资料的数据治理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514d1ee8f4769"/>
          <a:stretch xmlns:a="http://schemas.openxmlformats.org/drawingml/2006/main"/>
        </p:blipFill>
        <p:spPr>
          <a:xfrm xmlns:a="http://schemas.openxmlformats.org/drawingml/2006/main">
            <a:off x="8686800" y="3609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24E51E-2062-417B-8AF4-14BB340F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39250" y="38195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6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right-多源数据贯通与隐">
            <a:extLst xmlns:a="http://schemas.openxmlformats.org/drawingml/2006/main">
              <a:ext uri="{FF2B5EF4-FFF2-40B4-BE49-F238E27FC236}">
                <a16:creationId xmlns:a16="http://schemas.microsoft.com/office/drawing/2014/main" id="{56063876-D978-4157-9AE7-57D1D07F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57600"/>
            <a:ext cx="2171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多源数据贯通与隐含价值挖掘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0ca14d6624ade"/>
          <a:stretch xmlns:a="http://schemas.openxmlformats.org/drawingml/2006/main"/>
        </p:blipFill>
        <p:spPr>
          <a:xfrm xmlns:a="http://schemas.openxmlformats.org/drawingml/2006/main">
            <a:off x="8686800" y="426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FEF91E-09A1-46A7-8350-E5A706F1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39250" y="44767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6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right-人、企、单位、项">
            <a:extLst xmlns:a="http://schemas.openxmlformats.org/drawingml/2006/main">
              <a:ext uri="{FF2B5EF4-FFF2-40B4-BE49-F238E27FC236}">
                <a16:creationId xmlns:a16="http://schemas.microsoft.com/office/drawing/2014/main" id="{C61FC1C2-12EF-44DC-A479-E451FA25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14825"/>
            <a:ext cx="2171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人、企、单位、项目、</a:t>
            </a:r>
          </a:p>
          <a:p xmlns:a="http://schemas.openxmlformats.org/drawingml/2006/main">
            <a:pPr algn="l">
              <a:defRPr sz="1125" b="1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资金图谱搭建与疑点挖掘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ea867b95084938"/>
          <a:stretch xmlns:a="http://schemas.openxmlformats.org/drawingml/2006/main"/>
        </p:blipFill>
        <p:spPr>
          <a:xfrm xmlns:a="http://schemas.openxmlformats.org/drawingml/2006/main">
            <a:off x="8686800" y="503872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77B729-BCD6-4FCA-A817-89A18F75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39250" y="524827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6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right-大批量审计核查任">
            <a:extLst xmlns:a="http://schemas.openxmlformats.org/drawingml/2006/main">
              <a:ext uri="{FF2B5EF4-FFF2-40B4-BE49-F238E27FC236}">
                <a16:creationId xmlns:a16="http://schemas.microsoft.com/office/drawing/2014/main" id="{34AAAD5B-3BFC-4802-B095-B705323F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86350"/>
            <a:ext cx="2171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大批量审计核查任务自动化执行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0dad8e83d4da5"/>
          <a:stretch xmlns:a="http://schemas.openxmlformats.org/drawingml/2006/main"/>
        </p:blipFill>
        <p:spPr>
          <a:xfrm xmlns:a="http://schemas.openxmlformats.org/drawingml/2006/main">
            <a:off x="8686800" y="57054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44192D9-BE4D-4C70-9981-4A9E1106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39250" y="59150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63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right-审计思路沉淀与团">
            <a:extLst xmlns:a="http://schemas.openxmlformats.org/drawingml/2006/main">
              <a:ext uri="{FF2B5EF4-FFF2-40B4-BE49-F238E27FC236}">
                <a16:creationId xmlns:a16="http://schemas.microsoft.com/office/drawing/2014/main" id="{C5C3D2F9-8001-43AA-AF02-EF20AD9A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753100"/>
            <a:ext cx="2171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B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1B25"/>
                </a:solidFill>
                <a:latin typeface="PingFang SC"/>
                <a:ea typeface="PingFang SC"/>
                <a:cs typeface="PingFang SC"/>
              </a:rPr>
              <a:t>审计思路沉淀与团队共享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EDEA5D5-F38C-48C3-8B86-75CA79A8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9090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860434-9C36-4872-AFAC-5A12DF5F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48125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46F815-D672-482E-9CE3-18C2B1EA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62500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3072E9C-5460-47C6-9A98-788D7FEE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419725"/>
            <a:ext cx="285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2916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2026-06-14T08:01:38.8520000Z</dcterms:created>
  <dcterms:modified xsi:type="dcterms:W3CDTF">2026-06-14T08:01:38.8520000Z</dcterms:modified>
</coreProperties>
</file>