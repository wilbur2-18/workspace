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1785f45f874bd1" /><Relationship Type="http://schemas.openxmlformats.org/officeDocument/2006/relationships/extended-properties" Target="/docProps/app.xml" Id="R7e26da4fc5f14235" /><Relationship Type="http://schemas.openxmlformats.org/officeDocument/2006/relationships/officeDocument" Target="/ppt/presentation.xml" Id="R7418c0f5058048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0c6950a3bc4edb"/>
  </p:sldMasterIdLst>
  <p:notesMasterIdLst>
    <p:notesMasterId xmlns:r="http://schemas.openxmlformats.org/officeDocument/2006/relationships" r:id="R2635cd72543d47e4"/>
  </p:notesMasterIdLst>
  <p:sldIdLst>
    <p:sldId xmlns:r="http://schemas.openxmlformats.org/officeDocument/2006/relationships" id="256" r:id="R6cc2abca2fe744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e2d383886f4276" /><Relationship Type="http://schemas.openxmlformats.org/officeDocument/2006/relationships/slideMaster" Target="/ppt/slideMasters/slideMaster1.xml" Id="R620c6950a3bc4edb" /><Relationship Type="http://schemas.openxmlformats.org/officeDocument/2006/relationships/notesMaster" Target="/ppt/notesMasters/notesMaster1.xml" Id="R2635cd72543d47e4" /><Relationship Type="http://schemas.openxmlformats.org/officeDocument/2006/relationships/presProps" Target="/ppt/presProps.xml" Id="R94897f28755649eb" /><Relationship Type="http://schemas.openxmlformats.org/officeDocument/2006/relationships/viewProps" Target="/ppt/viewProps.xml" Id="R8ae2907da1644e03" /><Relationship Type="http://schemas.openxmlformats.org/officeDocument/2006/relationships/tableStyles" Target="/ppt/tableStyles.xml" Id="R0fb59eda0bd4481e" /><Relationship Type="http://schemas.openxmlformats.org/officeDocument/2006/relationships/slide" Target="/ppt/slides/slide1.xml" Id="R6cc2abca2fe744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10472cdebc4b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15f90bb85d4a5a" /><Relationship Type="http://schemas.openxmlformats.org/officeDocument/2006/relationships/notesMaster" Target="/ppt/notesMasters/notesMaster1.xml" Id="R6c17472f753342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87d6cbcb84a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0ce4957d324bcc" /><Relationship Type="http://schemas.openxmlformats.org/officeDocument/2006/relationships/slideLayout" Target="/ppt/slideLayouts/slideLayout1.xml" Id="R663dd8f4b1f249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3dd8f4b1f249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02387e62d4903" /><Relationship Type="http://schemas.openxmlformats.org/officeDocument/2006/relationships/image" Target="/ppt/media/image.png" Id="R079046474d18444f" /><Relationship Type="http://schemas.openxmlformats.org/officeDocument/2006/relationships/image" Target="/ppt/media/image2.png" Id="Ra834017990294ea4" /><Relationship Type="http://schemas.openxmlformats.org/officeDocument/2006/relationships/image" Target="/ppt/media/image3.png" Id="R76c428112c8e4209" /><Relationship Type="http://schemas.openxmlformats.org/officeDocument/2006/relationships/image" Target="/ppt/media/image4.png" Id="R37aa6e2a63d7403b" /><Relationship Type="http://schemas.openxmlformats.org/officeDocument/2006/relationships/image" Target="/ppt/media/image5.png" Id="R66e91816297b43b6" /><Relationship Type="http://schemas.openxmlformats.org/officeDocument/2006/relationships/image" Target="/ppt/media/image6.png" Id="Rd8778c60e8824157" /><Relationship Type="http://schemas.openxmlformats.org/officeDocument/2006/relationships/image" Target="/ppt/media/image7.png" Id="Rdf522730abeb48a3" /><Relationship Type="http://schemas.openxmlformats.org/officeDocument/2006/relationships/image" Target="/ppt/media/image8.png" Id="Rc9e27e22156045c3" /><Relationship Type="http://schemas.openxmlformats.org/officeDocument/2006/relationships/image" Target="/ppt/media/image9.png" Id="R471be2e3934f4a07" /><Relationship Type="http://schemas.openxmlformats.org/officeDocument/2006/relationships/image" Target="/ppt/media/image10.png" Id="R7e34d26f5fd04344" /><Relationship Type="http://schemas.openxmlformats.org/officeDocument/2006/relationships/image" Target="/ppt/media/image11.png" Id="R005eb8abbc3c462d" /><Relationship Type="http://schemas.openxmlformats.org/officeDocument/2006/relationships/image" Target="/ppt/media/image12.png" Id="R33a4ff2cdcdb468e" /><Relationship Type="http://schemas.openxmlformats.org/officeDocument/2006/relationships/image" Target="/ppt/media/image13.png" Id="R2b8cf595bcaa4fd9" /><Relationship Type="http://schemas.openxmlformats.org/officeDocument/2006/relationships/notesSlide" Target="/ppt/notesSlides/notesSlide1.xml" Id="R45b61faeeaa042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046474d1844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main-title">
            <a:extLst xmlns:a="http://schemas.openxmlformats.org/drawingml/2006/main">
              <a:ext uri="{FF2B5EF4-FFF2-40B4-BE49-F238E27FC236}">
                <a16:creationId xmlns:a16="http://schemas.microsoft.com/office/drawing/2014/main" id="{437A7C89-4E29-4DB3-86AB-08256487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810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078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71078"/>
                </a:solidFill>
                <a:latin typeface="PingFang SC"/>
                <a:ea typeface="PingFang SC"/>
                <a:cs typeface="PingFang SC"/>
              </a:rPr>
              <a:t>AI 原生审计产品体系： 用技术链路重构审计作业支撑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661BD-5F46-4ECC-8B69-291C877E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19225"/>
            <a:ext cx="1714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7C5BA-60B3-49B4-A866-A7DA7F90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19225"/>
            <a:ext cx="2667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ubtitle-line-1">
            <a:extLst xmlns:a="http://schemas.openxmlformats.org/drawingml/2006/main">
              <a:ext uri="{FF2B5EF4-FFF2-40B4-BE49-F238E27FC236}">
                <a16:creationId xmlns:a16="http://schemas.microsoft.com/office/drawing/2014/main" id="{466C1864-327E-43C0-9B0A-BDC32347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09725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我们的解法不是在系统外层增加 AI 问答入口，</a:t>
            </a:r>
          </a:p>
        </p:txBody>
      </p:sp>
      <p:sp>
        <p:nvSpPr>
          <p:cNvPr id="6" name="subtitle-line-2a">
            <a:extLst xmlns:a="http://schemas.openxmlformats.org/drawingml/2006/main">
              <a:ext uri="{FF2B5EF4-FFF2-40B4-BE49-F238E27FC236}">
                <a16:creationId xmlns:a16="http://schemas.microsoft.com/office/drawing/2014/main" id="{74ADF936-0DB8-46BB-B3C2-CBECE79C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924050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而是围绕真实的审计作业链路， 运用 AI 技术去解决</a:t>
            </a:r>
          </a:p>
        </p:txBody>
      </p:sp>
      <p:sp>
        <p:nvSpPr>
          <p:cNvPr id="7" name="subtitle-line-2b">
            <a:extLst xmlns:a="http://schemas.openxmlformats.org/drawingml/2006/main">
              <a:ext uri="{FF2B5EF4-FFF2-40B4-BE49-F238E27FC236}">
                <a16:creationId xmlns:a16="http://schemas.microsoft.com/office/drawing/2014/main" id="{3BBD5A10-F37D-44B4-BCF5-35D562C9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349D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349D9"/>
                </a:solidFill>
                <a:latin typeface="PingFang SC"/>
                <a:ea typeface="PingFang SC"/>
                <a:cs typeface="PingFang SC"/>
              </a:rPr>
              <a:t>“AI+审计”</a:t>
            </a:r>
          </a:p>
        </p:txBody>
      </p:sp>
      <p:sp>
        <p:nvSpPr>
          <p:cNvPr id="8" name="subtitle-line-2c">
            <a:extLst xmlns:a="http://schemas.openxmlformats.org/drawingml/2006/main">
              <a:ext uri="{FF2B5EF4-FFF2-40B4-BE49-F238E27FC236}">
                <a16:creationId xmlns:a16="http://schemas.microsoft.com/office/drawing/2014/main" id="{54795AEC-1A1B-4E82-9D06-D68192E1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的技术难题。</a:t>
            </a:r>
          </a:p>
        </p:txBody>
      </p:sp>
      <p:sp>
        <p:nvSpPr>
          <p:cNvPr id="9" name="left-panel">
            <a:extLst xmlns:a="http://schemas.openxmlformats.org/drawingml/2006/main">
              <a:ext uri="{FF2B5EF4-FFF2-40B4-BE49-F238E27FC236}">
                <a16:creationId xmlns:a16="http://schemas.microsoft.com/office/drawing/2014/main" id="{B26B4C87-4098-4CAA-9390-2DFFCE9A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47925"/>
            <a:ext cx="3257550" cy="35433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2F8FF">
              <a:alpha val="100000"/>
            </a:srgbClr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10" name="重点回答三个问题-tab-fill">
            <a:extLst xmlns:a="http://schemas.openxmlformats.org/drawingml/2006/main">
              <a:ext uri="{FF2B5EF4-FFF2-40B4-BE49-F238E27FC236}">
                <a16:creationId xmlns:a16="http://schemas.microsoft.com/office/drawing/2014/main" id="{EAFCBE99-3ED0-4E13-8839-89B36B18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重点回答三个问题-tab-left-cut">
            <a:extLst xmlns:a="http://schemas.openxmlformats.org/drawingml/2006/main">
              <a:ext uri="{FF2B5EF4-FFF2-40B4-BE49-F238E27FC236}">
                <a16:creationId xmlns:a16="http://schemas.microsoft.com/office/drawing/2014/main" id="{6754FC60-9755-4CD0-8ACD-E088FFEB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400050" cy="3619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重点回答三个问题-tab-right-cut">
            <a:extLst xmlns:a="http://schemas.openxmlformats.org/drawingml/2006/main">
              <a:ext uri="{FF2B5EF4-FFF2-40B4-BE49-F238E27FC236}">
                <a16:creationId xmlns:a16="http://schemas.microsoft.com/office/drawing/2014/main" id="{9C981232-07D0-441A-86F6-D42A6645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828925" y="2495550"/>
            <a:ext cx="400050" cy="3619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重点回答三个问题-tab-label">
            <a:extLst xmlns:a="http://schemas.openxmlformats.org/drawingml/2006/main">
              <a:ext uri="{FF2B5EF4-FFF2-40B4-BE49-F238E27FC236}">
                <a16:creationId xmlns:a16="http://schemas.microsoft.com/office/drawing/2014/main" id="{DCD89A7F-FC35-4201-996C-F9EF3709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重点回答三个问题</a:t>
            </a:r>
          </a:p>
        </p:txBody>
      </p:sp>
      <p:sp>
        <p:nvSpPr>
          <p:cNvPr id="14" name="left-inner-card">
            <a:extLst xmlns:a="http://schemas.openxmlformats.org/drawingml/2006/main">
              <a:ext uri="{FF2B5EF4-FFF2-40B4-BE49-F238E27FC236}">
                <a16:creationId xmlns:a16="http://schemas.microsoft.com/office/drawing/2014/main" id="{52041C18-A993-4A0D-B1AE-CFAE0FF6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000375"/>
            <a:ext cx="30480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8FBFF">
              <a:alpha val="100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4017990294ea4"/>
          <a:stretch xmlns:a="http://schemas.openxmlformats.org/drawingml/2006/main"/>
        </p:blipFill>
        <p:spPr>
          <a:xfrm xmlns:a="http://schemas.openxmlformats.org/drawingml/2006/main">
            <a:off x="581025" y="31051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6" name="left-如何避免大模型幻觉">
            <a:extLst xmlns:a="http://schemas.openxmlformats.org/drawingml/2006/main">
              <a:ext uri="{FF2B5EF4-FFF2-40B4-BE49-F238E27FC236}">
                <a16:creationId xmlns:a16="http://schemas.microsoft.com/office/drawing/2014/main" id="{86F09CE1-18E8-4A76-934C-9DE1EF2C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95650"/>
            <a:ext cx="1952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如何避免大模型幻觉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D09C7-10AE-4715-9703-6D2B1609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14775"/>
            <a:ext cx="27908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428112c8e4209"/>
          <a:stretch xmlns:a="http://schemas.openxmlformats.org/drawingml/2006/main"/>
        </p:blipFill>
        <p:spPr>
          <a:xfrm xmlns:a="http://schemas.openxmlformats.org/drawingml/2006/main">
            <a:off x="581025" y="404812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9" name="left-如何让大模型具备审计思路">
            <a:extLst xmlns:a="http://schemas.openxmlformats.org/drawingml/2006/main">
              <a:ext uri="{FF2B5EF4-FFF2-40B4-BE49-F238E27FC236}">
                <a16:creationId xmlns:a16="http://schemas.microsoft.com/office/drawing/2014/main" id="{B8E9C330-B071-4F26-A469-4F366BFC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38625"/>
            <a:ext cx="1952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如何让大模型具备审计思路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65549-CEFD-4BEB-AFEE-52141360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48225"/>
            <a:ext cx="27908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a6e2a63d7403b"/>
          <a:stretch xmlns:a="http://schemas.openxmlformats.org/drawingml/2006/main"/>
        </p:blipFill>
        <p:spPr>
          <a:xfrm xmlns:a="http://schemas.openxmlformats.org/drawingml/2006/main">
            <a:off x="581025" y="499110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22" name="left-如何让大模型与审计人员协作">
            <a:extLst xmlns:a="http://schemas.openxmlformats.org/drawingml/2006/main">
              <a:ext uri="{FF2B5EF4-FFF2-40B4-BE49-F238E27FC236}">
                <a16:creationId xmlns:a16="http://schemas.microsoft.com/office/drawing/2014/main" id="{238B5908-5A3D-4347-AFD3-AB0BC977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181600"/>
            <a:ext cx="1952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如何让大模型与审计人员协作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6B6B7-1F24-45AF-B121-CBD0D6B7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76650" y="4010025"/>
            <a:ext cx="200025" cy="323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F8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67A817-72C2-48DE-81CA-D46DBCF0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15300" y="4010025"/>
            <a:ext cx="200025" cy="323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F8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91816297b43b6"/>
          <a:stretch xmlns:a="http://schemas.openxmlformats.org/drawingml/2006/main"/>
        </p:blipFill>
        <p:spPr>
          <a:xfrm xmlns:a="http://schemas.openxmlformats.org/drawingml/2006/main">
            <a:off x="3619500" y="3619500"/>
            <a:ext cx="5048250" cy="252412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78c60e8824157"/>
          <a:stretch xmlns:a="http://schemas.openxmlformats.org/drawingml/2006/main"/>
        </p:blipFill>
        <p:spPr>
          <a:xfrm xmlns:a="http://schemas.openxmlformats.org/drawingml/2006/main">
            <a:off x="4105275" y="2771775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27" name="存量数据-halo">
            <a:extLst xmlns:a="http://schemas.openxmlformats.org/drawingml/2006/main">
              <a:ext uri="{FF2B5EF4-FFF2-40B4-BE49-F238E27FC236}">
                <a16:creationId xmlns:a16="http://schemas.microsoft.com/office/drawing/2014/main" id="{D36ECF80-6183-4FC0-A293-0AE002F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05225"/>
            <a:ext cx="800100" cy="3238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8AC7FF"/>
            </a:solidFill>
            <a:prstDash val="solid"/>
          </a:ln>
        </p:spPr>
      </p:sp>
      <p:sp>
        <p:nvSpPr>
          <p:cNvPr id="28" name="node-label-存量数据">
            <a:extLst xmlns:a="http://schemas.openxmlformats.org/drawingml/2006/main">
              <a:ext uri="{FF2B5EF4-FFF2-40B4-BE49-F238E27FC236}">
                <a16:creationId xmlns:a16="http://schemas.microsoft.com/office/drawing/2014/main" id="{2784107C-33BE-46BE-BB89-B2E11C53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8195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33D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33D8"/>
                </a:solidFill>
                <a:latin typeface="PingFang SC"/>
                <a:ea typeface="PingFang SC"/>
                <a:cs typeface="PingFang SC"/>
              </a:rPr>
              <a:t>存量数据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22730abeb48a3"/>
          <a:stretch xmlns:a="http://schemas.openxmlformats.org/drawingml/2006/main"/>
        </p:blipFill>
        <p:spPr>
          <a:xfrm xmlns:a="http://schemas.openxmlformats.org/drawingml/2006/main">
            <a:off x="5534025" y="2647950"/>
            <a:ext cx="1057275" cy="1057275"/>
          </a:xfrm>
          <a:prstGeom xmlns:a="http://schemas.openxmlformats.org/drawingml/2006/main" prst="rect">
            <a:avLst/>
          </a:prstGeom>
        </p:spPr>
      </p:pic>
      <p:sp>
        <p:nvSpPr>
          <p:cNvPr id="30" name="实际业务-halo">
            <a:extLst xmlns:a="http://schemas.openxmlformats.org/drawingml/2006/main">
              <a:ext uri="{FF2B5EF4-FFF2-40B4-BE49-F238E27FC236}">
                <a16:creationId xmlns:a16="http://schemas.microsoft.com/office/drawing/2014/main" id="{7F6E1FB0-34C7-49F5-83BA-67DF8236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885825" cy="3238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8AC7FF"/>
            </a:solidFill>
            <a:prstDash val="solid"/>
          </a:ln>
        </p:spPr>
      </p:sp>
      <p:sp>
        <p:nvSpPr>
          <p:cNvPr id="31" name="node-label-实际业务">
            <a:extLst xmlns:a="http://schemas.openxmlformats.org/drawingml/2006/main">
              <a:ext uri="{FF2B5EF4-FFF2-40B4-BE49-F238E27FC236}">
                <a16:creationId xmlns:a16="http://schemas.microsoft.com/office/drawing/2014/main" id="{B9C08C64-973E-4A3F-8B73-FA5E7FB8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81425"/>
            <a:ext cx="1323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33D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33D8"/>
                </a:solidFill>
                <a:latin typeface="PingFang SC"/>
                <a:ea typeface="PingFang SC"/>
                <a:cs typeface="PingFang SC"/>
              </a:rPr>
              <a:t>实际业务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27e22156045c3"/>
          <a:stretch xmlns:a="http://schemas.openxmlformats.org/drawingml/2006/main"/>
        </p:blipFill>
        <p:spPr>
          <a:xfrm xmlns:a="http://schemas.openxmlformats.org/drawingml/2006/main">
            <a:off x="7058025" y="2790825"/>
            <a:ext cx="962025" cy="962025"/>
          </a:xfrm>
          <a:prstGeom xmlns:a="http://schemas.openxmlformats.org/drawingml/2006/main" prst="rect">
            <a:avLst/>
          </a:prstGeom>
        </p:spPr>
      </p:pic>
      <p:sp>
        <p:nvSpPr>
          <p:cNvPr id="33" name="智能体能力-halo">
            <a:extLst xmlns:a="http://schemas.openxmlformats.org/drawingml/2006/main">
              <a:ext uri="{FF2B5EF4-FFF2-40B4-BE49-F238E27FC236}">
                <a16:creationId xmlns:a16="http://schemas.microsoft.com/office/drawing/2014/main" id="{FD1C8A6C-4EE7-486A-9DDA-A2C5A78B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790575" cy="3238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8AC7FF"/>
            </a:solidFill>
            <a:prstDash val="solid"/>
          </a:ln>
        </p:spPr>
      </p:sp>
      <p:sp>
        <p:nvSpPr>
          <p:cNvPr id="34" name="node-label-智能体能力">
            <a:extLst xmlns:a="http://schemas.openxmlformats.org/drawingml/2006/main">
              <a:ext uri="{FF2B5EF4-FFF2-40B4-BE49-F238E27FC236}">
                <a16:creationId xmlns:a16="http://schemas.microsoft.com/office/drawing/2014/main" id="{9162EE8D-8EDD-43A2-A2C6-156C5431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1228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33D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33D8"/>
                </a:solidFill>
                <a:latin typeface="PingFang SC"/>
                <a:ea typeface="PingFang SC"/>
                <a:cs typeface="PingFang SC"/>
              </a:rPr>
              <a:t>智能体能力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C1AA23-EFF9-4F11-93F6-1086F697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2381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F349A5-5C30-48FF-B53F-B1E0E7E9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14950" y="30289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508561-FCA5-46E3-B1A3-1EF0F9DB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3524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89350E-BBAD-42AC-BFDF-A7AA5E50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30289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bridge-up-arrow">
            <a:extLst xmlns:a="http://schemas.openxmlformats.org/drawingml/2006/main">
              <a:ext uri="{FF2B5EF4-FFF2-40B4-BE49-F238E27FC236}">
                <a16:creationId xmlns:a16="http://schemas.microsoft.com/office/drawing/2014/main" id="{85EC510E-0BC5-4769-9FFA-CD96E7A5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05275"/>
            <a:ext cx="590550" cy="8763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bridge-label-plate">
            <a:extLst xmlns:a="http://schemas.openxmlformats.org/drawingml/2006/main">
              <a:ext uri="{FF2B5EF4-FFF2-40B4-BE49-F238E27FC236}">
                <a16:creationId xmlns:a16="http://schemas.microsoft.com/office/drawing/2014/main" id="{6077BDE2-1289-4332-AAE7-827103F4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95875"/>
            <a:ext cx="354330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>
              <a:alpha val="100000"/>
            </a:srgbClr>
          </a:solidFill>
          <a:ln xmlns:a="http://schemas.openxmlformats.org/drawingml/2006/main" w="11430">
            <a:solidFill>
              <a:srgbClr val="91C6FF"/>
            </a:solidFill>
            <a:prstDash val="solid"/>
          </a:ln>
        </p:spPr>
      </p:sp>
      <p:sp>
        <p:nvSpPr>
          <p:cNvPr id="41" name="bridge-editable-label">
            <a:extLst xmlns:a="http://schemas.openxmlformats.org/drawingml/2006/main">
              <a:ext uri="{FF2B5EF4-FFF2-40B4-BE49-F238E27FC236}">
                <a16:creationId xmlns:a16="http://schemas.microsoft.com/office/drawing/2014/main" id="{725CD58C-EF75-433C-88FB-375B74E8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95900"/>
            <a:ext cx="1905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0D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40D8"/>
                </a:solidFill>
                <a:latin typeface="PingFang SC"/>
                <a:ea typeface="PingFang SC"/>
                <a:cs typeface="PingFang SC"/>
              </a:rPr>
              <a:t>建立桥梁</a:t>
            </a:r>
          </a:p>
        </p:txBody>
      </p:sp>
      <p:sp>
        <p:nvSpPr>
          <p:cNvPr id="42" name="right-panel">
            <a:extLst xmlns:a="http://schemas.openxmlformats.org/drawingml/2006/main">
              <a:ext uri="{FF2B5EF4-FFF2-40B4-BE49-F238E27FC236}">
                <a16:creationId xmlns:a16="http://schemas.microsoft.com/office/drawing/2014/main" id="{9ACD2FCC-408D-4944-99B8-3A5CF4C7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47900"/>
            <a:ext cx="3352800" cy="39624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2F8FF">
              <a:alpha val="100000"/>
            </a:srgbClr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43" name="重点解决的问题-tab-fill">
            <a:extLst xmlns:a="http://schemas.openxmlformats.org/drawingml/2006/main">
              <a:ext uri="{FF2B5EF4-FFF2-40B4-BE49-F238E27FC236}">
                <a16:creationId xmlns:a16="http://schemas.microsoft.com/office/drawing/2014/main" id="{67051537-6C0F-4C66-A5CF-8718CA2A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重点解决的问题-tab-left-cut">
            <a:extLst xmlns:a="http://schemas.openxmlformats.org/drawingml/2006/main">
              <a:ext uri="{FF2B5EF4-FFF2-40B4-BE49-F238E27FC236}">
                <a16:creationId xmlns:a16="http://schemas.microsoft.com/office/drawing/2014/main" id="{F331FF9E-D5F1-488D-9044-F52F648E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86000"/>
            <a:ext cx="400050" cy="3619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重点解决的问题-tab-right-cut">
            <a:extLst xmlns:a="http://schemas.openxmlformats.org/drawingml/2006/main">
              <a:ext uri="{FF2B5EF4-FFF2-40B4-BE49-F238E27FC236}">
                <a16:creationId xmlns:a16="http://schemas.microsoft.com/office/drawing/2014/main" id="{65722A28-6A7F-41A6-9704-E2ECE148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858500" y="2286000"/>
            <a:ext cx="400050" cy="3619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重点解决的问题-tab-label">
            <a:extLst xmlns:a="http://schemas.openxmlformats.org/drawingml/2006/main">
              <a:ext uri="{FF2B5EF4-FFF2-40B4-BE49-F238E27FC236}">
                <a16:creationId xmlns:a16="http://schemas.microsoft.com/office/drawing/2014/main" id="{F3EB5742-3D3E-478C-9FB1-BCA91351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重点解决的问题</a:t>
            </a:r>
          </a:p>
        </p:txBody>
      </p:sp>
      <p:sp>
        <p:nvSpPr>
          <p:cNvPr id="47" name="right-inner-card">
            <a:extLst xmlns:a="http://schemas.openxmlformats.org/drawingml/2006/main">
              <a:ext uri="{FF2B5EF4-FFF2-40B4-BE49-F238E27FC236}">
                <a16:creationId xmlns:a16="http://schemas.microsoft.com/office/drawing/2014/main" id="{1325ED61-28E5-4588-88DC-F00AD6A7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52725"/>
            <a:ext cx="3086100" cy="3305175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8FBFF">
              <a:alpha val="100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be2e3934f4a07"/>
          <a:stretch xmlns:a="http://schemas.openxmlformats.org/drawingml/2006/main"/>
        </p:blipFill>
        <p:spPr>
          <a:xfrm xmlns:a="http://schemas.openxmlformats.org/drawingml/2006/main">
            <a:off x="8686800" y="29527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102C71-F145-44EC-8A11-DAB811FC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31623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6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ight-海量非结构化资料">
            <a:extLst xmlns:a="http://schemas.openxmlformats.org/drawingml/2006/main">
              <a:ext uri="{FF2B5EF4-FFF2-40B4-BE49-F238E27FC236}">
                <a16:creationId xmlns:a16="http://schemas.microsoft.com/office/drawing/2014/main" id="{31A33757-B6BF-4FE6-AECF-0157BD6D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00375"/>
            <a:ext cx="2400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海量非结构化资料的数据治理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4d26f5fd04344"/>
          <a:stretch xmlns:a="http://schemas.openxmlformats.org/drawingml/2006/main"/>
        </p:blipFill>
        <p:spPr>
          <a:xfrm xmlns:a="http://schemas.openxmlformats.org/drawingml/2006/main">
            <a:off x="8686800" y="3609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925086-E0BD-43E1-AA58-45244703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3819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6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ight-多源数据贯通与隐">
            <a:extLst xmlns:a="http://schemas.openxmlformats.org/drawingml/2006/main">
              <a:ext uri="{FF2B5EF4-FFF2-40B4-BE49-F238E27FC236}">
                <a16:creationId xmlns:a16="http://schemas.microsoft.com/office/drawing/2014/main" id="{8E8E74F6-A272-4027-80BB-27AA829E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57600"/>
            <a:ext cx="2400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多源数据贯通与隐含价值挖掘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eb8abbc3c462d"/>
          <a:stretch xmlns:a="http://schemas.openxmlformats.org/drawingml/2006/main"/>
        </p:blipFill>
        <p:spPr>
          <a:xfrm xmlns:a="http://schemas.openxmlformats.org/drawingml/2006/main">
            <a:off x="8686800" y="426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1C6331-9C29-434E-ACBF-7FB50F77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44767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6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ight-人、企、单位、项">
            <a:extLst xmlns:a="http://schemas.openxmlformats.org/drawingml/2006/main">
              <a:ext uri="{FF2B5EF4-FFF2-40B4-BE49-F238E27FC236}">
                <a16:creationId xmlns:a16="http://schemas.microsoft.com/office/drawing/2014/main" id="{0569BB3D-5515-4A39-9AE9-65399E18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14825"/>
            <a:ext cx="240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人、企、单位、项目、</a:t>
            </a:r>
          </a:p>
          <a:p xmlns:a="http://schemas.openxmlformats.org/drawingml/2006/main">
            <a:pPr algn="l">
              <a:defRPr sz="1200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资金图谱搭建与疑点挖掘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4ff2cdcdb468e"/>
          <a:stretch xmlns:a="http://schemas.openxmlformats.org/drawingml/2006/main"/>
        </p:blipFill>
        <p:spPr>
          <a:xfrm xmlns:a="http://schemas.openxmlformats.org/drawingml/2006/main">
            <a:off x="8686800" y="50387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E40DA3-CA62-4EC5-BA8F-61BCCCDA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52482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6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ight-大批量审计核查任">
            <a:extLst xmlns:a="http://schemas.openxmlformats.org/drawingml/2006/main">
              <a:ext uri="{FF2B5EF4-FFF2-40B4-BE49-F238E27FC236}">
                <a16:creationId xmlns:a16="http://schemas.microsoft.com/office/drawing/2014/main" id="{B7A90A3B-492F-40A8-9F7F-35B0D0EB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86350"/>
            <a:ext cx="2400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大批量审计核查任务自动化执行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f595bcaa4fd9"/>
          <a:stretch xmlns:a="http://schemas.openxmlformats.org/drawingml/2006/main"/>
        </p:blipFill>
        <p:spPr>
          <a:xfrm xmlns:a="http://schemas.openxmlformats.org/drawingml/2006/main">
            <a:off x="8686800" y="57054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AC2AFF-33DE-42A9-8A3B-69CD70ED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5915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6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ight-审计思路沉淀与团">
            <a:extLst xmlns:a="http://schemas.openxmlformats.org/drawingml/2006/main">
              <a:ext uri="{FF2B5EF4-FFF2-40B4-BE49-F238E27FC236}">
                <a16:creationId xmlns:a16="http://schemas.microsoft.com/office/drawing/2014/main" id="{C4F283C6-EA13-43FF-A66F-5663DD36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53100"/>
            <a:ext cx="2400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审计思路沉淀与团队共享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44584F-DD14-493B-B696-F166AD70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D25C77C-4D35-417B-AD7E-CB501727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48125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0A6386B-9130-42EF-BC8D-67D5A068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625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5563FB-8F7B-4B47-84CC-530F6ED7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19725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7163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2026-06-14T07:56:55.3620000Z</dcterms:created>
  <dcterms:modified xsi:type="dcterms:W3CDTF">2026-06-14T07:56:55.3620000Z</dcterms:modified>
</coreProperties>
</file>